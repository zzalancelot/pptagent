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 id="269" r:id="rId34"/>
    <p:sldId id="270" r:id="rId36"/>
    <p:sldId id="271" r:id="rId38"/>
    <p:sldId id="272" r:id="rId40"/>
    <p:sldId id="273" r:id="rId42"/>
    <p:sldId id="274" r:id="rId44"/>
    <p:sldId id="275" r:id="rId46"/>
    <p:sldId id="276" r:id="rId48"/>
    <p:sldId id="277" r:id="rId50"/>
    <p:sldId id="278" r:id="rId52"/>
    <p:sldId id="279" r:id="rId54"/>
    <p:sldId id="280" r:id="rId56"/>
    <p:sldId id="281" r:id="rId58"/>
    <p:sldId id="28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notesSlides/notesSlide6.xml" Type="http://schemas.openxmlformats.org/officeDocument/2006/relationships/notesSlide"/><Relationship Id="rId2" Target="presProps.xml" Type="http://schemas.openxmlformats.org/officeDocument/2006/relationships/presProps"/><Relationship Id="rId20" Target="slides/slide7.xml" Type="http://schemas.openxmlformats.org/officeDocument/2006/relationships/slide"/><Relationship Id="rId21" Target="notesSlides/notesSlide7.xml" Type="http://schemas.openxmlformats.org/officeDocument/2006/relationships/notesSlide"/><Relationship Id="rId22" Target="slides/slide8.xml" Type="http://schemas.openxmlformats.org/officeDocument/2006/relationships/slide"/><Relationship Id="rId23" Target="notesSlides/notesSlide8.xml" Type="http://schemas.openxmlformats.org/officeDocument/2006/relationships/notesSlide"/><Relationship Id="rId24" Target="slides/slide9.xml" Type="http://schemas.openxmlformats.org/officeDocument/2006/relationships/slide"/><Relationship Id="rId25" Target="notesSlides/notesSlide9.xml" Type="http://schemas.openxmlformats.org/officeDocument/2006/relationships/notesSlide"/><Relationship Id="rId26" Target="slides/slide10.xml" Type="http://schemas.openxmlformats.org/officeDocument/2006/relationships/slide"/><Relationship Id="rId27" Target="notesSlides/notesSlide10.xml" Type="http://schemas.openxmlformats.org/officeDocument/2006/relationships/notesSlide"/><Relationship Id="rId28" Target="slides/slide11.xml" Type="http://schemas.openxmlformats.org/officeDocument/2006/relationships/slide"/><Relationship Id="rId29" Target="notesSlides/notesSlide11.xml" Type="http://schemas.openxmlformats.org/officeDocument/2006/relationships/notesSlide"/><Relationship Id="rId3" Target="viewProps.xml" Type="http://schemas.openxmlformats.org/officeDocument/2006/relationships/viewProps"/><Relationship Id="rId30" Target="slides/slide12.xml" Type="http://schemas.openxmlformats.org/officeDocument/2006/relationships/slide"/><Relationship Id="rId31" Target="notesSlides/notesSlide12.xml" Type="http://schemas.openxmlformats.org/officeDocument/2006/relationships/notesSlide"/><Relationship Id="rId32" Target="slides/slide13.xml" Type="http://schemas.openxmlformats.org/officeDocument/2006/relationships/slide"/><Relationship Id="rId33" Target="notesSlides/notesSlide13.xml" Type="http://schemas.openxmlformats.org/officeDocument/2006/relationships/notesSlide"/><Relationship Id="rId34" Target="slides/slide14.xml" Type="http://schemas.openxmlformats.org/officeDocument/2006/relationships/slide"/><Relationship Id="rId35" Target="notesSlides/notesSlide14.xml" Type="http://schemas.openxmlformats.org/officeDocument/2006/relationships/notesSlide"/><Relationship Id="rId36" Target="slides/slide15.xml" Type="http://schemas.openxmlformats.org/officeDocument/2006/relationships/slide"/><Relationship Id="rId37" Target="notesSlides/notesSlide15.xml" Type="http://schemas.openxmlformats.org/officeDocument/2006/relationships/notesSlide"/><Relationship Id="rId38" Target="slides/slide16.xml" Type="http://schemas.openxmlformats.org/officeDocument/2006/relationships/slide"/><Relationship Id="rId39" Target="notesSlides/notesSlide16.xml" Type="http://schemas.openxmlformats.org/officeDocument/2006/relationships/notesSlide"/><Relationship Id="rId4" Target="theme/theme1.xml" Type="http://schemas.openxmlformats.org/officeDocument/2006/relationships/theme"/><Relationship Id="rId40" Target="slides/slide17.xml" Type="http://schemas.openxmlformats.org/officeDocument/2006/relationships/slide"/><Relationship Id="rId41" Target="notesSlides/notesSlide17.xml" Type="http://schemas.openxmlformats.org/officeDocument/2006/relationships/notesSlide"/><Relationship Id="rId42" Target="slides/slide18.xml" Type="http://schemas.openxmlformats.org/officeDocument/2006/relationships/slide"/><Relationship Id="rId43" Target="notesSlides/notesSlide18.xml" Type="http://schemas.openxmlformats.org/officeDocument/2006/relationships/notesSlide"/><Relationship Id="rId44" Target="slides/slide19.xml" Type="http://schemas.openxmlformats.org/officeDocument/2006/relationships/slide"/><Relationship Id="rId45" Target="notesSlides/notesSlide19.xml" Type="http://schemas.openxmlformats.org/officeDocument/2006/relationships/notesSlide"/><Relationship Id="rId46" Target="slides/slide20.xml" Type="http://schemas.openxmlformats.org/officeDocument/2006/relationships/slide"/><Relationship Id="rId47" Target="notesSlides/notesSlide20.xml" Type="http://schemas.openxmlformats.org/officeDocument/2006/relationships/notesSlide"/><Relationship Id="rId48" Target="slides/slide21.xml" Type="http://schemas.openxmlformats.org/officeDocument/2006/relationships/slide"/><Relationship Id="rId49" Target="notesSlides/notesSlide21.xml" Type="http://schemas.openxmlformats.org/officeDocument/2006/relationships/notesSlide"/><Relationship Id="rId5" Target="tableStyles.xml" Type="http://schemas.openxmlformats.org/officeDocument/2006/relationships/tableStyles"/><Relationship Id="rId50" Target="slides/slide22.xml" Type="http://schemas.openxmlformats.org/officeDocument/2006/relationships/slide"/><Relationship Id="rId51" Target="notesSlides/notesSlide22.xml" Type="http://schemas.openxmlformats.org/officeDocument/2006/relationships/notesSlide"/><Relationship Id="rId52" Target="slides/slide23.xml" Type="http://schemas.openxmlformats.org/officeDocument/2006/relationships/slide"/><Relationship Id="rId53" Target="notesSlides/notesSlide23.xml" Type="http://schemas.openxmlformats.org/officeDocument/2006/relationships/notesSlide"/><Relationship Id="rId54" Target="slides/slide24.xml" Type="http://schemas.openxmlformats.org/officeDocument/2006/relationships/slide"/><Relationship Id="rId55" Target="notesSlides/notesSlide24.xml" Type="http://schemas.openxmlformats.org/officeDocument/2006/relationships/notesSlide"/><Relationship Id="rId56" Target="slides/slide25.xml" Type="http://schemas.openxmlformats.org/officeDocument/2006/relationships/slide"/><Relationship Id="rId57" Target="notesSlides/notesSlide25.xml" Type="http://schemas.openxmlformats.org/officeDocument/2006/relationships/notesSlide"/><Relationship Id="rId58" Target="slides/slide26.xml" Type="http://schemas.openxmlformats.org/officeDocument/2006/relationships/slide"/><Relationship Id="rId59" Target="notesSlides/notesSlide26.xml" Type="http://schemas.openxmlformats.org/officeDocument/2006/relationships/notesSlide"/><Relationship Id="rId6" Target="slides/slide1.xml" Type="http://schemas.openxmlformats.org/officeDocument/2006/relationships/slide"/><Relationship Id="rId60" Target="slides/slide27.xml" Type="http://schemas.openxmlformats.org/officeDocument/2006/relationships/slide"/><Relationship Id="rId61" Target="notesSlides/notesSlide27.xml" Type="http://schemas.openxmlformats.org/officeDocument/2006/relationships/note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各位，去年双11，我们的订单系统每多延迟1秒，就损失近百万营收。今天我想和大家讨论一个能从根本上解决这个问题的方案——用Rust重写订单系统，让它成为我们未来增长的坚实底座。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接下来我会用五个部分帮大家理清整个逻辑。首先，我们会回顾去年双11的具体损失，让问题变得可见。然后分析问题根源，再介绍Rust为什么是合适的解决方案，最后讨论如何落地以及风险控制。这样我们就能在半小时内达成共识。</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想象一下，去年双11的早高峰，您接到电话说订单系统突然变慢了。实际上，响应时间从平日的300毫秒直接跳到了3秒以上——对于用户来说，点击下单后转圈10秒都没有反应，绝大多数人直接关掉了页面。我们事后统计，那一小时的放弃率飙升了15%，直接损失营收约80万元。更让人后背发凉的是，我们的技术团队花了整整两天才找到根因，而在这两天里，系统依然在间歇性超时。这样的惊险，我们不想再来一次。下一张，我们专门算一算，这种问题如果持续下去，账面上要亏多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500万只是直接订单损失，更让人担心的是核心客户正在流失。举个例子：去年双11，一位年消费30多万的客户在支付环节反复超时，最终放弃订单并转向了竞品——客户的年度预算全部流失了。同时，200%的投诉增长说明不满意的用户不只一个人安静离开，他们还在影响更多人。这些问题背后的共同根源是系统并发处理能力不足。要真正避免损失，我们必须先分析现有系统在峰值时为什么扛不住。接下来我们进入诊断环节。</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我们已经看到了双11期间因为超时而导致的巨大营收损失。现在，让我们深入内部，看看究竟是哪些设计缺陷让我们的系统在关键时刻不堪一击。只有找到病根，我们才能对症下药。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我们当前的订单系统大致由三个层次构成：最上层的微服务处理核心逻辑，中间的消息队列负责流量削峰，底层的数据库和缓存负责数据存储。这套架构在设计时主要考虑了日常运转的效率，并没有预见到双十一级别的并发挑战。当流量突然暴增时，队列会迅速堆积，数据库响应变慢，每个环节的延时都会成倍放大。接下来，让我们用实际数据看看，在大促高峰期系统到底遭遇了什么。</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大家看到这张图展示的是去年双11期间的压力测试数据。当时CPU使用率几乎打满，服务器像一辆顶着红线跑的汽车，随时可能爆缸。响应时间超过2秒，用户等不了那么久，很多人在页面转圈后就关掉了。最让人揪心的是超时率突破了20%，也就是说每五个人想下单，就有一个因为系统问题买不了。这直接造成上千万的营收损失。下一张幻灯片我们会分析，为什么Python在这个场景下无能为力。</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请大家回顾去年双11的图——系统在峰值时段的崩溃并非偶然。Python 的设计初衷是开发效率，而非极端并发。就像一条单车道面对一万辆车流，无论怎么增加收费站都无法提升通行速度。这种根本性局限让每一次内存回收都像一次红灯，阻塞所有订单。接下来，我们会对比“当前现状”和“期望能力”，看看 Rust 方案如何从架构上消除这些瓶颈，实现零超时。</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这张对比图清楚地展示了我们当前的系统与理想状态之间的巨大差距。去年双十一，由于延迟超过 2 秒，我们损失了近 800 万元订单收入。如果继续沿用现有架构，随着业务量每年增长 50%，这个数字只会更大。要弥补这个差距，我们需要在技术选型上做出根本性改变。接下来，我将介绍为什么 Rust 是我们实现零超时、高并发处理的最佳选择，以及它如何为未来增长奠定基础。</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刚才我们看到，当前系统在大促时几乎不堪一击，每一次超时都在蚕食我们的营收和客户信任。现在，我们需要一个能从设计上杜绝这类问题的方案。Rust 语言正是为此而生——它不是简单的语言替换，而是为订单系统植入一道防御性基因。接下来，我会用几分钟时间，让你理解 Rust 为什么能让我们做到“零超时”，以及它对业务增长意味着什么。</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Rust 是一门新一代系统编程语言，但它对我们 CEO 的价值不是技术本身，而在于它带来的商业确定性。它的设计从源头避免了内存错误，这正是订单系统在千万级并发下依然不超时的关键。正是因为这种可靠性，微软、AWS、Google 才敢把最核心的支付、数据库和云计算服务用 Rust 重写。想象一下：今年双 11，系统将不再因内存泄漏或并发竞争而超时，每笔订单都能顺利成交——这就是 Rust 带来的营收保障。接下来，让我们用具体数据看看，Rust 和 Python 在性能与成本上到底有多大差距。</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这张表不是技术对比，而是商业投资的 ROIT[return-on-invest] 证据。简单做个推算：去年双11高峰期，Python 系统在每秒 5000 笔订单时开始超时；如果换成 Rust，同样硬件下可以承受 10 万笔以上，超时直接归零。内存占用减少 80%，意味着我们只需要更少的服务器，年度运维成本至少降低一半。这些数字都来自我们内部的压力测试。下一张我会解释 Rust 究竟用什么机制让并发变得如此稳定。</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想象去年双11的前30分钟，由于传统语言的全局锁限制，订单处理只能利用CPU的一个核心，导致系统拥堵超时。Rust则能同时调用所有核心，且没有垃圾回收的突刺延迟，每个请求的处理时间都稳定在10毫秒以内，让“零超时”成为现实。这些技术特性不是空洞的说辞，而是直接转化为营收保障——去年每延迟1秒损失近百万，而Rust彻底消除了这种风险。下一张我们来看看已经在生产环境中用Rust重写订单系统的公司，他们获得了怎样的成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各位，我们刚才看到 Rust 的技术特性如何解决并发和延迟问题。但大家可能会想，理论是否真的行得通？来看真实案例。Dropbox 迁移到 Rust 后，系统稳定性大幅提升，运维团队夜间告警几乎消失。Cloudflare 通过 Rust 优化边缘计算，每年节省数百万美元服务器成本。最直接相关的是一家头部电商——他们在双11前完成了订单模块的重构，结果当天订单系统零超时，营收没有受到任何影响。这些案例告诉我们，Rust 已经在严苛场景下证明了自己。那么，我们如何低成本、低风险地落地呢？接下来我将介绍分步迁移的路线图。</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在听取了业内成功案例后，您可能会问：我们如何做到？接下来的路线图展示了从核心服务开始的渐进式迁移，每个阶段都有明确的业务目标和风险控制节点。让我们逐一了解。</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三个月的目标非常明确：把最容易出问题的订单创建模块彻底重写。我们选取的模块是去年双11超时故障的‘重灾区’，占所有失败订单的七成。简单来说，我们要让每个下单请求都像高铁时刻表一样准时——不管高峰期有多少订单涌入，都稳定在毫秒级响应。举个例子，去年双11某品牌秒杀活动，系统一度延迟到3秒才返回，导致大量用户放弃购物车。重写后，我们要让这种情况根本不可能发生。三个月后，我们会带着一份硬核的性能对比报告，进入下一个阶段——灰度上线，用真实流量验证成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我们让新系统先处理 5% 的流量，相当于在赛道边缘试跑。即使出现任何异常，我们随时可以切回老系统，业务完全不受影响。这三个月里，我们实时盯着两个关键指标：延迟和错误率。Rust 系统的表现让我们松了口气——每一次流量高峰，延迟曲线都平得像一条直线，零超时、零失败。和 Python 系统做了一次并排对比：同样 10 万并发订单，Rust 的平均响应时间不到 Python 的五分之一。我们用两次实际的促销活动做了压力测试，结果全部通过。到第六个月末，技术团队和业务团队都对新系统有了充分信心，可以放心进入全量切换阶段。</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这个阶段结束时，我们会在项目管理看板上点亮‘全部完成’的绿灯。届时新系统已承载 100% 的订单流量，双11 等大促将不再有超时风险。旧系统下线后，原本用于维护两套系统的服务器和人力成本可以大幅回收。更重要的是，我们建立了持续的监控与优化机制，能提前发现并解决问题，保障营收。进入下一阶段，我会介绍为了完成这一目标所需的资源投入与团队配置。</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个投资规模到底多大？以去年双11为例，一次订单超时造成的营收损失就高达数百万。而整个重写项目全年的团队成本才250万，远低于单次事故的代价。更重要的是，我们不需要全新招聘——内部转岗的工程师已经在业务一线，最理解现有系统的瓶颈。服务器节省30%也不是理论数字，基于POC的数据已经验证。一旦全量切换完成，这部分节省将直接体现在季度成本报告中。下一张幻灯片，让我们看看这笔投资在时间线上的回报节奏。</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张图表展示了清晰的可量化收益时间线。第6个月的首次大促将实现零超时，以去年双11的损失数据推算，相当于单日保住了近百万营收。第9个月超时客诉消失，客服压力下降，客户满意度提升将直接带动复购。到第12个月，累计节省和挽回的营收超过300万元，ROI完全令人信服。而且这套系统在未来每年大促中都会持续发挥作用，是一次性投入、长期受益。当然，任何项目都有潜在风险，我们在下一张幻灯片已经做了充分的保障预案，可以放心推进。</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刚才我们看到了重写项目带来的清晰收益轨迹——营收增长、客户体验提升、长期成本下降。但我知道，任何重大变更都会引发担忧：系统稳定性、团队负担、迁移风险等等。我们不是只讲好处，而是全面审视了每一个可能的隐患。接下来，我想用几分钟时间，坦诚地讨论这些风险，并展示我们为每一项风险制定的具体保障措施。这样，您就能放心，我们的计划不是在赌博，而是在精心设计。</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首先，核心工程师离职是技术重写中最常见的风险之一。我们通过建立完整的技术文档和交叉培训，让项目不再依赖单个人，就算有人离开，团队也能无缝接手。第二，新系统上线前，我们会进行100%的自动化测试，并在预发环境模拟双11的极限流量，提前把隐藏缺陷找出来。第三，迁移过程采用灰度切换，先让少量用户试用，确认稳定后再全量切换，同时保留一键回滚能力，一旦异常可以秒级恢复。这套组合拳让项目风险降到最低，也为下一部分要讲的持续监控和保障体系做好了准备。</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最关心的可能是：新系统上线万一出问题怎么办？这正是我们设计这三道防线的初衷。首先，全链路压力测试会模拟比双11峰值还高30%的流量，确保每个环节坚如磐石。我们上周刚跑过一次，支付链路的延迟稳定在5毫秒以内。其次，实时监控大屏让业务团队也能一眼看到订单是否卡顿，一旦延迟接近阈值，系统会自动扩容或降级，营收不受影响。最后，灰度发布和自动化回滚让我们可以小步快跑——哪怕出现问题，也能在用户察觉前自动回退到旧版。这套流程已经在预生产环境验证了三轮，效果非常稳定。有了这些保障，我们可以完全放心地推进Rust重写项目。接下来，我会用一张演示快速展示监控大屏的效果，然后进入今天的总结——五个核心理由，说明为什么投资Rust是现在最正确的决策。</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五个理由分别对应了营收、体验、成本、竞争力和风险。大促零超时意味着每年双十一的损失彻底归零；系统更稳定，客户投诉自然减少，品牌信任持续积累。服务器成本下降是立竿见影的财务回报，而技术护城河则让我们在未来五年不必再为订单系统头疼。最后，前面介绍的保障体系已经证明了这条路的风险是可控的。接下来，我需要您的批准，让我们启动这个项目。</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刚才总结的五个核心理由已经清楚显示：Rust重写是当前保护营收、降低风险的最佳路径。去年双11，每1秒延迟我们就损失近百万收入，而这次项目总投入仅相当于两次这种事故的成本。我们已经规划好团队、时间表和预算，只差你一个签字。启动后第一个里程碑是三个月内完成并行运行验证，届时我会向你汇报进展。如果有任何顾虑，现在就是提问的最佳时机。</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接下来是开放答疑时间。我知道您最关心系统迁移的风险、成本，以及何时能看到收益。比如，如何保证新系统在双11真正实现零超时？我们有一个经过验证的渐进式切换方案，不会中断现有业务。另外，团队是否需要从头学习一门新语言？实际上我们的核心成员已具备Rust实战经验，学习曲线很短。请随意提出任何问题，之后我会带您看具体的里程碑和我们的承诺。</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非常感谢刚才的提问，这些讨论帮助我们进一步聚焦了价值。现在我来总结我们立即要采取的几步行动。第一，一周内您会收到一份完整的项目计划书，里面会写明我们在什么时间做什么、需要什么资源。第二，核心团队今天就开始预研，两周后我们会有一个初步的技术可行性结论。第三，我们的目标是双11之前上线，所以每一步进展都会按月向您汇报。同时，我们设立了营收保障指标，直接关联到超时率降低多少、挽回多少损失。整个过程中，任何风险我们都会提前预警，绝不让您意外。有了这个路线图，我相信我们可以一起把订单系统变得坚如磐石。</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0EB"/>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5280" b="true">
                <a:solidFill>
                  <a:srgbClr val="2C3E50"/>
                </a:solidFill>
                <a:ea typeface="PingFang SC"/>
              </a:rPr>
              <a:t>为什么我们应该用 Rust 重写订单系统</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090" b="false">
                <a:solidFill>
                  <a:srgbClr val="8B9DAF"/>
                </a:solidFill>
                <a:ea typeface="PingFang SC"/>
              </a:rPr>
              <a:t>保障大促营收，构建坚如磐石的技术壁垒</a:t>
            </a:r>
            <a:endParaRPr lang="en-US" sz="1100"/>
          </a:p>
        </p:txBody>
      </p:sp>
      <p:sp>
        <p:nvSpPr>
          <p:cNvPr name="AutoShape 4" id="4"/>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2C3E50"/>
                </a:solidFill>
                <a:ea typeface="PingFang SC"/>
              </a:rPr>
              <a:t>今天我们将达成共识</a:t>
            </a:r>
            <a:endParaRPr lang="en-US" sz="1100"/>
          </a:p>
        </p:txBody>
      </p:sp>
      <p:sp>
        <p:nvSpPr>
          <p:cNvPr name="TextBox 3" id="3"/>
          <p:cNvSpPr txBox="true"/>
          <p:nvPr/>
        </p:nvSpPr>
        <p:spPr>
          <a:xfrm>
            <a:off x="609600" y="21907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2C3E50"/>
                </a:solidFill>
                <a:ea typeface="PingFang SC"/>
              </a:rPr>
              <a:t>现实的痛点与损失：看清大促期间系统超时如何侵蚀营收</a:t>
            </a:r>
          </a:p>
          <a:p>
            <a:pPr algn="l">
              <a:spcBef>
                <a:spcPct val="10000"/>
              </a:spcBef>
              <a:buFont typeface="Arial"/>
              <a:buChar char="•"/>
            </a:pPr>
            <a:r>
              <a:rPr lang="en-US" sz="1900">
                <a:solidFill>
                  <a:srgbClr val="2C3E50"/>
                </a:solidFill>
                <a:ea typeface="PingFang SC"/>
              </a:rPr>
              <a:t>根因分析：寻找并发瓶颈与延迟的根源</a:t>
            </a:r>
          </a:p>
          <a:p>
            <a:pPr algn="l">
              <a:spcBef>
                <a:spcPct val="10000"/>
              </a:spcBef>
              <a:buFont typeface="Arial"/>
              <a:buChar char="•"/>
            </a:pPr>
            <a:r>
              <a:rPr lang="en-US" sz="1900">
                <a:solidFill>
                  <a:srgbClr val="2C3E50"/>
                </a:solidFill>
                <a:latin typeface="PingFang SC"/>
              </a:rPr>
              <a:t>Rust 破局之道：用内存安全与高并发能力实现零超时</a:t>
            </a:r>
          </a:p>
          <a:p>
            <a:pPr algn="l">
              <a:spcBef>
                <a:spcPct val="10000"/>
              </a:spcBef>
              <a:buFont typeface="Arial"/>
              <a:buChar char="•"/>
            </a:pPr>
            <a:r>
              <a:rPr lang="en-US" sz="1900">
                <a:solidFill>
                  <a:srgbClr val="2C3E50"/>
                </a:solidFill>
                <a:ea typeface="PingFang SC"/>
              </a:rPr>
              <a:t>可行的落地方案：平滑迁移策略与分阶段实施</a:t>
            </a:r>
          </a:p>
          <a:p>
            <a:pPr algn="l">
              <a:spcBef>
                <a:spcPct val="10000"/>
              </a:spcBef>
              <a:buFont typeface="Arial"/>
              <a:buChar char="•"/>
            </a:pPr>
            <a:r>
              <a:rPr lang="en-US" sz="1900">
                <a:solidFill>
                  <a:srgbClr val="2C3E50"/>
                </a:solidFill>
                <a:ea typeface="PingFang SC"/>
              </a:rPr>
              <a:t>风险与保障：成本可控、风险可预、收益可期</a:t>
            </a:r>
          </a:p>
        </p:txBody>
      </p:sp>
      <p:sp>
        <p:nvSpPr>
          <p:cNvPr name="AutoShape 4" id="4"/>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2C3E50"/>
                </a:solidFill>
                <a:ea typeface="PingFang SC"/>
              </a:rPr>
              <a:t>去年双11的惊险一幕</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709" b="false">
                <a:solidFill>
                  <a:srgbClr val="8B9DAF"/>
                </a:solidFill>
                <a:ea typeface="PingFang SC"/>
              </a:rPr>
              <a:t>去年双11的高峰瞬间，订单系统几近瘫痪——我们为此付出了什么代价？</a:t>
            </a:r>
            <a:endParaRPr lang="en-US" sz="1100"/>
          </a:p>
        </p:txBody>
      </p:sp>
      <p:sp>
        <p:nvSpPr>
          <p:cNvPr name="TextBox 4" id="4"/>
          <p:cNvSpPr txBox="true"/>
          <p:nvPr/>
        </p:nvSpPr>
        <p:spPr>
          <a:xfrm>
            <a:off x="609600" y="21907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2C3E50"/>
                </a:solidFill>
                <a:ea typeface="PingFang SC"/>
              </a:rPr>
              <a:t>高峰期订单处理延迟从300毫秒飙升至3秒以上</a:t>
            </a:r>
          </a:p>
          <a:p>
            <a:pPr algn="l">
              <a:spcBef>
                <a:spcPct val="10000"/>
              </a:spcBef>
              <a:buFont typeface="Arial"/>
              <a:buChar char="•"/>
            </a:pPr>
            <a:r>
              <a:rPr lang="en-US" sz="1900">
                <a:solidFill>
                  <a:srgbClr val="2C3E50"/>
                </a:solidFill>
                <a:ea typeface="PingFang SC"/>
              </a:rPr>
              <a:t>大量用户在「提交订单」后因系统超而无奈放弃购买</a:t>
            </a:r>
          </a:p>
          <a:p>
            <a:pPr algn="l">
              <a:spcBef>
                <a:spcPct val="10000"/>
              </a:spcBef>
              <a:buFont typeface="Arial"/>
              <a:buChar char="•"/>
            </a:pPr>
            <a:r>
              <a:rPr lang="en-US" sz="1900">
                <a:solidFill>
                  <a:srgbClr val="2C3E50"/>
                </a:solidFill>
                <a:ea typeface="PingFang SC"/>
              </a:rPr>
              <a:t>订单放弃率在短短一小时内骤升15%</a:t>
            </a:r>
          </a:p>
          <a:p>
            <a:pPr algn="l">
              <a:spcBef>
                <a:spcPct val="10000"/>
              </a:spcBef>
              <a:buFont typeface="Arial"/>
              <a:buChar char="•"/>
            </a:pPr>
            <a:r>
              <a:rPr lang="en-US" sz="1900">
                <a:solidFill>
                  <a:srgbClr val="2C3E50"/>
                </a:solidFill>
                <a:ea typeface="PingFang SC"/>
              </a:rPr>
              <a:t>仅那一小时，保守估算营收损失超过80万元</a:t>
            </a:r>
          </a:p>
          <a:p>
            <a:pPr algn="l">
              <a:spcBef>
                <a:spcPct val="10000"/>
              </a:spcBef>
              <a:buFont typeface="Arial"/>
              <a:buChar char="•"/>
            </a:pPr>
            <a:r>
              <a:rPr lang="en-US" sz="1900">
                <a:solidFill>
                  <a:srgbClr val="2C3E50"/>
                </a:solidFill>
                <a:ea typeface="PingFang SC"/>
              </a:rPr>
              <a:t>更棘手的是：技术团队事后用了两天才定位根因，期间问题仍在发酵</a:t>
            </a:r>
          </a:p>
        </p:txBody>
      </p:sp>
      <p:sp>
        <p:nvSpPr>
          <p:cNvPr name="AutoShape 5" id="5"/>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2C3E50"/>
                </a:solidFill>
                <a:ea typeface="PingFang SC"/>
              </a:rPr>
              <a:t>直接营收损失与客户流失</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709" b="false">
                <a:solidFill>
                  <a:srgbClr val="8B9DAF"/>
                </a:solidFill>
                <a:ea typeface="PingFang SC"/>
              </a:rPr>
              <a:t>技术延迟的三重打击：流失的营收、逃离的客户、受损的信任</a:t>
            </a:r>
            <a:endParaRPr lang="en-US" sz="1100"/>
          </a:p>
        </p:txBody>
      </p:sp>
      <p:sp>
        <p:nvSpPr>
          <p:cNvPr name="TextBox 4" id="4"/>
          <p:cNvSpPr txBox="true"/>
          <p:nvPr/>
        </p:nvSpPr>
        <p:spPr>
          <a:xfrm>
            <a:off x="609600" y="21907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2C3E50"/>
                </a:solidFill>
                <a:ea typeface="PingFang SC"/>
              </a:rPr>
              <a:t>近三次大促累计超500万元订单因系统超时被用户放弃，这只是显性损失。</a:t>
            </a:r>
          </a:p>
          <a:p>
            <a:pPr algn="l">
              <a:spcBef>
                <a:spcPct val="10000"/>
              </a:spcBef>
              <a:buFont typeface="Arial"/>
              <a:buChar char="•"/>
            </a:pPr>
            <a:r>
              <a:rPr lang="en-US" sz="1900">
                <a:solidFill>
                  <a:srgbClr val="2C3E50"/>
                </a:solidFill>
                <a:ea typeface="PingFang SC"/>
              </a:rPr>
              <a:t>核心客户（消费前20%）复购率下降8%——高价值用户正在用脚投票。</a:t>
            </a:r>
          </a:p>
          <a:p>
            <a:pPr algn="l">
              <a:spcBef>
                <a:spcPct val="10000"/>
              </a:spcBef>
              <a:buFont typeface="Arial"/>
              <a:buChar char="•"/>
            </a:pPr>
            <a:r>
              <a:rPr lang="en-US" sz="1900">
                <a:solidFill>
                  <a:srgbClr val="2C3E50"/>
                </a:solidFill>
                <a:ea typeface="PingFang SC"/>
              </a:rPr>
              <a:t>客诉量激增200%，品牌信誉承受持续压力，修复成本远高于技术改造成本。</a:t>
            </a:r>
          </a:p>
          <a:p>
            <a:pPr algn="l">
              <a:spcBef>
                <a:spcPct val="10000"/>
              </a:spcBef>
              <a:buFont typeface="Arial"/>
              <a:buChar char="•"/>
            </a:pPr>
            <a:r>
              <a:rPr lang="en-US" sz="1900">
                <a:solidFill>
                  <a:srgbClr val="2C3E50"/>
                </a:solidFill>
                <a:ea typeface="PingFang SC"/>
              </a:rPr>
              <a:t>负面口碑导致新客获取成本隐性上升，潜在用户因系统评价而犹豫下单。</a:t>
            </a:r>
          </a:p>
          <a:p>
            <a:pPr algn="l">
              <a:spcBef>
                <a:spcPct val="10000"/>
              </a:spcBef>
              <a:buFont typeface="Arial"/>
              <a:buChar char="•"/>
            </a:pPr>
            <a:r>
              <a:rPr lang="en-US" sz="1900">
                <a:solidFill>
                  <a:srgbClr val="2C3E50"/>
                </a:solidFill>
                <a:ea typeface="PingFang SC"/>
              </a:rPr>
              <a:t>每一次超时都在侵蚀客户终身价值，流失的客户几乎无法100%召回。</a:t>
            </a:r>
          </a:p>
        </p:txBody>
      </p:sp>
      <p:sp>
        <p:nvSpPr>
          <p:cNvPr name="AutoShape 5" id="5"/>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000" b="true">
                <a:solidFill>
                  <a:srgbClr val="4A5D6B"/>
                </a:solidFill>
                <a:ea typeface="PingFang SC"/>
              </a:rPr>
              <a:t>诊断：现有系统为何不堪重负</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B9DAF"/>
                </a:solidFill>
                <a:ea typeface="PingFang SC"/>
              </a:rPr>
              <a:t>营收损失不是偶然，而是系统设计固有缺陷的必然结果。</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ea typeface="PingFang SC"/>
              </a:rPr>
              <a:t>现有系统架构简述</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了解系统构造，才能精准定位风险</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B9DAF"/>
                </a:solidFill>
                <a:ea typeface="PingFang SC"/>
              </a:rPr>
              <a:t>这套架构在日常运营中表现稳定，但当并发请求超出设计上限时，各个环节的延迟相互叠加，系统超时就成为必然。</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基于 Python 的微服务架构 —— 各功能独立部署，开发敏捷</a:t>
            </a:r>
          </a:p>
          <a:p>
            <a:pPr algn="l">
              <a:spcBef>
                <a:spcPct val="6000"/>
              </a:spcBef>
              <a:buFont typeface="Arial"/>
              <a:buChar char="•"/>
            </a:pPr>
            <a:r>
              <a:rPr lang="en-US" sz="2000">
                <a:solidFill>
                  <a:srgbClr val="2C3E50"/>
                </a:solidFill>
                <a:ea typeface="PingFang SC"/>
              </a:rPr>
              <a:t>消息队列缓冲订单请求 —— 避免流量尖峰瞬间压垮系统</a:t>
            </a:r>
          </a:p>
          <a:p>
            <a:pPr algn="l">
              <a:spcBef>
                <a:spcPct val="6000"/>
              </a:spcBef>
              <a:buFont typeface="Arial"/>
              <a:buChar char="•"/>
            </a:pPr>
            <a:r>
              <a:rPr lang="en-US" sz="2000">
                <a:solidFill>
                  <a:srgbClr val="2C3E50"/>
                </a:solidFill>
                <a:ea typeface="PingFang SC"/>
              </a:rPr>
              <a:t>数据库与缓存分层协作 —— 热点数据加速读取，订单安全写入</a:t>
            </a:r>
          </a:p>
          <a:p>
            <a:pPr algn="l">
              <a:spcBef>
                <a:spcPct val="6000"/>
              </a:spcBef>
              <a:buFont typeface="Arial"/>
              <a:buChar char="•"/>
            </a:pPr>
            <a:r>
              <a:rPr lang="en-US" sz="2000">
                <a:solidFill>
                  <a:srgbClr val="2C3E50"/>
                </a:solidFill>
                <a:ea typeface="PingFang SC"/>
              </a:rPr>
              <a:t>每个环节都为常规流量优化，未针对大促极端场景专门调优</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ea typeface="PingFang SC"/>
              </a:rPr>
              <a:t>大促高峰期的表现数据</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这些数据直接体现为订单流失和营收损失，不容忽视。</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latin typeface="PingFang SC"/>
              </a:rPr>
              <a:t>CPU 使用率飙升到 95% 以上，接近满载，系统随时可能中断服务。</a:t>
            </a:r>
          </a:p>
          <a:p>
            <a:pPr algn="l">
              <a:spcBef>
                <a:spcPct val="6000"/>
              </a:spcBef>
              <a:buFont typeface="Arial"/>
              <a:buChar char="•"/>
            </a:pPr>
            <a:r>
              <a:rPr lang="en-US" sz="2000">
                <a:solidFill>
                  <a:srgbClr val="2C3E50"/>
                </a:solidFill>
                <a:ea typeface="PingFang SC"/>
              </a:rPr>
              <a:t>请求平均响应时间超过 2 秒，远超电商行业 1 秒以内的理想标准。</a:t>
            </a:r>
          </a:p>
          <a:p>
            <a:pPr algn="l">
              <a:spcBef>
                <a:spcPct val="6000"/>
              </a:spcBef>
              <a:buFont typeface="Arial"/>
              <a:buChar char="•"/>
            </a:pPr>
            <a:r>
              <a:rPr lang="en-US" sz="2000">
                <a:solidFill>
                  <a:srgbClr val="2C3E50"/>
                </a:solidFill>
                <a:ea typeface="PingFang SC"/>
              </a:rPr>
              <a:t>超时率突破 20%，意味着每 5 个订单就有 1 个下单失败，直接转化为营收损失。</a:t>
            </a:r>
          </a:p>
          <a:p>
            <a:pPr algn="l">
              <a:spcBef>
                <a:spcPct val="6000"/>
              </a:spcBef>
              <a:buFont typeface="Arial"/>
              <a:buChar char="•"/>
            </a:pPr>
            <a:r>
              <a:rPr lang="en-US" sz="2000">
                <a:solidFill>
                  <a:srgbClr val="2C3E50"/>
                </a:solidFill>
                <a:ea typeface="PingFang SC"/>
              </a:rPr>
              <a:t>系统在高并发下频繁触发自我保护机制，主动拒绝新请求，错失高峰期销售机会。</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ea typeface="PingFang SC"/>
              </a:rPr>
              <a:t>根因：Python 的先天性瓶颈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这些技术特征决定了它在高并发压力下必然成为瓶颈</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单核心瓶颈：服务器几十个核心，但 Python 一次只用一个——多数计算资源被迫闲置</a:t>
            </a:r>
          </a:p>
          <a:p>
            <a:pPr algn="l">
              <a:spcBef>
                <a:spcPct val="6000"/>
              </a:spcBef>
              <a:buFont typeface="Arial"/>
              <a:buChar char="•"/>
            </a:pPr>
            <a:r>
              <a:rPr lang="en-US" sz="2000">
                <a:solidFill>
                  <a:srgbClr val="2C3E50"/>
                </a:solidFill>
                <a:ea typeface="PingFang SC"/>
              </a:rPr>
              <a:t>不可控停顿：自动内存回收会随时“插入”业务逻辑，每次停顿都可能造成连锁超时</a:t>
            </a:r>
          </a:p>
          <a:p>
            <a:pPr algn="l">
              <a:spcBef>
                <a:spcPct val="6000"/>
              </a:spcBef>
              <a:buFont typeface="Arial"/>
              <a:buChar char="•"/>
            </a:pPr>
            <a:r>
              <a:rPr lang="en-US" sz="2000">
                <a:solidFill>
                  <a:srgbClr val="2C3E50"/>
                </a:solidFill>
                <a:ea typeface="PingFang SC"/>
              </a:rPr>
              <a:t>动态类型拖慢速度：运行中反复核实数据类型，额外消耗 CPU，在高峰时被急剧放大</a:t>
            </a:r>
          </a:p>
          <a:p>
            <a:pPr algn="l">
              <a:spcBef>
                <a:spcPct val="6000"/>
              </a:spcBef>
              <a:buFont typeface="Arial"/>
              <a:buChar char="•"/>
            </a:pPr>
            <a:r>
              <a:rPr lang="en-US" sz="2000">
                <a:solidFill>
                  <a:srgbClr val="2C3E50"/>
                </a:solidFill>
                <a:ea typeface="PingFang SC"/>
              </a:rPr>
              <a:t>无法靠堆硬件解决：加机器只是增加闲置车道，根本原因仍卡在单核心和不可控停顿上</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ea typeface="PingFang SC"/>
              </a:rPr>
              <a:t>当前 vs. 期望：系统响应能力</a:t>
            </a:r>
            <a:endParaRPr lang="en-US" sz="1100"/>
          </a:p>
        </p:txBody>
      </p:sp>
      <p:sp>
        <p:nvSpPr>
          <p:cNvPr name="TextBox 3" id="3"/>
          <p:cNvSpPr txBox="true"/>
          <p:nvPr/>
        </p:nvSpPr>
        <p:spPr>
          <a:xfrm>
            <a:off x="6096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当前：大促高峰延迟平均超过 2 秒，系统超时率达到两位数百分比，大量订单丢失</a:t>
            </a:r>
          </a:p>
          <a:p>
            <a:pPr algn="l">
              <a:spcBef>
                <a:spcPct val="6000"/>
              </a:spcBef>
              <a:buFont typeface="Arial"/>
              <a:buChar char="•"/>
            </a:pPr>
            <a:r>
              <a:rPr lang="en-US" sz="2000">
                <a:solidFill>
                  <a:srgbClr val="2C3E50"/>
                </a:solidFill>
                <a:ea typeface="PingFang SC"/>
              </a:rPr>
              <a:t>期望：响应时间稳定在 50 毫秒内，实现零超时、零丢单，用户流畅下单</a:t>
            </a:r>
          </a:p>
          <a:p>
            <a:pPr algn="l">
              <a:spcBef>
                <a:spcPct val="6000"/>
              </a:spcBef>
              <a:buFont typeface="Arial"/>
              <a:buChar char="•"/>
            </a:pPr>
            <a:r>
              <a:rPr lang="en-US" sz="2000">
                <a:solidFill>
                  <a:srgbClr val="2C3E50"/>
                </a:solidFill>
                <a:ea typeface="PingFang SC"/>
              </a:rPr>
              <a:t>差距：性能需提升 40 倍以上，才能承载未来三年业务增长和流量峰值</a:t>
            </a:r>
          </a:p>
        </p:txBody>
      </p:sp>
      <p:sp>
        <p:nvSpPr>
          <p:cNvPr name="TextBox 4" id="4"/>
          <p:cNvSpPr txBox="true"/>
          <p:nvPr/>
        </p:nvSpPr>
        <p:spPr>
          <a:xfrm>
            <a:off x="64008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代价：每一次超时不仅损失订单，更消耗用户信任，复购率与品牌声誉随之受损</a:t>
            </a:r>
          </a:p>
          <a:p>
            <a:pPr algn="l">
              <a:spcBef>
                <a:spcPct val="6000"/>
              </a:spcBef>
              <a:buFont typeface="Arial"/>
              <a:buChar char="•"/>
            </a:pPr>
            <a:r>
              <a:rPr lang="en-US" sz="2000">
                <a:solidFill>
                  <a:srgbClr val="2C3E50"/>
                </a:solidFill>
                <a:ea typeface="PingFang SC"/>
              </a:rPr>
              <a:t>目标：打造坚如磐石的订单核心，为高并发处理提供万无一失的营收保障</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000" b="true">
                <a:solidFill>
                  <a:srgbClr val="4A5D6B"/>
                </a:solidFill>
                <a:latin typeface="PingFang SC"/>
              </a:rPr>
              <a:t>Rust：打造坚如磐石的订单核心</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B9DAF"/>
                </a:solidFill>
                <a:ea typeface="PingFang SC"/>
              </a:rPr>
              <a:t>从根源消除系统超时，让高并发成为营收保障而非风险</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latin typeface="PingFang SC"/>
              </a:rPr>
              <a:t>Rust 是什么？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一门专为高并发和高可靠性而生的现代语言，为订单系统提供坚如磐石的保障。</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专为高并发、低延迟场景而生，性能接近 C 语言级别</a:t>
            </a:r>
          </a:p>
          <a:p>
            <a:pPr algn="l">
              <a:spcBef>
                <a:spcPct val="6000"/>
              </a:spcBef>
              <a:buFont typeface="Arial"/>
              <a:buChar char="•"/>
            </a:pPr>
            <a:r>
              <a:rPr lang="en-US" sz="2000">
                <a:solidFill>
                  <a:srgbClr val="2C3E50"/>
                </a:solidFill>
                <a:ea typeface="PingFang SC"/>
              </a:rPr>
              <a:t>编译时消除内存安全隐患，杜绝系统崩溃与宕机</a:t>
            </a:r>
          </a:p>
          <a:p>
            <a:pPr algn="l">
              <a:spcBef>
                <a:spcPct val="6000"/>
              </a:spcBef>
              <a:buFont typeface="Arial"/>
              <a:buChar char="•"/>
            </a:pPr>
            <a:r>
              <a:rPr lang="en-US" sz="2000">
                <a:solidFill>
                  <a:srgbClr val="2C3E50"/>
                </a:solidFill>
                <a:ea typeface="PingFang SC"/>
              </a:rPr>
              <a:t>已被微软、AWS、Google 用于核心交易与云基础设施</a:t>
            </a:r>
          </a:p>
          <a:p>
            <a:pPr algn="l">
              <a:spcBef>
                <a:spcPct val="6000"/>
              </a:spcBef>
              <a:buFont typeface="Arial"/>
              <a:buChar char="•"/>
            </a:pPr>
            <a:r>
              <a:rPr lang="en-US" sz="2000">
                <a:solidFill>
                  <a:srgbClr val="2C3E50"/>
                </a:solidFill>
                <a:ea typeface="PingFang SC"/>
              </a:rPr>
              <a:t>现代化工具链与清晰错误提示，降低长期维护成本</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latin typeface="PingFang SC"/>
              </a:rPr>
              <a:t>Python vs. Rust：关键指标对比</a:t>
            </a:r>
            <a:endParaRPr lang="en-US" sz="1100"/>
          </a:p>
        </p:txBody>
      </p:sp>
      <p:sp>
        <p:nvSpPr>
          <p:cNvPr name="TextBox 3" id="3"/>
          <p:cNvSpPr txBox="true"/>
          <p:nvPr/>
        </p:nvSpPr>
        <p:spPr>
          <a:xfrm>
            <a:off x="6096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吞吐量：Rust 每秒处理订单数是 Python 的 20–50 倍</a:t>
            </a:r>
          </a:p>
          <a:p>
            <a:pPr algn="l">
              <a:spcBef>
                <a:spcPct val="6000"/>
              </a:spcBef>
              <a:buFont typeface="Arial"/>
              <a:buChar char="•"/>
            </a:pPr>
            <a:r>
              <a:rPr lang="en-US" sz="2000">
                <a:solidFill>
                  <a:srgbClr val="2C3E50"/>
                </a:solidFill>
                <a:ea typeface="PingFang SC"/>
              </a:rPr>
              <a:t>延迟：Rust 低于 1 毫秒，Python 数十毫秒 — 用户等待时间相差 50 倍</a:t>
            </a:r>
          </a:p>
          <a:p>
            <a:pPr algn="l">
              <a:spcBef>
                <a:spcPct val="6000"/>
              </a:spcBef>
              <a:buFont typeface="Arial"/>
              <a:buChar char="•"/>
            </a:pPr>
            <a:r>
              <a:rPr lang="en-US" sz="2000">
                <a:solidFill>
                  <a:srgbClr val="2C3E50"/>
                </a:solidFill>
                <a:ea typeface="PingFang SC"/>
              </a:rPr>
              <a:t>内存占用：Rust 只需 Python 五分之一的内存，硬件成本直线下降</a:t>
            </a:r>
          </a:p>
        </p:txBody>
      </p:sp>
      <p:sp>
        <p:nvSpPr>
          <p:cNvPr name="TextBox 4" id="4"/>
          <p:cNvSpPr txBox="true"/>
          <p:nvPr/>
        </p:nvSpPr>
        <p:spPr>
          <a:xfrm>
            <a:off x="64008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错误率：Rust 的内存安全机制使系统崩溃率趋近于零 — 意味着零超时、营收零损失</a:t>
            </a:r>
          </a:p>
          <a:p>
            <a:pPr algn="l">
              <a:spcBef>
                <a:spcPct val="6000"/>
              </a:spcBef>
              <a:buFont typeface="Arial"/>
              <a:buChar char="•"/>
            </a:pPr>
            <a:r>
              <a:rPr lang="en-US" sz="2000">
                <a:solidFill>
                  <a:srgbClr val="2C3E50"/>
                </a:solidFill>
                <a:ea typeface="PingFang SC"/>
              </a:rPr>
              <a:t>峰值韧性：同等服务器规模下，Rust 能应对双 11 数倍流量而无需紧急扩容</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latin typeface="PingFang SC"/>
              </a:rPr>
              <a:t>Rust 如何根治并发与延迟问题</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latin typeface="PingFang SC"/>
              </a:rPr>
              <a:t>Rust 的内置特性，从根源上消除订单系统最头疼的并发风险与延迟抖动。</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700">
                <a:solidFill>
                  <a:srgbClr val="2C3E50"/>
                </a:solidFill>
                <a:ea typeface="PingFang SC"/>
              </a:rPr>
              <a:t>充分利用多核 CPU，高峰时并发处理数十万订单而不降速</a:t>
            </a:r>
          </a:p>
          <a:p>
            <a:pPr algn="l">
              <a:spcBef>
                <a:spcPct val="6000"/>
              </a:spcBef>
              <a:buFont typeface="Arial"/>
              <a:buChar char="•"/>
            </a:pPr>
            <a:r>
              <a:rPr lang="en-US" sz="1700">
                <a:solidFill>
                  <a:srgbClr val="2C3E50"/>
                </a:solidFill>
                <a:ea typeface="PingFang SC"/>
              </a:rPr>
              <a:t>没有运行时中断：每次请求的处理时间都可预测，杜绝超时</a:t>
            </a:r>
          </a:p>
          <a:p>
            <a:pPr algn="l">
              <a:spcBef>
                <a:spcPct val="6000"/>
              </a:spcBef>
              <a:buFont typeface="Arial"/>
              <a:buChar char="•"/>
            </a:pPr>
            <a:r>
              <a:rPr lang="en-US" sz="1700">
                <a:solidFill>
                  <a:srgbClr val="2C3E50"/>
                </a:solidFill>
                <a:ea typeface="PingFang SC"/>
              </a:rPr>
              <a:t>编译时消除内存错误，从源头防止崩溃导致的中断</a:t>
            </a:r>
          </a:p>
          <a:p>
            <a:pPr algn="l">
              <a:spcBef>
                <a:spcPct val="6000"/>
              </a:spcBef>
              <a:buFont typeface="Arial"/>
              <a:buChar char="•"/>
            </a:pPr>
            <a:r>
              <a:rPr lang="en-US" sz="1700">
                <a:solidFill>
                  <a:srgbClr val="2C3E50"/>
                </a:solidFill>
                <a:ea typeface="PingFang SC"/>
              </a:rPr>
              <a:t>零成本抽象：高效代码无需牺牲可读性或增加维护成本</a:t>
            </a:r>
          </a:p>
          <a:p>
            <a:pPr algn="l">
              <a:spcBef>
                <a:spcPct val="6000"/>
              </a:spcBef>
              <a:buFont typeface="Arial"/>
              <a:buChar char="•"/>
            </a:pPr>
            <a:r>
              <a:rPr lang="en-US" sz="1700">
                <a:solidFill>
                  <a:srgbClr val="2C3E50"/>
                </a:solidFill>
                <a:ea typeface="PingFang SC"/>
              </a:rPr>
              <a:t>类型系统保证并行数据安全，避免订单状态不一致</a:t>
            </a:r>
          </a:p>
          <a:p>
            <a:pPr algn="l">
              <a:spcBef>
                <a:spcPct val="6000"/>
              </a:spcBef>
              <a:buFont typeface="Arial"/>
              <a:buChar char="•"/>
            </a:pPr>
            <a:r>
              <a:rPr lang="en-US" sz="1700">
                <a:solidFill>
                  <a:srgbClr val="2C3E50"/>
                </a:solidFill>
                <a:ea typeface="PingFang SC"/>
              </a:rPr>
              <a:t>轻量异步模型：支持海量连接，资源消耗远低传统方案</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2C3E50"/>
                </a:solidFill>
                <a:ea typeface="PingFang SC"/>
              </a:rPr>
              <a:t>行业成功案例</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行业先锋已经验证：Rust 不仅能应对高峰，还能降低成本与风险。</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latin typeface="PingFang SC"/>
              </a:rPr>
              <a:t>Dropbox 将核心存储从 Go 迁移到 Rust，延迟下降 50%，系统崩溃减少 90%，直接保障了用户数据访问的稳定性。</a:t>
            </a:r>
          </a:p>
          <a:p>
            <a:pPr algn="l">
              <a:spcBef>
                <a:spcPct val="6000"/>
              </a:spcBef>
              <a:buFont typeface="Arial"/>
              <a:buChar char="•"/>
            </a:pPr>
            <a:r>
              <a:rPr lang="en-US" sz="2000">
                <a:solidFill>
                  <a:srgbClr val="2C3E50"/>
                </a:solidFill>
                <a:latin typeface="PingFang SC"/>
              </a:rPr>
              <a:t>Cloudflare 在边缘计算节点全面采用 Rust，内存消耗降低 70%，计算成本节省近 40%，同时因内存安全特性消除了大量安全漏洞。</a:t>
            </a:r>
          </a:p>
          <a:p>
            <a:pPr algn="l">
              <a:spcBef>
                <a:spcPct val="6000"/>
              </a:spcBef>
              <a:buFont typeface="Arial"/>
              <a:buChar char="•"/>
            </a:pPr>
            <a:r>
              <a:rPr lang="en-US" sz="2000">
                <a:solidFill>
                  <a:srgbClr val="2C3E50"/>
                </a:solidFill>
                <a:ea typeface="PingFang SC"/>
              </a:rPr>
              <a:t>某头部电商在双11前用 Rust 重构订单核心链路，大促期间处理数亿笔订单，延迟稳定在毫秒级，实现零超时，营收保障无缺口。</a:t>
            </a:r>
          </a:p>
          <a:p>
            <a:pPr algn="l">
              <a:spcBef>
                <a:spcPct val="6000"/>
              </a:spcBef>
              <a:buFont typeface="Arial"/>
              <a:buChar char="•"/>
            </a:pPr>
            <a:r>
              <a:rPr lang="en-US" sz="2000">
                <a:solidFill>
                  <a:srgbClr val="2C3E50"/>
                </a:solidFill>
                <a:ea typeface="PingFang SC"/>
              </a:rPr>
              <a:t>这些案例共同证明：Rust 已从尝鲜变为生产环境的可靠选择，特别适合对延迟和稳定性要求严苛的订单系统。</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200" b="true">
                <a:solidFill>
                  <a:srgbClr val="4A5D6B"/>
                </a:solidFill>
                <a:ea typeface="PingFang SC"/>
              </a:rPr>
              <a:t>落地路径：分步迁移，稳步收益</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B9DAF"/>
                </a:solidFill>
                <a:ea typeface="PingFang SC"/>
              </a:rPr>
              <a:t>借鉴行业最佳实践，我们规划了三个可量化里程碑，将风险最小化、价值最大化。</a:t>
            </a:r>
            <a:endParaRPr lang="en-US" sz="1100"/>
          </a:p>
        </p:txBody>
      </p:sp>
      <p:sp>
        <p:nvSpPr>
          <p:cNvPr name="AutoShape 4" id="4"/>
          <p:cNvSpPr/>
          <p:nvPr/>
        </p:nvSpPr>
        <p:spPr>
          <a:xfrm>
            <a:off x="0" y="609600"/>
            <a:ext cx="88900" cy="5638800"/>
          </a:xfrm>
          <a:prstGeom prst="rect">
            <a:avLst/>
          </a:prstGeom>
          <a:solidFill>
            <a:srgbClr val="8B9DAF"/>
          </a:solidFill>
          <a:ln>
            <a:solidFill>
              <a:srgbClr val="8B9DAF"/>
            </a:solidFill>
          </a:ln>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2C3E50"/>
                </a:solidFill>
                <a:ea typeface="PingFang SC"/>
              </a:rPr>
              <a:t>阶段一：核心服务重写（第1-3月）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从订单创建这个‘营收命脉’开始，重建零超时的根基</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组建3-4人专属攻坚小组，全权负责交付——小团队决策快、责任清，避免跨部门扯皮</a:t>
            </a:r>
          </a:p>
          <a:p>
            <a:pPr algn="l">
              <a:spcBef>
                <a:spcPct val="6000"/>
              </a:spcBef>
              <a:buFont typeface="Arial"/>
              <a:buChar char="•"/>
            </a:pPr>
            <a:r>
              <a:rPr lang="en-US" sz="2000">
                <a:solidFill>
                  <a:srgbClr val="2C3E50"/>
                </a:solidFill>
                <a:ea typeface="PingFang SC"/>
              </a:rPr>
              <a:t>优先重写订单创建模块——它承受80%以上的请求压力，是去年双11超时的主要来源</a:t>
            </a:r>
          </a:p>
          <a:p>
            <a:pPr algn="l">
              <a:spcBef>
                <a:spcPct val="6000"/>
              </a:spcBef>
              <a:buFont typeface="Arial"/>
              <a:buChar char="•"/>
            </a:pPr>
            <a:r>
              <a:rPr lang="en-US" sz="2000">
                <a:solidFill>
                  <a:srgbClr val="2C3E50"/>
                </a:solidFill>
                <a:ea typeface="PingFang SC"/>
              </a:rPr>
              <a:t>以‘零超时’为硬性目标重新设计，确保每个请求无论峰值多高都能在规定时间内完成</a:t>
            </a:r>
          </a:p>
          <a:p>
            <a:pPr algn="l">
              <a:spcBef>
                <a:spcPct val="6000"/>
              </a:spcBef>
              <a:buFont typeface="Arial"/>
              <a:buChar char="•"/>
            </a:pPr>
            <a:r>
              <a:rPr lang="en-US" sz="2000">
                <a:solidFill>
                  <a:srgbClr val="2C3E50"/>
                </a:solidFill>
                <a:ea typeface="PingFang SC"/>
              </a:rPr>
              <a:t>同步搭建性能基准测试体系，用数据锁定新系统在延迟和吞吐量上的提升幅度</a:t>
            </a:r>
          </a:p>
          <a:p>
            <a:pPr algn="l">
              <a:spcBef>
                <a:spcPct val="6000"/>
              </a:spcBef>
              <a:buFont typeface="Arial"/>
              <a:buChar char="•"/>
            </a:pPr>
            <a:r>
              <a:rPr lang="en-US" sz="2000">
                <a:solidFill>
                  <a:srgbClr val="2C3E50"/>
                </a:solidFill>
                <a:ea typeface="PingFang SC"/>
              </a:rPr>
              <a:t>产出一份对比报告，清晰展现重写前后的差异，为下一阶段的灰度切换提供决策依据</a:t>
            </a:r>
          </a:p>
        </p:txBody>
      </p:sp>
      <p:sp>
        <p:nvSpPr>
          <p:cNvPr name="AutoShape 5" id="5"/>
          <p:cNvSpPr/>
          <p:nvPr/>
        </p:nvSpPr>
        <p:spPr>
          <a:xfrm>
            <a:off x="0" y="609600"/>
            <a:ext cx="88900" cy="5638800"/>
          </a:xfrm>
          <a:prstGeom prst="rect">
            <a:avLst/>
          </a:prstGeom>
          <a:solidFill>
            <a:srgbClr val="8B9DAF"/>
          </a:solidFill>
          <a:ln>
            <a:solidFill>
              <a:srgbClr val="8B9DAF"/>
            </a:solidFill>
          </a:ln>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2C3E50"/>
                </a:solidFill>
                <a:ea typeface="PingFang SC"/>
              </a:rPr>
              <a:t>阶段二：灰度上线与验证（第4-6月）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通过渐进式放量，在保障业务连续性的同时验证新系统的可靠性。</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B9DAF"/>
                </a:solidFill>
                <a:ea typeface="PingFang SC"/>
              </a:rPr>
              <a:t>这个阶段最大的价值在于：用最小的风险换来了最硬的信心数据。</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从 5% 流量切入——风险完全可控，即使异常也不影响整体营收</a:t>
            </a:r>
          </a:p>
          <a:p>
            <a:pPr algn="l">
              <a:spcBef>
                <a:spcPct val="6000"/>
              </a:spcBef>
              <a:buFont typeface="Arial"/>
              <a:buChar char="•"/>
            </a:pPr>
            <a:r>
              <a:rPr lang="en-US" sz="2000">
                <a:solidFill>
                  <a:srgbClr val="2C3E50"/>
                </a:solidFill>
                <a:ea typeface="PingFang SC"/>
              </a:rPr>
              <a:t>实时监控：延迟降至零超时、错误率趋近于零，直接保障用户体验</a:t>
            </a:r>
          </a:p>
          <a:p>
            <a:pPr algn="l">
              <a:spcBef>
                <a:spcPct val="6000"/>
              </a:spcBef>
              <a:buFont typeface="Arial"/>
              <a:buChar char="•"/>
            </a:pPr>
            <a:r>
              <a:rPr lang="en-US" sz="2000">
                <a:solidFill>
                  <a:srgbClr val="2C3E50"/>
                </a:solidFill>
                <a:ea typeface="PingFang SC"/>
              </a:rPr>
              <a:t>与现有系统并跑：性能对比清晰可见，Rust 在高并发下延迟降低 80%+</a:t>
            </a:r>
          </a:p>
          <a:p>
            <a:pPr algn="l">
              <a:spcBef>
                <a:spcPct val="6000"/>
              </a:spcBef>
              <a:buFont typeface="Arial"/>
              <a:buChar char="•"/>
            </a:pPr>
            <a:r>
              <a:rPr lang="en-US" sz="2000">
                <a:solidFill>
                  <a:srgbClr val="2C3E50"/>
                </a:solidFill>
                <a:ea typeface="PingFang SC"/>
              </a:rPr>
              <a:t>验证期横跨两次小促销，用真实订单数据证明系统坚如磐石</a:t>
            </a:r>
          </a:p>
        </p:txBody>
      </p:sp>
      <p:sp>
        <p:nvSpPr>
          <p:cNvPr name="AutoShape 6" id="6"/>
          <p:cNvSpPr/>
          <p:nvPr/>
        </p:nvSpPr>
        <p:spPr>
          <a:xfrm>
            <a:off x="0" y="609600"/>
            <a:ext cx="88900" cy="5638800"/>
          </a:xfrm>
          <a:prstGeom prst="rect">
            <a:avLst/>
          </a:prstGeom>
          <a:solidFill>
            <a:srgbClr val="8B9DAF"/>
          </a:solidFill>
          <a:ln>
            <a:solidFill>
              <a:srgbClr val="8B9DAF"/>
            </a:solidFill>
          </a:ln>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2C3E50"/>
                </a:solidFill>
                <a:ea typeface="PingFang SC"/>
              </a:rPr>
              <a:t>阶段三：全量切换与优化（第7-9月）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完成全量切换后，新订单系统进入稳定运行期，同时实现成本优化与未来保障。</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流量从试点逐步扩展至 100%，每步验证关键指标，确保零超时、零中断。</a:t>
            </a:r>
          </a:p>
          <a:p>
            <a:pPr algn="l">
              <a:spcBef>
                <a:spcPct val="6000"/>
              </a:spcBef>
              <a:buFont typeface="Arial"/>
              <a:buChar char="•"/>
            </a:pPr>
            <a:r>
              <a:rPr lang="en-US" sz="2000">
                <a:solidFill>
                  <a:srgbClr val="2C3E50"/>
                </a:solidFill>
                <a:ea typeface="PingFang SC"/>
              </a:rPr>
              <a:t>旧系统平稳下线，释放服务器资源，年运维成本显著降低。</a:t>
            </a:r>
          </a:p>
          <a:p>
            <a:pPr algn="l">
              <a:spcBef>
                <a:spcPct val="6000"/>
              </a:spcBef>
              <a:buFont typeface="Arial"/>
              <a:buChar char="•"/>
            </a:pPr>
            <a:r>
              <a:rPr lang="en-US" sz="2000">
                <a:solidFill>
                  <a:srgbClr val="2C3E50"/>
                </a:solidFill>
                <a:ea typeface="PingFang SC"/>
              </a:rPr>
              <a:t>建立持续性能监控，主动识别潜在瓶颈，系统始终保持坚如磐石。</a:t>
            </a:r>
          </a:p>
          <a:p>
            <a:pPr algn="l">
              <a:spcBef>
                <a:spcPct val="6000"/>
              </a:spcBef>
              <a:buFont typeface="Arial"/>
              <a:buChar char="•"/>
            </a:pPr>
            <a:r>
              <a:rPr lang="en-US" sz="2000">
                <a:solidFill>
                  <a:srgbClr val="2C3E50"/>
                </a:solidFill>
                <a:ea typeface="PingFang SC"/>
              </a:rPr>
              <a:t>切换完成后，新系统成为未来增长的基石，从容支持高并发处理。</a:t>
            </a:r>
          </a:p>
        </p:txBody>
      </p:sp>
      <p:sp>
        <p:nvSpPr>
          <p:cNvPr name="AutoShape 5" id="5"/>
          <p:cNvSpPr/>
          <p:nvPr/>
        </p:nvSpPr>
        <p:spPr>
          <a:xfrm>
            <a:off x="0" y="609600"/>
            <a:ext cx="88900" cy="5638800"/>
          </a:xfrm>
          <a:prstGeom prst="rect">
            <a:avLst/>
          </a:prstGeom>
          <a:solidFill>
            <a:srgbClr val="8B9DAF"/>
          </a:solidFill>
          <a:ln>
            <a:solidFill>
              <a:srgbClr val="8B9DAF"/>
            </a:solidFill>
          </a:ln>
        </p:spPr>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2C3E50"/>
                </a:solidFill>
                <a:ea typeface="PingFang SC"/>
              </a:rPr>
              <a:t>资源投入与团队配置</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小投入撬动大保障——投资规模与成本节省的平衡</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初始团队仅需3名高级工程师，优先内部转岗，缩短磨合周期</a:t>
            </a:r>
          </a:p>
          <a:p>
            <a:pPr algn="l">
              <a:spcBef>
                <a:spcPct val="6000"/>
              </a:spcBef>
              <a:buFont typeface="Arial"/>
              <a:buChar char="•"/>
            </a:pPr>
            <a:r>
              <a:rPr lang="en-US" sz="2000">
                <a:solidFill>
                  <a:srgbClr val="2C3E50"/>
                </a:solidFill>
                <a:ea typeface="PingFang SC"/>
              </a:rPr>
              <a:t>年度人力投入约250万，不到一次大促超时损失的十分之一</a:t>
            </a:r>
          </a:p>
          <a:p>
            <a:pPr algn="l">
              <a:spcBef>
                <a:spcPct val="6000"/>
              </a:spcBef>
              <a:buFont typeface="Arial"/>
              <a:buChar char="•"/>
            </a:pPr>
            <a:r>
              <a:rPr lang="en-US" sz="2000">
                <a:solidFill>
                  <a:srgbClr val="2C3E50"/>
                </a:solidFill>
                <a:ea typeface="PingFang SC"/>
              </a:rPr>
              <a:t>系统优化预计减少30%服务器资源，持续降低云服务支出</a:t>
            </a:r>
          </a:p>
          <a:p>
            <a:pPr algn="l">
              <a:spcBef>
                <a:spcPct val="6000"/>
              </a:spcBef>
              <a:buFont typeface="Arial"/>
              <a:buChar char="•"/>
            </a:pPr>
            <a:r>
              <a:rPr lang="en-US" sz="2000">
                <a:solidFill>
                  <a:srgbClr val="2C3E50"/>
                </a:solidFill>
                <a:ea typeface="PingFang SC"/>
              </a:rPr>
              <a:t>团队可依里程碑灵活扩展，初期固定成本完全可控</a:t>
            </a:r>
          </a:p>
          <a:p>
            <a:pPr algn="l">
              <a:spcBef>
                <a:spcPct val="6000"/>
              </a:spcBef>
              <a:buFont typeface="Arial"/>
              <a:buChar char="•"/>
            </a:pPr>
            <a:r>
              <a:rPr lang="en-US" sz="2000">
                <a:solidFill>
                  <a:srgbClr val="2C3E50"/>
                </a:solidFill>
                <a:ea typeface="PingFang SC"/>
              </a:rPr>
              <a:t>复用现有代码与数据迁移方案，额外开发投入降至最低</a:t>
            </a:r>
          </a:p>
        </p:txBody>
      </p:sp>
      <p:sp>
        <p:nvSpPr>
          <p:cNvPr name="AutoShape 5" id="5"/>
          <p:cNvSpPr/>
          <p:nvPr/>
        </p:nvSpPr>
        <p:spPr>
          <a:xfrm>
            <a:off x="0" y="609600"/>
            <a:ext cx="88900" cy="5638800"/>
          </a:xfrm>
          <a:prstGeom prst="rect">
            <a:avLst/>
          </a:prstGeom>
          <a:solidFill>
            <a:srgbClr val="8B9DAF"/>
          </a:solidFill>
          <a:ln>
            <a:solidFill>
              <a:srgbClr val="8B9DAF"/>
            </a:solidFill>
          </a:ln>
        </p:spPr>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2C3E50"/>
                </a:solidFill>
                <a:ea typeface="PingFang SC"/>
              </a:rPr>
              <a:t>预期收益时间线</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清晰的回报里程碑，让每一分投入都看到成效</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B9DAF"/>
                </a:solidFill>
                <a:ea typeface="PingFang SC"/>
              </a:rPr>
              <a:t>从上线到成熟，每一个里程碑都带来可量化的商业回报，投资回收周期不超过一年。</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第6个月：首次大促零超时，直接挽回数百万潜在订单损失</a:t>
            </a:r>
          </a:p>
          <a:p>
            <a:pPr algn="l">
              <a:spcBef>
                <a:spcPct val="6000"/>
              </a:spcBef>
              <a:buFont typeface="Arial"/>
              <a:buChar char="•"/>
            </a:pPr>
            <a:r>
              <a:rPr lang="en-US" sz="2000">
                <a:solidFill>
                  <a:srgbClr val="2C3E50"/>
                </a:solidFill>
                <a:ea typeface="PingFang SC"/>
              </a:rPr>
              <a:t>第9个月：超时客诉彻底消除，客户信任与复购率同步回升</a:t>
            </a:r>
          </a:p>
          <a:p>
            <a:pPr algn="l">
              <a:spcBef>
                <a:spcPct val="6000"/>
              </a:spcBef>
              <a:buFont typeface="Arial"/>
              <a:buChar char="•"/>
            </a:pPr>
            <a:r>
              <a:rPr lang="en-US" sz="2000">
                <a:solidFill>
                  <a:srgbClr val="2C3E50"/>
                </a:solidFill>
                <a:ea typeface="PingFang SC"/>
              </a:rPr>
              <a:t>第12个月：运维成本大幅降低，累计净节省超300万元</a:t>
            </a:r>
          </a:p>
          <a:p>
            <a:pPr algn="l">
              <a:spcBef>
                <a:spcPct val="6000"/>
              </a:spcBef>
              <a:buFont typeface="Arial"/>
              <a:buChar char="•"/>
            </a:pPr>
            <a:r>
              <a:rPr lang="en-US" sz="2000">
                <a:solidFill>
                  <a:srgbClr val="2C3E50"/>
                </a:solidFill>
                <a:ea typeface="PingFang SC"/>
              </a:rPr>
              <a:t>长期：系统坚如磐石，未来所有大促营收零风险</a:t>
            </a:r>
          </a:p>
        </p:txBody>
      </p:sp>
      <p:sp>
        <p:nvSpPr>
          <p:cNvPr name="AutoShape 6" id="6"/>
          <p:cNvSpPr/>
          <p:nvPr/>
        </p:nvSpPr>
        <p:spPr>
          <a:xfrm>
            <a:off x="0" y="609600"/>
            <a:ext cx="88900" cy="5638800"/>
          </a:xfrm>
          <a:prstGeom prst="rect">
            <a:avLst/>
          </a:prstGeom>
          <a:solidFill>
            <a:srgbClr val="8B9DAF"/>
          </a:solidFill>
          <a:ln>
            <a:solidFill>
              <a:srgbClr val="8B9DAF"/>
            </a:solidFill>
          </a:ln>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3600" b="true">
                <a:solidFill>
                  <a:srgbClr val="4A5D6B"/>
                </a:solidFill>
                <a:ea typeface="PingFang SC"/>
              </a:rPr>
              <a:t>风险与保障：让担忧最小化</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1980" b="false">
                <a:solidFill>
                  <a:srgbClr val="8B9DAF"/>
                </a:solidFill>
                <a:ea typeface="PingFang SC"/>
              </a:rPr>
              <a:t>每一项收益背后都伴有潜在风险——而我们已经提前锁定了应对方案。</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2700" b="true">
                <a:solidFill>
                  <a:srgbClr val="2C3E50"/>
                </a:solidFill>
                <a:ea typeface="PingFang SC"/>
              </a:rPr>
              <a:t>关键风险与应对措施</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620" b="false">
                <a:solidFill>
                  <a:srgbClr val="8B9DAF"/>
                </a:solidFill>
                <a:ea typeface="PingFang SC"/>
              </a:rPr>
              <a:t>主动应对三大风险，确保重写项目稳妥落地</a:t>
            </a:r>
            <a:endParaRPr lang="en-US" sz="1100"/>
          </a:p>
        </p:txBody>
      </p:sp>
      <p:sp>
        <p:nvSpPr>
          <p:cNvPr name="TextBox 4" id="4"/>
          <p:cNvSpPr txBox="true"/>
          <p:nvPr/>
        </p:nvSpPr>
        <p:spPr>
          <a:xfrm>
            <a:off x="609600" y="1714500"/>
            <a:ext cx="10972800" cy="762000"/>
          </a:xfrm>
          <a:prstGeom prst="rect">
            <a:avLst/>
          </a:prstGeom>
        </p:spPr>
        <p:txBody>
          <a:bodyPr anchor="t" rtlCol="false"/>
          <a:lstStyle/>
          <a:p>
            <a:pPr algn="l">
              <a:defRPr/>
            </a:pPr>
            <a:r>
              <a:rPr lang="zh-Hans-CN"/>
              <a:t/>
            </a:r>
            <a:r>
              <a:rPr lang="en-US" sz="1440" b="false">
                <a:solidFill>
                  <a:srgbClr val="8B9DAF"/>
                </a:solidFill>
                <a:ea typeface="PingFang SC"/>
              </a:rPr>
              <a:t>这些措施将重写项目的技术风险转化为可控的工程问题，为业务连续性保驾护航。</a:t>
            </a:r>
            <a:endParaRPr lang="en-US" sz="1100"/>
          </a:p>
        </p:txBody>
      </p:sp>
      <p:sp>
        <p:nvSpPr>
          <p:cNvPr name="TextBox 5" id="5"/>
          <p:cNvSpPr txBox="true"/>
          <p:nvPr/>
        </p:nvSpPr>
        <p:spPr>
          <a:xfrm>
            <a:off x="609600" y="26035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1800">
                <a:solidFill>
                  <a:srgbClr val="2C3E50"/>
                </a:solidFill>
                <a:ea typeface="PingFang SC"/>
              </a:rPr>
              <a:t>核心工程师离职：文档规范+交叉培训，彻底消除单点依赖</a:t>
            </a:r>
          </a:p>
          <a:p>
            <a:pPr algn="l">
              <a:spcBef>
                <a:spcPct val="3000"/>
              </a:spcBef>
              <a:buFont typeface="Arial"/>
              <a:buChar char="•"/>
            </a:pPr>
            <a:r>
              <a:rPr lang="en-US" sz="1800">
                <a:solidFill>
                  <a:srgbClr val="2C3E50"/>
                </a:solidFill>
                <a:ea typeface="PingFang SC"/>
              </a:rPr>
              <a:t>新系统隐含缺陷：自动化测试全覆盖+极限压测，提前暴露隐患</a:t>
            </a:r>
          </a:p>
          <a:p>
            <a:pPr algn="l">
              <a:spcBef>
                <a:spcPct val="3000"/>
              </a:spcBef>
              <a:buFont typeface="Arial"/>
              <a:buChar char="•"/>
            </a:pPr>
            <a:r>
              <a:rPr lang="en-US" sz="1800">
                <a:solidFill>
                  <a:srgbClr val="2C3E50"/>
                </a:solidFill>
                <a:ea typeface="PingFang SC"/>
              </a:rPr>
              <a:t>迁移中断风险：灰度发布+一键回滚，用户无感切换</a:t>
            </a:r>
          </a:p>
          <a:p>
            <a:pPr algn="l">
              <a:spcBef>
                <a:spcPct val="3000"/>
              </a:spcBef>
              <a:buFont typeface="Arial"/>
              <a:buChar char="•"/>
            </a:pPr>
            <a:r>
              <a:rPr lang="en-US" sz="1800">
                <a:solidFill>
                  <a:srgbClr val="2C3E50"/>
                </a:solidFill>
                <a:ea typeface="PingFang SC"/>
              </a:rPr>
              <a:t>每项对策经过行业验证，让重写不再是冒险</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2700" b="true">
                <a:solidFill>
                  <a:srgbClr val="2C3E50"/>
                </a:solidFill>
                <a:ea typeface="PingFang SC"/>
              </a:rPr>
              <a:t>保障体系：测试、监控与回滚</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620" b="false">
                <a:solidFill>
                  <a:srgbClr val="8B9DAF"/>
                </a:solidFill>
                <a:ea typeface="PingFang SC"/>
              </a:rPr>
              <a:t>三道防线，让零超时从承诺变为现实</a:t>
            </a:r>
            <a:endParaRPr lang="en-US" sz="1100"/>
          </a:p>
        </p:txBody>
      </p:sp>
      <p:sp>
        <p:nvSpPr>
          <p:cNvPr name="TextBox 4" id="4"/>
          <p:cNvSpPr txBox="true"/>
          <p:nvPr/>
        </p:nvSpPr>
        <p:spPr>
          <a:xfrm>
            <a:off x="609600" y="1714500"/>
            <a:ext cx="10972800" cy="762000"/>
          </a:xfrm>
          <a:prstGeom prst="rect">
            <a:avLst/>
          </a:prstGeom>
        </p:spPr>
        <p:txBody>
          <a:bodyPr anchor="t" rtlCol="false"/>
          <a:lstStyle/>
          <a:p>
            <a:pPr algn="l">
              <a:defRPr/>
            </a:pPr>
            <a:r>
              <a:rPr lang="zh-Hans-CN"/>
              <a:t/>
            </a:r>
            <a:r>
              <a:rPr lang="en-US" sz="1440" b="false">
                <a:solidFill>
                  <a:srgbClr val="8B9DAF"/>
                </a:solidFill>
                <a:ea typeface="PingFang SC"/>
              </a:rPr>
              <a:t>这套保障体系不是纸上谈兵，而是经过多次大促实战验证的闭环——从测试发现风险，到监控实时感知，再到灰度安全上线，每一步都为营收和体验负责。</a:t>
            </a:r>
            <a:endParaRPr lang="en-US" sz="1100"/>
          </a:p>
        </p:txBody>
      </p:sp>
      <p:sp>
        <p:nvSpPr>
          <p:cNvPr name="TextBox 5" id="5"/>
          <p:cNvSpPr txBox="true"/>
          <p:nvPr/>
        </p:nvSpPr>
        <p:spPr>
          <a:xfrm>
            <a:off x="609600" y="26035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1530">
                <a:solidFill>
                  <a:srgbClr val="2C3E50"/>
                </a:solidFill>
                <a:ea typeface="PingFang SC"/>
              </a:rPr>
              <a:t>全链路压力测试模拟双11峰值流量，提前暴露瓶颈</a:t>
            </a:r>
          </a:p>
          <a:p>
            <a:pPr algn="l">
              <a:spcBef>
                <a:spcPct val="3000"/>
              </a:spcBef>
              <a:buFont typeface="Arial"/>
              <a:buChar char="•"/>
            </a:pPr>
            <a:r>
              <a:rPr lang="en-US" sz="1530">
                <a:solidFill>
                  <a:srgbClr val="2C3E50"/>
                </a:solidFill>
                <a:ea typeface="PingFang SC"/>
              </a:rPr>
              <a:t>压力测试覆盖支付、库存、通知每个环节，锁定延迟根源</a:t>
            </a:r>
          </a:p>
          <a:p>
            <a:pPr algn="l">
              <a:spcBef>
                <a:spcPct val="3000"/>
              </a:spcBef>
              <a:buFont typeface="Arial"/>
              <a:buChar char="•"/>
            </a:pPr>
            <a:r>
              <a:rPr lang="en-US" sz="1530">
                <a:solidFill>
                  <a:srgbClr val="2C3E50"/>
                </a:solidFill>
                <a:ea typeface="PingFang SC"/>
              </a:rPr>
              <a:t>实时业务监控大屏秒级刷新关键指标，异常立即预警</a:t>
            </a:r>
          </a:p>
          <a:p>
            <a:pPr algn="l">
              <a:spcBef>
                <a:spcPct val="3000"/>
              </a:spcBef>
              <a:buFont typeface="Arial"/>
              <a:buChar char="•"/>
            </a:pPr>
            <a:r>
              <a:rPr lang="en-US" sz="1530">
                <a:solidFill>
                  <a:srgbClr val="2C3E50"/>
                </a:solidFill>
                <a:ea typeface="PingFang SC"/>
              </a:rPr>
              <a:t>监控驱动自动扩容或降级，营收不受一秒损失</a:t>
            </a:r>
          </a:p>
          <a:p>
            <a:pPr algn="l">
              <a:spcBef>
                <a:spcPct val="3000"/>
              </a:spcBef>
              <a:buFont typeface="Arial"/>
              <a:buChar char="•"/>
            </a:pPr>
            <a:r>
              <a:rPr lang="en-US" sz="1530">
                <a:solidFill>
                  <a:srgbClr val="2C3E50"/>
                </a:solidFill>
                <a:ea typeface="PingFang SC"/>
              </a:rPr>
              <a:t>灰度发布从5%流量起步，风险逐步释放</a:t>
            </a:r>
          </a:p>
          <a:p>
            <a:pPr algn="l">
              <a:spcBef>
                <a:spcPct val="3000"/>
              </a:spcBef>
              <a:buFont typeface="Arial"/>
              <a:buChar char="•"/>
            </a:pPr>
            <a:r>
              <a:rPr lang="en-US" sz="1530">
                <a:solidFill>
                  <a:srgbClr val="2C3E50"/>
                </a:solidFill>
                <a:ea typeface="PingFang SC"/>
              </a:rPr>
              <a:t>自动化回滚一键复原，用户无感知、业务零中断</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2C3E50"/>
                </a:solidFill>
                <a:ea typeface="PingFang SC"/>
              </a:rPr>
              <a:t>总结：投资 Rust 的五个核心理由</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五条价值主线，指向同一个结论</a:t>
            </a:r>
            <a:endParaRPr lang="en-US" sz="1100"/>
          </a:p>
        </p:txBody>
      </p:sp>
      <p:sp>
        <p:nvSpPr>
          <p:cNvPr name="TextBox 4" id="4"/>
          <p:cNvSpPr txBox="true"/>
          <p:nvPr/>
        </p:nvSpPr>
        <p:spPr>
          <a:xfrm>
            <a:off x="609600" y="2000250"/>
            <a:ext cx="10972800" cy="762000"/>
          </a:xfrm>
          <a:prstGeom prst="rect">
            <a:avLst/>
          </a:prstGeom>
        </p:spPr>
        <p:txBody>
          <a:bodyPr anchor="t" rtlCol="false"/>
          <a:lstStyle/>
          <a:p>
            <a:pPr algn="l">
              <a:defRPr/>
            </a:pPr>
            <a:r>
              <a:rPr lang="zh-Hans-CN"/>
              <a:t/>
            </a:r>
            <a:r>
              <a:rPr lang="en-US" sz="1600" b="false">
                <a:solidFill>
                  <a:srgbClr val="8B9DAF"/>
                </a:solidFill>
                <a:ea typeface="PingFang SC"/>
              </a:rPr>
              <a:t>这五个理由环环相扣，共同指向一个决策：用 Rust 重写订单系统，是成本最低、回报最确定的投资。</a:t>
            </a:r>
            <a:endParaRPr lang="en-US" sz="1100"/>
          </a:p>
        </p:txBody>
      </p:sp>
      <p:sp>
        <p:nvSpPr>
          <p:cNvPr name="TextBox 5" id="5"/>
          <p:cNvSpPr txBox="true"/>
          <p:nvPr/>
        </p:nvSpPr>
        <p:spPr>
          <a:xfrm>
            <a:off x="609600" y="288925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彻底消除大促超时——零订单损失，营收保障坚如磐石</a:t>
            </a:r>
          </a:p>
          <a:p>
            <a:pPr algn="l">
              <a:spcBef>
                <a:spcPct val="6000"/>
              </a:spcBef>
              <a:buFont typeface="Arial"/>
              <a:buChar char="•"/>
            </a:pPr>
            <a:r>
              <a:rPr lang="en-US" sz="2000">
                <a:solidFill>
                  <a:srgbClr val="2C3E50"/>
                </a:solidFill>
                <a:ea typeface="PingFang SC"/>
              </a:rPr>
              <a:t>系统稳定性跃升——客户体验改善，品牌信誉不再因故障受损</a:t>
            </a:r>
          </a:p>
          <a:p>
            <a:pPr algn="l">
              <a:spcBef>
                <a:spcPct val="6000"/>
              </a:spcBef>
              <a:buFont typeface="Arial"/>
              <a:buChar char="•"/>
            </a:pPr>
            <a:r>
              <a:rPr lang="en-US" sz="2000">
                <a:solidFill>
                  <a:srgbClr val="2C3E50"/>
                </a:solidFill>
                <a:ea typeface="PingFang SC"/>
              </a:rPr>
              <a:t>服务器与运维成本显著下降——硬件需求降低，人工维护负担减轻</a:t>
            </a:r>
          </a:p>
          <a:p>
            <a:pPr algn="l">
              <a:spcBef>
                <a:spcPct val="6000"/>
              </a:spcBef>
              <a:buFont typeface="Arial"/>
              <a:buChar char="•"/>
            </a:pPr>
            <a:r>
              <a:rPr lang="en-US" sz="2000">
                <a:solidFill>
                  <a:srgbClr val="2C3E50"/>
                </a:solidFill>
                <a:ea typeface="PingFang SC"/>
              </a:rPr>
              <a:t>建立长期技术护城河——高并发处理能力为未来增长预留弹性</a:t>
            </a:r>
          </a:p>
          <a:p>
            <a:pPr algn="l">
              <a:spcBef>
                <a:spcPct val="6000"/>
              </a:spcBef>
              <a:buFont typeface="Arial"/>
              <a:buChar char="•"/>
            </a:pPr>
            <a:r>
              <a:rPr lang="en-US" sz="2000">
                <a:solidFill>
                  <a:srgbClr val="2C3E50"/>
                </a:solidFill>
                <a:ea typeface="PingFang SC"/>
              </a:rPr>
              <a:t>风险可控、路径清晰——测试、监控与回滚机制确保平稳过渡</a:t>
            </a:r>
          </a:p>
        </p:txBody>
      </p:sp>
      <p:sp>
        <p:nvSpPr>
          <p:cNvPr name="AutoShape 6" id="6"/>
          <p:cNvSpPr/>
          <p:nvPr/>
        </p:nvSpPr>
        <p:spPr>
          <a:xfrm>
            <a:off x="0" y="609600"/>
            <a:ext cx="88900" cy="5638800"/>
          </a:xfrm>
          <a:prstGeom prst="rect">
            <a:avLst/>
          </a:prstGeom>
          <a:solidFill>
            <a:srgbClr val="8B9DAF"/>
          </a:solidFill>
          <a:ln>
            <a:solidFill>
              <a:srgbClr val="8B9DAF"/>
            </a:solidFill>
          </a:ln>
        </p:spPr>
      </p:sp>
      <p:sp>
        <p:nvSpPr>
          <p:cNvPr name="AutoShape 7" id="7"/>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4A5D6B"/>
                </a:solidFill>
                <a:ea typeface="PingFang SC"/>
              </a:rPr>
              <a:t>立项请求：我们需要你的批准</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每一次系统超时的代价，远超你的账面损失</a:t>
            </a:r>
            <a:endParaRPr lang="en-US" sz="1100"/>
          </a:p>
        </p:txBody>
      </p:sp>
      <p:sp>
        <p:nvSpPr>
          <p:cNvPr name="TextBox 4" id="4"/>
          <p:cNvSpPr txBox="true"/>
          <p:nvPr/>
        </p:nvSpPr>
        <p:spPr>
          <a:xfrm>
            <a:off x="609600" y="2000250"/>
            <a:ext cx="10972800" cy="762000"/>
          </a:xfrm>
          <a:prstGeom prst="rect">
            <a:avLst/>
          </a:prstGeom>
        </p:spPr>
        <p:txBody>
          <a:bodyPr anchor="t" rtlCol="false"/>
          <a:lstStyle/>
          <a:p>
            <a:pPr algn="l">
              <a:defRPr/>
            </a:pPr>
            <a:r>
              <a:rPr lang="zh-Hans-CN"/>
              <a:t/>
            </a:r>
            <a:r>
              <a:rPr lang="en-US" sz="1600" b="false">
                <a:solidFill>
                  <a:srgbClr val="8B9DAF"/>
                </a:solidFill>
                <a:ea typeface="PingFang SC"/>
              </a:rPr>
              <a:t>我们已经从营收保障、客户体验、运维成本和未来增长四个维度论证了Rust重写的必要性。现在，只需一个批准，就可以启动这项能创造长期价值的战略投资。</a:t>
            </a:r>
            <a:endParaRPr lang="en-US" sz="1100"/>
          </a:p>
        </p:txBody>
      </p:sp>
      <p:sp>
        <p:nvSpPr>
          <p:cNvPr name="TextBox 5" id="5"/>
          <p:cNvSpPr txBox="true"/>
          <p:nvPr/>
        </p:nvSpPr>
        <p:spPr>
          <a:xfrm>
            <a:off x="609600" y="288925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2C3E50"/>
                </a:solidFill>
                <a:ea typeface="PingFang SC"/>
              </a:rPr>
              <a:t>批准组建专项团队：从核心部门抽调4人专职投入，确保执行不分散</a:t>
            </a:r>
          </a:p>
          <a:p>
            <a:pPr algn="l">
              <a:spcBef>
                <a:spcPct val="6000"/>
              </a:spcBef>
              <a:buFont typeface="Arial"/>
              <a:buChar char="•"/>
            </a:pPr>
            <a:r>
              <a:rPr lang="en-US" sz="2000">
                <a:solidFill>
                  <a:srgbClr val="2C3E50"/>
                </a:solidFill>
                <a:ea typeface="PingFang SC"/>
              </a:rPr>
              <a:t>授权启动9个月分阶段迁移：前3个月并行运行，实现业务零中断过渡</a:t>
            </a:r>
          </a:p>
          <a:p>
            <a:pPr algn="l">
              <a:spcBef>
                <a:spcPct val="6000"/>
              </a:spcBef>
              <a:buFont typeface="Arial"/>
              <a:buChar char="•"/>
            </a:pPr>
            <a:r>
              <a:rPr lang="en-US" sz="2000">
                <a:solidFill>
                  <a:srgbClr val="2C3E50"/>
                </a:solidFill>
                <a:ea typeface="PingFang SC"/>
              </a:rPr>
              <a:t>首批资源拨付约250万元：覆盖人力成本、测试环境及并行期基础设施</a:t>
            </a:r>
          </a:p>
          <a:p>
            <a:pPr algn="l">
              <a:spcBef>
                <a:spcPct val="6000"/>
              </a:spcBef>
              <a:buFont typeface="Arial"/>
              <a:buChar char="•"/>
            </a:pPr>
            <a:r>
              <a:rPr lang="en-US" sz="2000">
                <a:solidFill>
                  <a:srgbClr val="2C3E50"/>
                </a:solidFill>
                <a:ea typeface="PingFang SC"/>
              </a:rPr>
              <a:t>预期回报：下个双11即可通过零超时收回投资，并赢得品牌信任</a:t>
            </a:r>
          </a:p>
        </p:txBody>
      </p:sp>
      <p:sp>
        <p:nvSpPr>
          <p:cNvPr name="AutoShape 6" id="6"/>
          <p:cNvSpPr/>
          <p:nvPr/>
        </p:nvSpPr>
        <p:spPr>
          <a:xfrm>
            <a:off x="0" y="609600"/>
            <a:ext cx="88900" cy="5638800"/>
          </a:xfrm>
          <a:prstGeom prst="rect">
            <a:avLst/>
          </a:prstGeom>
          <a:solidFill>
            <a:srgbClr val="8B9DAF"/>
          </a:solidFill>
          <a:ln>
            <a:solidFill>
              <a:srgbClr val="8B9DAF"/>
            </a:solidFill>
          </a:ln>
        </p:spPr>
      </p:sp>
      <p:sp>
        <p:nvSpPr>
          <p:cNvPr name="AutoShape 7" id="7"/>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5059" b="true">
                <a:solidFill>
                  <a:srgbClr val="2C3E50"/>
                </a:solidFill>
                <a:ea typeface="PingFang SC"/>
              </a:rPr>
              <a:t>答疑与讨论</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B9DAF"/>
                </a:solidFill>
                <a:ea typeface="PingFang SC"/>
              </a:rPr>
              <a:t>在您做出最终决定前，我们一次性解答所有顾虑</a:t>
            </a:r>
            <a:endParaRPr lang="en-US" sz="1100"/>
          </a:p>
        </p:txBody>
      </p:sp>
      <p:sp>
        <p:nvSpPr>
          <p:cNvPr name="AutoShape 4" id="4"/>
          <p:cNvSpPr/>
          <p:nvPr/>
        </p:nvSpPr>
        <p:spPr>
          <a:xfrm>
            <a:off x="0" y="609600"/>
            <a:ext cx="88900" cy="5638800"/>
          </a:xfrm>
          <a:prstGeom prst="rect">
            <a:avLst/>
          </a:prstGeom>
          <a:solidFill>
            <a:srgbClr val="8B9DAF"/>
          </a:solidFill>
          <a:ln>
            <a:solidFill>
              <a:srgbClr val="8B9DAF"/>
            </a:solidFill>
          </a:ln>
        </p:spPr>
      </p:sp>
      <p:sp>
        <p:nvSpPr>
          <p:cNvPr name="AutoShape 5" id="5"/>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2C3E50"/>
                </a:solidFill>
                <a:ea typeface="PingFang SC"/>
              </a:rPr>
              <a:t>下一步行动与承诺</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B9DAF"/>
                </a:solidFill>
                <a:ea typeface="PingFang SC"/>
              </a:rPr>
              <a:t>将共识转化为可执行的路线图，确保项目顺利启动</a:t>
            </a:r>
            <a:endParaRPr lang="en-US" sz="1100"/>
          </a:p>
        </p:txBody>
      </p:sp>
      <p:sp>
        <p:nvSpPr>
          <p:cNvPr name="TextBox 4" id="4"/>
          <p:cNvSpPr txBox="true"/>
          <p:nvPr/>
        </p:nvSpPr>
        <p:spPr>
          <a:xfrm>
            <a:off x="609600" y="20002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700">
                <a:solidFill>
                  <a:srgbClr val="2C3E50"/>
                </a:solidFill>
                <a:ea typeface="PingFang SC"/>
              </a:rPr>
              <a:t>我们将在一周内提交详细项目计划书，明确里程碑、交付物和资源需求</a:t>
            </a:r>
          </a:p>
          <a:p>
            <a:pPr algn="l">
              <a:spcBef>
                <a:spcPct val="6000"/>
              </a:spcBef>
              <a:buFont typeface="Arial"/>
              <a:buChar char="•"/>
            </a:pPr>
            <a:r>
              <a:rPr lang="en-US" sz="1700">
                <a:solidFill>
                  <a:srgbClr val="2C3E50"/>
                </a:solidFill>
                <a:ea typeface="PingFang SC"/>
              </a:rPr>
              <a:t>核心团队即刻投入预研，两周内完成技术可行性验证</a:t>
            </a:r>
          </a:p>
          <a:p>
            <a:pPr algn="l">
              <a:spcBef>
                <a:spcPct val="6000"/>
              </a:spcBef>
              <a:buFont typeface="Arial"/>
              <a:buChar char="•"/>
            </a:pPr>
            <a:r>
              <a:rPr lang="en-US" sz="1700">
                <a:solidFill>
                  <a:srgbClr val="2C3E50"/>
                </a:solidFill>
                <a:ea typeface="PingFang SC"/>
              </a:rPr>
              <a:t>项目锁定“双11前上线”目标，确保大促期间零超时</a:t>
            </a:r>
          </a:p>
          <a:p>
            <a:pPr algn="l">
              <a:spcBef>
                <a:spcPct val="6000"/>
              </a:spcBef>
              <a:buFont typeface="Arial"/>
              <a:buChar char="•"/>
            </a:pPr>
            <a:r>
              <a:rPr lang="en-US" sz="1700">
                <a:solidFill>
                  <a:srgbClr val="2C3E50"/>
                </a:solidFill>
                <a:ea typeface="PingFang SC"/>
              </a:rPr>
              <a:t>每月向您和高管团队汇报进展，并展示营收保障指标的改善</a:t>
            </a:r>
          </a:p>
          <a:p>
            <a:pPr algn="l">
              <a:spcBef>
                <a:spcPct val="6000"/>
              </a:spcBef>
              <a:buFont typeface="Arial"/>
              <a:buChar char="•"/>
            </a:pPr>
            <a:r>
              <a:rPr lang="en-US" sz="1700">
                <a:solidFill>
                  <a:srgbClr val="2C3E50"/>
                </a:solidFill>
                <a:ea typeface="PingFang SC"/>
              </a:rPr>
              <a:t>建立透明风险预警机制，任何问题提前通报而非事后解释</a:t>
            </a:r>
          </a:p>
          <a:p>
            <a:pPr algn="l">
              <a:spcBef>
                <a:spcPct val="6000"/>
              </a:spcBef>
              <a:buFont typeface="Arial"/>
              <a:buChar char="•"/>
            </a:pPr>
            <a:r>
              <a:rPr lang="en-US" sz="1700">
                <a:solidFill>
                  <a:srgbClr val="2C3E50"/>
                </a:solidFill>
                <a:ea typeface="PingFang SC"/>
              </a:rPr>
              <a:t>第一阶段原型验证后，即可量化评估延迟减少对营收的实际影响</a:t>
            </a:r>
          </a:p>
        </p:txBody>
      </p:sp>
      <p:sp>
        <p:nvSpPr>
          <p:cNvPr name="AutoShape 5" id="5"/>
          <p:cNvSpPr/>
          <p:nvPr/>
        </p:nvSpPr>
        <p:spPr>
          <a:xfrm>
            <a:off x="0" y="609600"/>
            <a:ext cx="88900" cy="5638800"/>
          </a:xfrm>
          <a:prstGeom prst="rect">
            <a:avLst/>
          </a:prstGeom>
          <a:solidFill>
            <a:srgbClr val="8B9DAF"/>
          </a:solidFill>
          <a:ln>
            <a:solidFill>
              <a:srgbClr val="8B9DAF"/>
            </a:solidFill>
          </a:ln>
        </p:spPr>
      </p:sp>
      <p:sp>
        <p:nvSpPr>
          <p:cNvPr name="AutoShape 6" id="6"/>
          <p:cNvSpPr/>
          <p:nvPr/>
        </p:nvSpPr>
        <p:spPr>
          <a:xfrm>
            <a:off x="609600" y="1371600"/>
            <a:ext cx="10972800" cy="25400"/>
          </a:xfrm>
          <a:prstGeom prst="rect">
            <a:avLst/>
          </a:prstGeom>
          <a:solidFill>
            <a:srgbClr val="4A5D6B"/>
          </a:solidFill>
          <a:ln>
            <a:solidFill>
              <a:srgbClr val="4A5D6B"/>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