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4"/>
    <p:sldId id="260" r:id="rId16"/>
    <p:sldId id="261" r:id="rId18"/>
    <p:sldId id="262" r:id="rId20"/>
    <p:sldId id="263" r:id="rId22"/>
    <p:sldId id="264" r:id="rId24"/>
    <p:sldId id="265" r:id="rId26"/>
    <p:sldId id="266" r:id="rId28"/>
    <p:sldId id="267" r:id="rId30"/>
    <p:sldId id="268" r:id="rId32"/>
    <p:sldId id="269" r:id="rId34"/>
    <p:sldId id="270" r:id="rId36"/>
    <p:sldId id="271" r:id="rId38"/>
    <p:sldId id="272" r:id="rId40"/>
    <p:sldId id="273" r:id="rId42"/>
    <p:sldId id="274" r:id="rId44"/>
    <p:sldId id="275" r:id="rId46"/>
    <p:sldId id="276" r:id="rId48"/>
    <p:sldId id="277" r:id="rId50"/>
    <p:sldId id="278" r:id="rId52"/>
    <p:sldId id="279" r:id="rId54"/>
    <p:sldId id="280" r:id="rId56"/>
    <p:sldId id="281" r:id="rId58"/>
    <p:sldId id="282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notesSlides/notesSlide3.xml" Type="http://schemas.openxmlformats.org/officeDocument/2006/relationships/notesSlide"/><Relationship Id="rId14" Target="slides/slide4.xml" Type="http://schemas.openxmlformats.org/officeDocument/2006/relationships/slide"/><Relationship Id="rId15" Target="notesSlides/notesSlide4.xml" Type="http://schemas.openxmlformats.org/officeDocument/2006/relationships/notesSlide"/><Relationship Id="rId16" Target="slides/slide5.xml" Type="http://schemas.openxmlformats.org/officeDocument/2006/relationships/slide"/><Relationship Id="rId17" Target="notesSlides/notesSlide5.xml" Type="http://schemas.openxmlformats.org/officeDocument/2006/relationships/notesSlide"/><Relationship Id="rId18" Target="slides/slide6.xml" Type="http://schemas.openxmlformats.org/officeDocument/2006/relationships/slide"/><Relationship Id="rId19" Target="notesSlides/notesSlide6.xml" Type="http://schemas.openxmlformats.org/officeDocument/2006/relationships/notesSlide"/><Relationship Id="rId2" Target="presProps.xml" Type="http://schemas.openxmlformats.org/officeDocument/2006/relationships/presProps"/><Relationship Id="rId20" Target="slides/slide7.xml" Type="http://schemas.openxmlformats.org/officeDocument/2006/relationships/slide"/><Relationship Id="rId21" Target="notesSlides/notesSlide7.xml" Type="http://schemas.openxmlformats.org/officeDocument/2006/relationships/notesSlide"/><Relationship Id="rId22" Target="slides/slide8.xml" Type="http://schemas.openxmlformats.org/officeDocument/2006/relationships/slide"/><Relationship Id="rId23" Target="notesSlides/notesSlide8.xml" Type="http://schemas.openxmlformats.org/officeDocument/2006/relationships/notesSlide"/><Relationship Id="rId24" Target="slides/slide9.xml" Type="http://schemas.openxmlformats.org/officeDocument/2006/relationships/slide"/><Relationship Id="rId25" Target="notesSlides/notesSlide9.xml" Type="http://schemas.openxmlformats.org/officeDocument/2006/relationships/notesSlide"/><Relationship Id="rId26" Target="slides/slide10.xml" Type="http://schemas.openxmlformats.org/officeDocument/2006/relationships/slide"/><Relationship Id="rId27" Target="notesSlides/notesSlide10.xml" Type="http://schemas.openxmlformats.org/officeDocument/2006/relationships/notesSlide"/><Relationship Id="rId28" Target="slides/slide11.xml" Type="http://schemas.openxmlformats.org/officeDocument/2006/relationships/slide"/><Relationship Id="rId29" Target="notesSlides/notesSlide11.xml" Type="http://schemas.openxmlformats.org/officeDocument/2006/relationships/notesSlide"/><Relationship Id="rId3" Target="viewProps.xml" Type="http://schemas.openxmlformats.org/officeDocument/2006/relationships/viewProps"/><Relationship Id="rId30" Target="slides/slide12.xml" Type="http://schemas.openxmlformats.org/officeDocument/2006/relationships/slide"/><Relationship Id="rId31" Target="notesSlides/notesSlide12.xml" Type="http://schemas.openxmlformats.org/officeDocument/2006/relationships/notesSlide"/><Relationship Id="rId32" Target="slides/slide13.xml" Type="http://schemas.openxmlformats.org/officeDocument/2006/relationships/slide"/><Relationship Id="rId33" Target="notesSlides/notesSlide13.xml" Type="http://schemas.openxmlformats.org/officeDocument/2006/relationships/notesSlide"/><Relationship Id="rId34" Target="slides/slide14.xml" Type="http://schemas.openxmlformats.org/officeDocument/2006/relationships/slide"/><Relationship Id="rId35" Target="notesSlides/notesSlide14.xml" Type="http://schemas.openxmlformats.org/officeDocument/2006/relationships/notesSlide"/><Relationship Id="rId36" Target="slides/slide15.xml" Type="http://schemas.openxmlformats.org/officeDocument/2006/relationships/slide"/><Relationship Id="rId37" Target="notesSlides/notesSlide15.xml" Type="http://schemas.openxmlformats.org/officeDocument/2006/relationships/notesSlide"/><Relationship Id="rId38" Target="slides/slide16.xml" Type="http://schemas.openxmlformats.org/officeDocument/2006/relationships/slide"/><Relationship Id="rId39" Target="notesSlides/notesSlide16.xml" Type="http://schemas.openxmlformats.org/officeDocument/2006/relationships/notesSlide"/><Relationship Id="rId4" Target="theme/theme1.xml" Type="http://schemas.openxmlformats.org/officeDocument/2006/relationships/theme"/><Relationship Id="rId40" Target="slides/slide17.xml" Type="http://schemas.openxmlformats.org/officeDocument/2006/relationships/slide"/><Relationship Id="rId41" Target="notesSlides/notesSlide17.xml" Type="http://schemas.openxmlformats.org/officeDocument/2006/relationships/notesSlide"/><Relationship Id="rId42" Target="slides/slide18.xml" Type="http://schemas.openxmlformats.org/officeDocument/2006/relationships/slide"/><Relationship Id="rId43" Target="notesSlides/notesSlide18.xml" Type="http://schemas.openxmlformats.org/officeDocument/2006/relationships/notesSlide"/><Relationship Id="rId44" Target="slides/slide19.xml" Type="http://schemas.openxmlformats.org/officeDocument/2006/relationships/slide"/><Relationship Id="rId45" Target="notesSlides/notesSlide19.xml" Type="http://schemas.openxmlformats.org/officeDocument/2006/relationships/notesSlide"/><Relationship Id="rId46" Target="slides/slide20.xml" Type="http://schemas.openxmlformats.org/officeDocument/2006/relationships/slide"/><Relationship Id="rId47" Target="notesSlides/notesSlide20.xml" Type="http://schemas.openxmlformats.org/officeDocument/2006/relationships/notesSlide"/><Relationship Id="rId48" Target="slides/slide21.xml" Type="http://schemas.openxmlformats.org/officeDocument/2006/relationships/slide"/><Relationship Id="rId49" Target="notesSlides/notesSlide21.xml" Type="http://schemas.openxmlformats.org/officeDocument/2006/relationships/notesSlide"/><Relationship Id="rId5" Target="tableStyles.xml" Type="http://schemas.openxmlformats.org/officeDocument/2006/relationships/tableStyles"/><Relationship Id="rId50" Target="slides/slide22.xml" Type="http://schemas.openxmlformats.org/officeDocument/2006/relationships/slide"/><Relationship Id="rId51" Target="notesSlides/notesSlide22.xml" Type="http://schemas.openxmlformats.org/officeDocument/2006/relationships/notesSlide"/><Relationship Id="rId52" Target="slides/slide23.xml" Type="http://schemas.openxmlformats.org/officeDocument/2006/relationships/slide"/><Relationship Id="rId53" Target="notesSlides/notesSlide23.xml" Type="http://schemas.openxmlformats.org/officeDocument/2006/relationships/notesSlide"/><Relationship Id="rId54" Target="slides/slide24.xml" Type="http://schemas.openxmlformats.org/officeDocument/2006/relationships/slide"/><Relationship Id="rId55" Target="notesSlides/notesSlide24.xml" Type="http://schemas.openxmlformats.org/officeDocument/2006/relationships/notesSlide"/><Relationship Id="rId56" Target="slides/slide25.xml" Type="http://schemas.openxmlformats.org/officeDocument/2006/relationships/slide"/><Relationship Id="rId57" Target="notesSlides/notesSlide25.xml" Type="http://schemas.openxmlformats.org/officeDocument/2006/relationships/notesSlide"/><Relationship Id="rId58" Target="slides/slide26.xml" Type="http://schemas.openxmlformats.org/officeDocument/2006/relationships/slide"/><Relationship Id="rId59" Target="notesSlides/notesSlide26.xml" Type="http://schemas.openxmlformats.org/officeDocument/2006/relationships/notesSlide"/><Relationship Id="rId6" Target="slides/slide1.xml" Type="http://schemas.openxmlformats.org/officeDocument/2006/relationships/slide"/><Relationship Id="rId60" Target="slides/slide27.xml" Type="http://schemas.openxmlformats.org/officeDocument/2006/relationships/slide"/><Relationship Id="rId61" Target="notesSlides/notesSlide27.xml" Type="http://schemas.openxmlformats.org/officeDocument/2006/relationships/notes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欢迎来到咖啡世界！接下来，我们将一起绘制你的风味地图，让挑豆变得轻松有趣。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接下来，我会带你们依次认识这张风味地图上的四个地标。从烘焙度这个最直接的入口开始，我们一起去感受不同烘焙程度带来的变化。不用担心记不住——每讲完一个维度，我都会给你一个生活里的类比，帮你牢牢记住。最后我们会把这些碎片拼成一个清晰的决策框架，你就能像按菜谱点菜一样，自信地挑出属于自己的咖啡豆。准备好了吗？我们先从第一个维度出发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欢迎进入咖啡世界的核心地带！四大基石就像四把钥匙，每一把都能打开一种风味的大门。接下来我们会逐一熟悉它们，但首先，不妨想象一下：不同的烘焙度、产地、处理法和风味描述组合起来，就像调色盘上四种颜色的无限混合。你完全不用背任何参数，只要跟着感觉走——很快你就会发现，原来看懂咖啡豆标签和从容挑选，是件这么自然的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大家看到这四个变量，就像做菜时的油盐酱醋，不同的搭配带来完全不同的味道。比如你喜欢干净清爽的酸，那就可以选浅烘焙、水洗处理的非洲豆。如果你偏爱醇厚回甘，那深烘焙、日晒处理的豆子可能更对你胃口。别担心记不住，接下来我们会一个一个拆开讲。先说说最容易感知的变量——烘焙度，它直接决定了这杯咖啡是酸还是苦。准备好迎接第一个维度了吗？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现在我们进入第一个实操维度：烘焙度。你可以把它想象成咖啡豆的‘性格设定’。浅烘像一杯清爽的果茶，酸得明亮；深烘则像一杯醇厚的浓汤，苦得温暖。选咖啡的第一步，就是先问自己：我今天想喝哪种性格？接下来我们会看看烘焙度具体怎么影响一杯咖啡的味道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想象一下，生咖啡豆就像一颗绿色的石子，嚼起来只有草腥味。但当我们把它放进烘焙机，加热过程中会发生两件大事：梅纳反应和焦糖化。梅纳反应带来咖啡的醇厚和复杂香气，焦糖化则贡献甜味。你可以把烘焙想象成煎牛排——三分熟偏酸嫩，全熟偏苦香。重量和体积的变化也很直观：生豆硬邦邦的，烘焙后变得酥脆，更容易把味道“泡”出来。下一张我们会带你实际品尝浅烘、中烘、深烘的区别，看看你属于哪一派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大家可以看一下我手边的三杯咖啡，从左到右分别是浅烘、中烘、深烘。先闻一闻香气——浅烘是不是有股清新的花果味？中烘则是熟悉的坚果香，深烘散发着黑巧克力的浓郁。现在回想一下你平时喜欢的饮料：如果偏爱果汁茶饮，浅烘可能是你的菜；如果喜欢拿铁或牛奶巧克力，中烘和深烘会更对你胃口。别担心选错，下一张我就教你一个小技巧，用味蕾快速定位适合自己的烘焙度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现在请大家回想刚才尝过的三种烘焙度，哪个让你嘴角上扬？如果喜欢明亮的酸，浅烘是你的菜；如果爱醇厚，深烘更合适。这个自问的过程就像给味蕾做一次“面试”。下一节课，我们跳出烘焙罐，看看咖啡豆的故乡——产地如何影响风味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9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刚才我们按烘焙度锁定了自己的偏好范围，现在打开第二扇大门——产地。咖啡豆就像葡萄酒，不同产区带来截然不同的风味记忆。下一张我们先从世界咖啡带的整体地图开始，看看三大洲各自的风味基调。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0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咖啡的风味地图，其实就藏在这三个产区里。比如说，如果你喜欢喝花茶、果茶，非洲的豆子很有可能让你眼前一亮——我见过很多朋友第一次喝到埃塞俄比亚的耶加雪菲，那种柠檬和蜂蜜的香气让他们特别惊喜。如果你平时喝奶茶或拿铁，中南美洲的坚果调性和牛奶融合起来非常美妙。而亚洲的豆子，比如印尼的曼特宁，浓郁的草药感配一点点糖就像喝黑巧克力一样过瘾。在下张幻灯片里，我们直接拿三个产区的代表豆做个小对比，让你闻着味道感受区别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现在我们来实际对比三个最具代表性的产地。你可以想象面前摆着三杯咖啡：埃塞俄比亚那杯飘着茉莉花香，喝起来像在喝一杯柠檬蜂蜜水；哥伦比亚这杯则像一杯加了坚果的焦糖拿铁，温和又顺口；苏门答腊那杯颜色最深，喝下去是黑巧克力和草本香料的感觉，醇厚得像糖浆。这三杯其实就是烘焙度从浅到深的典型。你比较喜欢哪一种？记住，没有对错，只有自己喜欢。接下来，我们把这些产地知识变成一个简单的挑选法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产地就像咖啡的'出生地'，给了它最原始的风味基因。比如埃塞俄比亚的豆子常带花香果酸，哥伦比亚则像一杯温柔的热带果汁。印尼的豆子厚重带香料感，适合喜欢浓烈口感的你。这个法则不是死规矩——你可以先根据自己的喜好选一个产区，等熟悉了再探索其他。想象你站在货架前，看到'埃塞俄比亚'立刻想到清亮的水果风味，这就是产地给你的提示。下一站，我们还会发现另一个变数：处理法，它能让同一颗豆子的味道截然不同。现在就试试用这个法则，去挑一款你感兴趣的原产地咖啡吧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烘焙度和产地帮我们缩小了范围，但还有一个隐藏变量常被忽略——处理法。它决定了咖啡果实如何变成我们熟悉的生豆，同样一颗果实，用不同加工方式，风味可能天差地别。下一张我们一起看看从果实到生豆的神奇旅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大家可以想象一下：同样的水果，你把它晒成干、榨成汁或者做成蜜饯，味道是不是完全不同？咖啡处理法也是这个道理。比如一颗来自埃塞俄比亚的咖啡果实，用日晒法做出来常常有浓郁的草莓和蓝莓味；但换成水洗法，可能变成长长的茉莉花和柠檬茶风味。这就是处理法赋予的第二次创造。我手上有一个小道具——（举起三个小罐子）这是日晒、水洗和蜜处理的生豆样本，你们可以轮流闻一闻，感受干燥后的香气差异。下一张我们会通过品尝来验证这三种处理法的口感区别，做好准备哦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接下来我们来做一个有趣的辨识练习。我手边有三杯咖啡，都是用同一支埃塞俄比亚古吉豆子做的。第一杯是日晒处理，你能闻到明显的草莓和红酒香气；第二杯是水洗，入口像柠檬水一样清澈明亮；第三杯是蜜处理，甜感跑在酸前面，口感很顺滑。大家可以先闻一闻，再小口尝一下，看看能不能把它们配对。这个练习能帮你把处理法和风味直接连起来，以后买咖啡看标签就更有把握了。下一张我们就会把这套辨识方法变成你选豆子时的一个实用步骤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闭上眼睛想一想：你更喜欢水果炸弹般的浓郁，还是纯净茶般的清爽？比如日晒处理的埃塞俄比亚咖啡，常带有草莓和蓝莓的香气，像在喝一杯水果酒；而水洗的肯尼亚则有明亮的酸度，类似柠檬红茶；蜜处理则是在甜感上最平衡，适合想入门又怕太酸或太苦的朋友。记住你此刻的偏好，因为接下来我们要进入最后一个维度——风味描述，帮你读懂咖啡包装上的那些奇怪词语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现在，我们进入最后一个维度——风味描述。你可能觉得咖啡袋上的形容词有些玄乎，但其实它们背后有一套语言体系。这套体系能帮你把味蕾的感觉变成具体的词汇。接下来，我们就来破解这个密码，看看风味标签是怎么来的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8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比如你看到「柑橘」和「蜂蜜」的标签，其实杯测师在喝的时候确实捕捉到了类似橙子酸质和蜂蜜甜感，这不是玄学。想象一下，一颗咖啡豆里藏着超过800种芳香化合物，烘焙就像打开一个香料盒。下次你站在货架前，别再被「蓝莓」「威士忌」这样的词吓到——它们只是在帮你把抽象的味道翻译成日常语言。下一张幻灯片，我们就来当一次翻译官，把这些常见风味词和你的味蕾连起来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9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现在大家看到风味词就不再是天书了吧？比如你看到“柑橘、茉莉花”，就知道这是浅烘埃塞俄比亚的风格——明亮轻盈。如果你更偏爱醇厚感，看到“黑巧克力、杏仁”就能锁定深烘的夏威夷科纳。这个翻译器就像你的味蕾导航，帮你预判咖啡的味道。下一张幻灯片，我们拿一包真实豆子的名片来实战拆解，把今天学的四个维度都用上，准备好了吗？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0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现在我们来看一包真实的咖啡豆。大家看这张照片，标签上写的‘埃塞俄比亚·耶加雪菲·水洗·浅烘’，每一个词都对应着我们刚学的四个维度。比如‘水洗’就意味着这杯咖啡会很干净，不会有泥土味。而风味描述里的茉莉、柠檬、蜂蜜，不是玄学——你泡开之后真的能闻到类似的花香，喝到柠檬般的酸，但很柔和。这也是为什么我们推荐新手从浅烘水洗的耶加雪菲开始尝试，它就像咖啡世界的一张‘姓名牌’，帮你第一次建立风味坐标。下节课，我们就把这四个维度转成你自己的挑豆罗盘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刚才我们读懂了一张豆子名片，现在把四个维度串起来，组成一个只属于你的挑豆罗盘。想象你站在货架前，不用再被各种术语搞晕——跟着罗盘的四步走，先定烘焙度，再看产地风味，然后选处理法，最后用风味描述验证你的直觉。每一步都像朋友帮你缩小范围，直到锁定最想喝的那一包。接下来，我们就按照这个罗盘，一步步演示怎么选到让你微笑的咖啡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比如你现在想喝一杯清爽果酸的咖啡，按这个框架第一步你会选浅烘焙，第二步偏好非洲产地，第三步日晒处理能让果酸更柔和，第四步看到花香或莓果描述基本就锁定了。这个框架帮你把模糊喜好变成清晰的选择。接下来我们实际演练一下，假设你今天就要买一包豆子，咱们一起走一遍流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刚才我们学了四步框架，现在一起走一遍。假设你站在货架前，先想：我讨厌苦味对吧？那就跳过深烘，直接看浅烘或中烘。第二步，如果你喜欢花果香气，非洲产区特别是埃塞俄比亚就会跳出来。第三步，想要干净清爽，水洗处理法最保险。到第四步，你几乎已经锁定了一款豆子：浅烘、埃塞、水洗、风味写柑橘花香。你可以现在拿手机搜一下，看看结果是不是很一致？下一张卡片会帮你快速找到自己的风味倾向，以后买豆子更有方向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现在请你想象自己站在咖啡货架前，拿出这张快问卡。每个问题对应一个风味维度，你的答案会帮你快速缩小选择范围。比如第一个问题，如果你选了柠檬水，你会知道自己更偏好高酸度、明亮风味的浅烘豆；选了热巧克力，则深烘豆的醇厚苦甜可能更合你口味。第二个问题帮你锁定产地的风味方向——水果调走非洲，坚果调走中南美洲。当你完成这五个问题，你的个人风味倾向就已经很清晰了。接下来，我们就用这个倾向去正式走一遍决策框架，真正下单买一包属于你的豆子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现在你已经有了风味倾向快问卡，那怎么开始实践呢？我的建议是：先挑一支你最感兴趣的产区单品豆，买个最小包装。回家后，用你学到的描述词去感受它——你可能会发现它和快问卡预判很像，也可能完全不同，这都没关系。为了帮你记住每次发现，建议大家像记美食日记一样简单写两行。这样不出两三周，你就拥有了一份属于自己的咖啡风味库。下节课，我们会把这些经验整合成一个实用的「自主选豆四维罗盘」，让你以后看到咖啡豆包装就能快速判断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现在你已经掌握了四个维度。比如，如果你喜欢果酸与清爽口感，可以先选浅烘焙的非洲豆，比如埃塞俄比亚日晒处理法，风味描述里常见的柑橘或花香就是你的信号。下次走进咖啡馆或网购时，大胆用这个罗盘做决定。别怕选错，每一包豆子都是一次味蕾旅行。下一包咖啡豆，就由你来决定。我们马上进入行动环节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好了，现在轮到你了。掏出手机，打开你常用的咖啡购买页面，选三家你一直想试试的店。用我们刚刚练过的四步法，一个一个看过去——别偷看评分，相信你自己的判断。下单前记得问自己那个问题：这包豆子会让我微笑吗？如果你已经笑了，那就加入购物车吧。收到豆子以后，打开包装闻一闻，冲一杯，记下你的第一印象——这就是你风味地图的起点。最后，别忘了把这次选豆的乐趣分享出去，约上朋友一起品鉴，咖啡的魅力就在于它连接的是人和人。祝你在咖啡的世界里，永远找到让自己微笑的那一杯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5280" b="true">
                <a:solidFill>
                  <a:srgbClr val="3D2C2A"/>
                </a:solidFill>
                <a:ea typeface="PingFang SC"/>
              </a:rPr>
              <a:t>挑豆不踩雷：找到专属于你的那杯咖啡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090" b="false">
                <a:solidFill>
                  <a:srgbClr val="8BA888"/>
                </a:solidFill>
                <a:ea typeface="PingFang SC"/>
              </a:rPr>
              <a:t>一套简单决策框架，带你找到命中注定的咖啡豆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A67B5B"/>
          </a:solidFill>
          <a:ln>
            <a:solidFill>
              <a:srgbClr val="A67B5B"/>
            </a:solidFill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3600" b="true">
                <a:solidFill>
                  <a:srgbClr val="3D2C2A"/>
                </a:solidFill>
                <a:ea typeface="PingFang SC"/>
              </a:rPr>
              <a:t>今天的旅程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709" b="false">
                <a:solidFill>
                  <a:srgbClr val="8BA888"/>
                </a:solidFill>
                <a:ea typeface="PingFang SC"/>
              </a:rPr>
              <a:t>四个维度 + 一个框架，帮你量身定制风味地图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1907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900">
                <a:solidFill>
                  <a:srgbClr val="3D2C2A"/>
                </a:solidFill>
                <a:ea typeface="PingFang SC"/>
              </a:rPr>
              <a:t>烘焙度——从清脆果酸到醇厚焦糖，探索你的口感偏好区间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2C2A"/>
                </a:solidFill>
                <a:ea typeface="PingFang SC"/>
              </a:rPr>
              <a:t>产地——味觉的世界巡礼，不同土地带来的惊喜风味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2C2A"/>
                </a:solidFill>
                <a:ea typeface="PingFang SC"/>
              </a:rPr>
              <a:t>处理法——日晒、水洗、蜜处理……自然如何塑造咖啡的灵魂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2C2A"/>
                </a:solidFill>
                <a:ea typeface="PingFang SC"/>
              </a:rPr>
              <a:t>风味描述——解码标签上的香气密码，把它变成你的点单语言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2C2A"/>
                </a:solidFill>
                <a:ea typeface="PingFang SC"/>
              </a:rPr>
              <a:t>专属决策罗盘——四个维度按序筛选，三步锁定的那一杯</a:t>
            </a:r>
          </a:p>
        </p:txBody>
      </p:sp>
      <p:sp>
        <p:nvSpPr>
          <p:cNvPr name="AutoShape 5" id="5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A67B5B"/>
          </a:solidFill>
          <a:ln>
            <a:solidFill>
              <a:srgbClr val="A67B5B"/>
            </a:solidFill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000" b="true">
                <a:solidFill>
                  <a:srgbClr val="A67B5B"/>
                </a:solidFill>
                <a:ea typeface="PingFang SC"/>
              </a:rPr>
              <a:t>咖啡风味四大基石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8BA888"/>
                </a:solidFill>
                <a:ea typeface="PingFang SC"/>
              </a:rPr>
              <a:t>所有好喝的选择都从这里开始——认识这四位主角，你就能找到自己的那一杯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A"/>
                </a:solidFill>
                <a:ea typeface="PingFang SC"/>
              </a:rPr>
              <a:t>四个变量，无限风味组合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8BA888"/>
                </a:solidFill>
                <a:ea typeface="PingFang SC"/>
              </a:rPr>
              <a:t>掌握这四个变量，你就拿到了咖啡世界的通关密码。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8BA888"/>
                </a:solidFill>
                <a:ea typeface="PingFang SC"/>
              </a:rPr>
              <a:t>四个变量就像画笔，不同组合能画出截然不同的风味风景。你不必一次全部搞懂，从你最在意的味道开始探索即可。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烘焙度 — 控制咖啡的苦与酸，浅烘焙活泼明亮，深烘焙醇厚扎实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产地 — 咖啡的“出身地”决定了风味底色，非洲果香，中南美均衡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处理法 — 从果到豆的工艺，日晒增甜，水洗更纯净，蜜处理带发酵感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风味描述 — 标签上的“花香”“坚果”不是玄学，是帮你快速联想口感的地图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000" b="true">
                <a:solidFill>
                  <a:srgbClr val="A67B5B"/>
                </a:solidFill>
                <a:ea typeface="PingFang SC"/>
              </a:rPr>
              <a:t>维度一：烘焙度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8BA888"/>
                </a:solidFill>
                <a:ea typeface="PingFang SC"/>
              </a:rPr>
              <a:t>咖啡豆的性格，从烘焙颜色就能读懂——浅、中、深，各有各的脾气。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A"/>
                </a:solidFill>
                <a:ea typeface="PingFang SC"/>
              </a:rPr>
              <a:t>烘焙：风味与口感的塑造者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8BA888"/>
                </a:solidFill>
                <a:ea typeface="PingFang SC"/>
              </a:rPr>
              <a:t>烘焙如同烹饪，火候决定了咖啡豆的最终性格。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8BA888"/>
                </a:solidFill>
                <a:ea typeface="PingFang SC"/>
              </a:rPr>
              <a:t>简单来说，烘焙度决定了你杯中咖啡的酸度、甜感和苦味的主基调。了解烘焙的基本逻辑，你就能根据自己的口味偏好快速缩小选择范围。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咖啡生豆几乎没有味道，真正的风味在烘焙中通过梅纳反应和焦糖化诞生。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烘焙时间与温度共同调控酸、甜、苦的平衡——浅烘保留花果酸香，深烘凸显焦糖苦甜。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烘焙过程会让豆子失重约15-20%，同时体积膨胀近一倍，形成疏松多孔的结构，更易释放风味。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同一种豆子，用不同烘焙度处理，尝起来宛若两种咖啡——这就是烘焙的魔法所在。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A"/>
                </a:solidFill>
                <a:ea typeface="PingFang SC"/>
              </a:rPr>
              <a:t>浅烘 vs 中烘 vs 深烘，你属于哪一派？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3D2C2A"/>
                </a:solidFill>
                <a:ea typeface="PingFang SC"/>
              </a:rPr>
              <a:t>浅烘：花香果香明显，酸质明亮活泼，像一杯清爽的花果茶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2C2A"/>
                </a:solidFill>
                <a:ea typeface="PingFang SC"/>
              </a:rPr>
              <a:t>浅烘：适合喜欢清爽口感、对酸味好奇的你，是探索风味的起点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2C2A"/>
                </a:solidFill>
                <a:ea typeface="PingFang SC"/>
              </a:rPr>
              <a:t>中烘：酸甜平衡，坚果与焦糖香气突出，是最受欢迎的大众情人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4008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3D2C2A"/>
                </a:solidFill>
                <a:ea typeface="PingFang SC"/>
              </a:rPr>
              <a:t>中烘：既保留淡雅果酸，又有醇厚口感，入门无需担心太刺激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2C2A"/>
                </a:solidFill>
                <a:ea typeface="PingFang SC"/>
              </a:rPr>
              <a:t>深烘：苦甜交织，醇厚如黑巧克力，带烟熏或焦糖尾韵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2C2A"/>
                </a:solidFill>
                <a:ea typeface="PingFang SC"/>
              </a:rPr>
              <a:t>深烘：适合喜欢浓烈、厚重口感的人，做拿铁也超搭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A"/>
                </a:solidFill>
                <a:ea typeface="PingFang SC"/>
              </a:rPr>
              <a:t>用你的味蕾选择烘焙度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8BA888"/>
                </a:solidFill>
                <a:ea typeface="PingFang SC"/>
              </a:rPr>
              <a:t>简单问自己三个问题，缩小你的候选范围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先问问自己：你更喜欢明亮果酸还是醇厚苦甜？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喜欢水果酸或茶感 → 浅烘豆，保留更多花香果香。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想要均衡顺口，不偏不倚 → 中烘豆，万能百搭。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偏爱醇厚苦甜，黑巧克力般浓郁 → 深烘豆，回甘悠长。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拿不准？从中烘开始，它最安全也最包容。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000" b="true">
                <a:solidFill>
                  <a:srgbClr val="A67B5B"/>
                </a:solidFill>
                <a:ea typeface="PingFang SC"/>
              </a:rPr>
              <a:t>维度二：产地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8BA888"/>
                </a:solidFill>
                <a:ea typeface="PingFang SC"/>
              </a:rPr>
              <a:t>每一颗豆子都带着家乡的风土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A"/>
                </a:solidFill>
                <a:ea typeface="PingFang SC"/>
              </a:rPr>
              <a:t>咖啡带：风味的基础色调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8BA888"/>
                </a:solidFill>
                <a:ea typeface="PingFang SC"/>
              </a:rPr>
              <a:t>三大洲，三种风味基因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8BA888"/>
                </a:solidFill>
                <a:ea typeface="PingFang SC"/>
              </a:rPr>
              <a:t>把产地想象成咖啡豆的故乡——每个地方的风土、海拔、气候都写进了风味里。记住这三个基调，你就有了挑选的第一步。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非洲产区：花香、柑橘、莓果——明亮跳跃的酸质，像一杯水果茶般清爽，适合追求活泼口感的人。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中南美洲：坚果、巧克力、焦糖——均衡甜感，干净圆润，是多数人最容易爱上的安全牌。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亚洲产区：草本、香料、泥土——醇厚饱满，低酸高甜，适合偏爱浓郁、沉稳风味的朋友。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记住：产地是咖啡的“籍贯”，决定了风味的底色；后面烘焙度就像滤镜，会让它更亮或更柔。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A"/>
                </a:solidFill>
                <a:ea typeface="PingFang SC"/>
              </a:rPr>
              <a:t>风味对比：埃塞俄比亚 vs 哥伦比亚 vs 苏门答腊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埃塞俄比亚：茉莉花香与柠檬酸感交织，尾韵带着蜂蜜般的甘甜，是花果香爱好者的入门首选。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哥伦比亚：焦糖的甜感、坚果的醇厚，入口干净顺口，几乎人人都会爱上它的平衡感。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苏门答腊：草本香料与黑巧克力的沉稳风味，口感如糖浆般厚重，适合追求浓郁层次的朋友。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4008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从酸质来看：埃塞明亮活泼，哥伦比亚柔和圆润，苏门答腊几乎不酸，只留深度苦甜。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没有谁更好，只有谁更适合你——对照这三杯，你更想先拿起哪一杯？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A"/>
                </a:solidFill>
                <a:ea typeface="PingFang SC"/>
              </a:rPr>
              <a:t>产地选择的简单法则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8BA888"/>
                </a:solidFill>
                <a:ea typeface="PingFang SC"/>
              </a:rPr>
              <a:t>想要什么风味，就去哪里找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3D2C2A"/>
                </a:solidFill>
                <a:ea typeface="PingFang SC"/>
              </a:rPr>
              <a:t>产地是风味的地图，帮你快速锁定方向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2C2A"/>
                </a:solidFill>
                <a:ea typeface="PingFang SC"/>
              </a:rPr>
              <a:t>迷恋果酸花香？直奔非洲产区就对了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2C2A"/>
                </a:solidFill>
                <a:ea typeface="PingFang SC"/>
              </a:rPr>
              <a:t>喜欢均衡温润？中南美洲是安全牌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2C2A"/>
                </a:solidFill>
                <a:ea typeface="PingFang SC"/>
              </a:rPr>
              <a:t>偏爱醇厚饱满？亚洲岛屿豆不会失望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2C2A"/>
                </a:solidFill>
                <a:ea typeface="PingFang SC"/>
              </a:rPr>
              <a:t>试试混合产区，发现更多风味惊喜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2C2A"/>
                </a:solidFill>
                <a:ea typeface="PingFang SC"/>
              </a:rPr>
              <a:t>记住：看产地标签，就像看菜谱的食材来源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000" b="true">
                <a:solidFill>
                  <a:srgbClr val="A67B5B"/>
                </a:solidFill>
                <a:ea typeface="PingFang SC"/>
              </a:rPr>
              <a:t>维度三：处理法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8BA888"/>
                </a:solidFill>
                <a:ea typeface="PingFang SC"/>
              </a:rPr>
              <a:t>同一种果实，不同的处理，赋予咖啡截然不同的灵魂。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A"/>
                </a:solidFill>
                <a:ea typeface="PingFang SC"/>
              </a:rPr>
              <a:t>从果实到生豆的旅程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8BA888"/>
                </a:solidFill>
                <a:ea typeface="PingFang SC"/>
              </a:rPr>
              <a:t>处理法是风味的第二次创造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日晒法让整颗果实带着果肉一起干燥，像做葡萄干一样，咖啡吸收了果糖，甜度高、口感醇厚。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水洗法先去除果肉和果胶，再发酵去黏液，咖啡的风味干净明亮，突出豆子本身的花果香。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蜜处理保留部分果胶层干燥，果胶的糖分渗入豆中，带来粘稠的甜感和平衡的酸度。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同一批咖啡用不同处理法，味道会完全不一样——这正是处理法的魔法所在，帮你发现风味的更多可能。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无论哪种方法，最后都要经过干燥、去壳才能成为绿色生豆，而这一步的细节同样影响最终味道。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A"/>
                </a:solidFill>
                <a:ea typeface="PingFang SC"/>
              </a:rPr>
              <a:t>日晒、水洗、蜜处理，你喝得出来吗？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日晒处理法：奔放的果味和酒香，口感醇厚，像喝一杯成熟的热带水果汁。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水洗处理法：明亮的酸质和干净的风味，口感轻盈，能清晰感受到豆子的原始个性。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蜜处理法：甜感突出，介于日晒与水洗之间，口感丝滑，如蜂蜜般柔顺。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4008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辨识小技巧：先看处理法标签，再联想对应风味——日晒找果酒感，水洗找清爽酸，蜜处理找甜。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同款豆子不同处理法，风味差异能大到像两款不同的咖啡，推荐下次买豆时对比一试。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A"/>
                </a:solidFill>
                <a:ea typeface="PingFang SC"/>
              </a:rPr>
              <a:t>处理法匹配你的口味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8BA888"/>
                </a:solidFill>
                <a:ea typeface="PingFang SC"/>
              </a:rPr>
              <a:t>风味浓淡与口感质地的选择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8BA888"/>
                </a:solidFill>
                <a:ea typeface="PingFang SC"/>
              </a:rPr>
              <a:t>处理法就像咖啡的"烹饪方式"，决定了风味的浓淡和口感的干净度。找到你喜欢的口感方向，就知道哪种处理法最适合你。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☀️ 日晒——果味爆发、口感饱满，像咬一口熟透的芒果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💧 水洗——清澈干净、茶香细腻，像喝一杯清香的绿茶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🍯 蜜处理——甜感突出、丝般顺滑，像融化一颗太妃糖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记住这三种风格，你的味蕾会告诉你选哪个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000" b="true">
                <a:solidFill>
                  <a:srgbClr val="A67B5B"/>
                </a:solidFill>
                <a:ea typeface="PingFang SC"/>
              </a:rPr>
              <a:t>维度四：风味描述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310" b="false">
                <a:solidFill>
                  <a:srgbClr val="8BA888"/>
                </a:solidFill>
                <a:ea typeface="PingFang SC"/>
              </a:rPr>
              <a:t>那些水果、坚果和巧克力的描述，可不是随便印上去的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8BA888"/>
          </a:solidFill>
          <a:ln>
            <a:solidFill>
              <a:srgbClr val="8BA888"/>
            </a:solidFill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A"/>
                </a:solidFill>
                <a:ea typeface="PingFang SC"/>
              </a:rPr>
              <a:t>风味标签是怎么来的？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90" b="false">
                <a:solidFill>
                  <a:srgbClr val="8BA888"/>
                </a:solidFill>
                <a:ea typeface="PingFang SC"/>
              </a:rPr>
              <a:t>其实，那些让你心动的词汇，背后有一套透明的翻译规则。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100">
                <a:solidFill>
                  <a:srgbClr val="3D2C2A"/>
                </a:solidFill>
                <a:ea typeface="PingFang SC"/>
              </a:rPr>
              <a:t>风味标签来自专业杯测师系统性的感官评估，他们把喝到的味道写成具体词汇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A"/>
                </a:solidFill>
                <a:ea typeface="PingFang SC"/>
              </a:rPr>
              <a:t>这些词汇直接用你熟悉的水果、坚果、花香来类比，帮你快速联想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A"/>
                </a:solidFill>
                <a:ea typeface="PingFang SC"/>
              </a:rPr>
              <a:t>标签上的风味并非添加剂，而是咖啡豆天然携带的数百种芳香分子在烘焙后释放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A"/>
                </a:solidFill>
                <a:ea typeface="PingFang SC"/>
              </a:rPr>
              <a:t>风味轮就像一张「味道地图」，从你熟悉的味道出发，反向理解陌生术语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8BA888"/>
          </a:solidFill>
          <a:ln>
            <a:solidFill>
              <a:srgbClr val="8BA888"/>
            </a:solidFill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A"/>
                </a:solidFill>
                <a:ea typeface="PingFang SC"/>
              </a:rPr>
              <a:t>常见风味词翻译器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90" b="false">
                <a:solidFill>
                  <a:srgbClr val="8BA888"/>
                </a:solidFill>
                <a:ea typeface="PingFang SC"/>
              </a:rPr>
              <a:t>看到这些词，你就可以想象那杯咖啡的味道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100">
                <a:solidFill>
                  <a:srgbClr val="3D2C2A"/>
                </a:solidFill>
                <a:ea typeface="PingFang SC"/>
              </a:rPr>
              <a:t>柠檬、柑橘、莓果 → 明亮活泼的酸，像咬了一口新鲜水果，清爽又提神。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A"/>
                </a:solidFill>
                <a:ea typeface="PingFang SC"/>
              </a:rPr>
              <a:t>焦糖、巧克力、坚果 → 温暖柔和的甜与苦，仿佛吃一块醇厚而不腻的黑巧克力。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A"/>
                </a:solidFill>
                <a:ea typeface="PingFang SC"/>
              </a:rPr>
              <a:t>花香、茶感 → 轻盈雅致的口感，像是啜饮一杯茉莉花茶的余韵。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A"/>
                </a:solidFill>
                <a:ea typeface="PingFang SC"/>
              </a:rPr>
              <a:t>记住这些对应，下次看到风味词就默默在脑海里配上味道。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8BA888"/>
          </a:solidFill>
          <a:ln>
            <a:solidFill>
              <a:srgbClr val="8BA888"/>
            </a:solidFill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2C2A"/>
                </a:solidFill>
                <a:ea typeface="PingFang SC"/>
              </a:rPr>
              <a:t>实战拆解：读懂这包豆子的名片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90" b="false">
                <a:solidFill>
                  <a:srgbClr val="8BA888"/>
                </a:solidFill>
                <a:ea typeface="PingFang SC"/>
              </a:rPr>
              <a:t>以埃塞俄比亚·耶加雪菲·水洗·浅烘为例，看看四个维度如何写在一张标签上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80" b="false">
                <a:solidFill>
                  <a:srgbClr val="8BA888"/>
                </a:solidFill>
                <a:ea typeface="PingFang SC"/>
              </a:rPr>
              <a:t>这包豆子是“花香系”代表的完美实例，能帮你建立第一个清晰的风味坐标。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8892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100">
                <a:solidFill>
                  <a:srgbClr val="3D2C2A"/>
                </a:solidFill>
                <a:ea typeface="PingFang SC"/>
              </a:rPr>
              <a:t>看产地：埃塞俄比亚——阿拉比卡的故乡，风味底色自带花香与果酸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A"/>
                </a:solidFill>
                <a:ea typeface="PingFang SC"/>
              </a:rPr>
              <a:t>看处理法：水洗——让豆子口感干净透亮，酸质更活泼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A"/>
                </a:solidFill>
                <a:ea typeface="PingFang SC"/>
              </a:rPr>
              <a:t>看烘焙度：浅烘——锁住产区的原始花香，避免焦苦掩盖细腻风味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A"/>
                </a:solidFill>
                <a:ea typeface="PingFang SC"/>
              </a:rPr>
              <a:t>看风味描述：茉莉、柠檬、蜂蜜——把抽象味道翻译成你熟悉的记忆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2C2A"/>
                </a:solidFill>
                <a:ea typeface="PingFang SC"/>
              </a:rPr>
              <a:t>预期喝到的感觉：一入口是上扬的花香，酸像柠檬糖般明亮又柔和，尾韵带出蜜糖的甜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8BA888"/>
          </a:solidFill>
          <a:ln>
            <a:solidFill>
              <a:srgbClr val="8BA888"/>
            </a:solidFill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200" b="true">
                <a:solidFill>
                  <a:srgbClr val="A67B5B"/>
                </a:solidFill>
                <a:ea typeface="PingFang SC"/>
              </a:rPr>
              <a:t>你的个人挑豆决策罗盘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8BA888"/>
                </a:solidFill>
                <a:ea typeface="PingFang SC"/>
              </a:rPr>
              <a:t>四步，轻松做出清醒的选择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8BA888"/>
          </a:solidFill>
          <a:ln>
            <a:solidFill>
              <a:srgbClr val="8BA888"/>
            </a:solidFill>
          </a:ln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3D2C2A"/>
                </a:solidFill>
                <a:ea typeface="PingFang SC"/>
              </a:rPr>
              <a:t>挑豆四步决策法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8BA888"/>
                </a:solidFill>
                <a:ea typeface="PingFang SC"/>
              </a:rPr>
              <a:t>按顺序过一遍，答案自然出现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8BA888"/>
                </a:solidFill>
                <a:ea typeface="PingFang SC"/>
              </a:rPr>
              <a:t>这套四步法就像一个漏斗，从口感偏好出发，依次缩小范围，最后用风味描述确认是否来电。别被专业名词吓到，跟着感觉走就好。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第1步：定口感——选烘焙度，喜欢果酸选浅烘，喜欢可可味选深烘，中间选平衡的中烘。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第2步：定风味——选产地，非洲豆花香果酸，美洲豆坚果可可，亚洲豆醇厚香料。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第3步：定质感——处理法微调，日晒更醇厚甜，水洗更清爽酸，蜜处理在两者间。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第4步：验描述——扫一眼风味标签，看到让心动的水果或巧克力描述就对了。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8BA888"/>
          </a:solidFill>
          <a:ln>
            <a:solidFill>
              <a:srgbClr val="8BA888"/>
            </a:solidFill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3D2C2A"/>
                </a:solidFill>
                <a:ea typeface="PingFang SC"/>
              </a:rPr>
              <a:t>假设你今天就要买一包豆子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8BA888"/>
                </a:solidFill>
                <a:ea typeface="PingFang SC"/>
              </a:rPr>
              <a:t>来，我们用真实场景走一遍，把框架变成行动。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latin typeface="PingFang SC"/>
              </a:rPr>
              <a:t>1. 怕苦？浅烘或中烘是你的安全区。浅烘保留更多水果酸甜，中烘平衡顺滑，真正苦的来源往往是过度深烘。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latin typeface="PingFang SC"/>
              </a:rPr>
              <a:t>2. 迷恋花果香？锁定非洲，尤其埃塞俄比亚。那里就像咖啡的香水实验室，柑橘、花香、莓果等着你。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latin typeface="PingFang SC"/>
              </a:rPr>
              <a:t>3. 想要干净清爽的口感？水洗处理法是首选。它像用清水洗过的新鲜水果，酸甜清澈，没有杂味。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latin typeface="PingFang SC"/>
              </a:rPr>
              <a:t>4. 最终锁定：浅烘埃塞水洗豆，标签写着柑橘花香。这就是很多新手的入坑入门款，清亮柔和，带一点惊喜的果酸。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8BA888"/>
          </a:solidFill>
          <a:ln>
            <a:solidFill>
              <a:srgbClr val="8BA888"/>
            </a:solidFill>
          </a:ln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3D2C2A"/>
                </a:solidFill>
                <a:ea typeface="PingFang SC"/>
              </a:rPr>
              <a:t>你的个人风味倾向快问卡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8BA888"/>
                </a:solidFill>
                <a:latin typeface="PingFang SC"/>
              </a:rPr>
              <a:t>5个小问题，立刻锁定偏好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8BA888"/>
                </a:solidFill>
                <a:ea typeface="PingFang SC"/>
              </a:rPr>
              <a:t>截图保存这张小卡片，下次买豆时拿出来问自己一遍，答案自然浮现。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79400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柠檬水还是热巧克力？——酸度高低，决定你爱清爽还是醇厚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水果糖还是坚果？——水果风味还是坚果调性，帮你锁定产地方向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清茶还是牛奶？——轻盈清澈 vs 饱满顺滑，口感偏好的分水岭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明亮刺激还是深沉悠长？——喜欢高酸高甜，还是苦甜余韵慢慢化开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最近最难忘的一杯饮料是什么味道？——用真实记忆匹配风味关键词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8BA888"/>
          </a:solidFill>
          <a:ln>
            <a:solidFill>
              <a:srgbClr val="8BA888"/>
            </a:solidFill>
          </a:ln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150" b="true">
                <a:solidFill>
                  <a:srgbClr val="3D2C2A"/>
                </a:solidFill>
                <a:ea typeface="PingFang SC"/>
              </a:rPr>
              <a:t>开始你的咖啡风味探险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8BA888"/>
                </a:solidFill>
                <a:ea typeface="PingFang SC"/>
              </a:rPr>
              <a:t>迈出第一步，把知识变成乐趣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先从单品豆入门，一次只体验一支豆子的完整性格——像认识新朋友，慢慢熟悉才记得住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买小包装尝鲜：25克到100克足够试两三次，不喜欢也不浪费，成本低、试错快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简单记录你的品尝感受（酸、甜、苦、香气），这就是你的专属风味地图，越记越清晰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别怕“猜错”——味道本来就很主观，让你微笑的豆子就是那杯正确答案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2C2A"/>
                </a:solidFill>
                <a:ea typeface="PingFang SC"/>
              </a:rPr>
              <a:t>多换几家烘焙商试试同一种豆子，你会发现同一个产地也能有不同惊喜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8BA888"/>
          </a:solidFill>
          <a:ln>
            <a:solidFill>
              <a:srgbClr val="8BA888"/>
            </a:solidFill>
          </a:ln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3600" b="true">
                <a:solidFill>
                  <a:srgbClr val="3D2C2A"/>
                </a:solidFill>
                <a:ea typeface="PingFang SC"/>
              </a:rPr>
              <a:t>你的新技能：自主选豆四维罗盘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709" b="false">
                <a:solidFill>
                  <a:srgbClr val="8BA888"/>
                </a:solidFill>
                <a:ea typeface="PingFang SC"/>
              </a:rPr>
              <a:t>带走这份简单有力的框架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1907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520" b="false">
                <a:solidFill>
                  <a:srgbClr val="8BA888"/>
                </a:solidFill>
                <a:ea typeface="PingFang SC"/>
              </a:rPr>
              <a:t>这个罗盘就是你口袋里的选豆指南——下次购物时拿出来对照即可。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30797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900">
                <a:solidFill>
                  <a:srgbClr val="3D2C2A"/>
                </a:solidFill>
                <a:ea typeface="PingFang SC"/>
              </a:rPr>
              <a:t>烘焙度定基调：从你喜欢的口感出发，选浅、中、深烘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2C2A"/>
                </a:solidFill>
                <a:ea typeface="PingFang SC"/>
              </a:rPr>
              <a:t>产地定方向：用风味地图锁定你偏爱的世界角落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2C2A"/>
                </a:solidFill>
                <a:ea typeface="PingFang SC"/>
              </a:rPr>
              <a:t>处理法定质感：日晒醇厚丰富，水洗干净清爽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2C2A"/>
                </a:solidFill>
                <a:ea typeface="PingFang SC"/>
              </a:rPr>
              <a:t>风味描述验证：标签上的关键词帮你确认心动的那杯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2C2A"/>
                </a:solidFill>
                <a:ea typeface="PingFang SC"/>
              </a:rPr>
              <a:t>四步合一，为你量身定制专属咖啡体验</a:t>
            </a:r>
          </a:p>
        </p:txBody>
      </p:sp>
      <p:sp>
        <p:nvSpPr>
          <p:cNvPr name="AutoShape 6" id="6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A67B5B"/>
          </a:solidFill>
          <a:ln>
            <a:solidFill>
              <a:srgbClr val="A67B5B"/>
            </a:solidFill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3600" b="true">
                <a:solidFill>
                  <a:srgbClr val="A67B5B"/>
                </a:solidFill>
                <a:ea typeface="PingFang SC"/>
              </a:rPr>
              <a:t>下一包咖啡豆，你决定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709" b="false">
                <a:solidFill>
                  <a:srgbClr val="8BA888"/>
                </a:solidFill>
                <a:ea typeface="PingFang SC"/>
              </a:rPr>
              <a:t>现在就打开购物车，用你的新眼光挑一包豆子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1907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900">
                <a:solidFill>
                  <a:srgbClr val="3D2C2A"/>
                </a:solidFill>
                <a:ea typeface="PingFang SC"/>
              </a:rPr>
              <a:t>打开购物APP，找三家喜欢的咖啡店，用四维罗盘浏览他们的豆单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2C2A"/>
                </a:solidFill>
                <a:ea typeface="PingFang SC"/>
              </a:rPr>
              <a:t>放下评分和销量，只靠烘焙度、产地、处理法、风味描述做决定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2C2A"/>
                </a:solidFill>
                <a:ea typeface="PingFang SC"/>
              </a:rPr>
              <a:t>下单前问自己：这包豆子会让我微笑吗？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2C2A"/>
                </a:solidFill>
                <a:ea typeface="PingFang SC"/>
              </a:rPr>
              <a:t>收货后记录第一印象，对照你的期待，这就是你的专属风味地图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2C2A"/>
                </a:solidFill>
                <a:ea typeface="PingFang SC"/>
              </a:rPr>
              <a:t>把选豆过程分享给朋友，约他一起品鉴，咖啡值得被共享</a:t>
            </a:r>
          </a:p>
        </p:txBody>
      </p:sp>
      <p:sp>
        <p:nvSpPr>
          <p:cNvPr name="AutoShape 5" id="5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A67B5B"/>
          </a:solidFill>
          <a:ln>
            <a:solidFill>
              <a:srgbClr val="A67B5B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