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  <p:sldId id="272" r:id="rId40"/>
    <p:sldId id="273" r:id="rId42"/>
    <p:sldId id="274" r:id="rId44"/>
    <p:sldId id="275" r:id="rId46"/>
    <p:sldId id="276" r:id="rId48"/>
    <p:sldId id="277" r:id="rId50"/>
    <p:sldId id="278" r:id="rId52"/>
    <p:sldId id="279" r:id="rId54"/>
    <p:sldId id="280" r:id="rId56"/>
    <p:sldId id="281" r:id="rId58"/>
    <p:sldId id="28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slides/slide17.xml" Type="http://schemas.openxmlformats.org/officeDocument/2006/relationships/slide"/><Relationship Id="rId41" Target="notesSlides/notesSlide17.xml" Type="http://schemas.openxmlformats.org/officeDocument/2006/relationships/notesSlide"/><Relationship Id="rId42" Target="slides/slide18.xml" Type="http://schemas.openxmlformats.org/officeDocument/2006/relationships/slide"/><Relationship Id="rId43" Target="notesSlides/notesSlide18.xml" Type="http://schemas.openxmlformats.org/officeDocument/2006/relationships/notesSlide"/><Relationship Id="rId44" Target="slides/slide19.xml" Type="http://schemas.openxmlformats.org/officeDocument/2006/relationships/slide"/><Relationship Id="rId45" Target="notesSlides/notesSlide19.xml" Type="http://schemas.openxmlformats.org/officeDocument/2006/relationships/notesSlide"/><Relationship Id="rId46" Target="slides/slide20.xml" Type="http://schemas.openxmlformats.org/officeDocument/2006/relationships/slide"/><Relationship Id="rId47" Target="notesSlides/notesSlide20.xml" Type="http://schemas.openxmlformats.org/officeDocument/2006/relationships/notesSlide"/><Relationship Id="rId48" Target="slides/slide21.xml" Type="http://schemas.openxmlformats.org/officeDocument/2006/relationships/slide"/><Relationship Id="rId49" Target="notesSlides/notesSlide21.xml" Type="http://schemas.openxmlformats.org/officeDocument/2006/relationships/notesSlide"/><Relationship Id="rId5" Target="tableStyles.xml" Type="http://schemas.openxmlformats.org/officeDocument/2006/relationships/tableStyles"/><Relationship Id="rId50" Target="slides/slide22.xml" Type="http://schemas.openxmlformats.org/officeDocument/2006/relationships/slide"/><Relationship Id="rId51" Target="notesSlides/notesSlide22.xml" Type="http://schemas.openxmlformats.org/officeDocument/2006/relationships/notesSlide"/><Relationship Id="rId52" Target="slides/slide23.xml" Type="http://schemas.openxmlformats.org/officeDocument/2006/relationships/slide"/><Relationship Id="rId53" Target="notesSlides/notesSlide23.xml" Type="http://schemas.openxmlformats.org/officeDocument/2006/relationships/notesSlide"/><Relationship Id="rId54" Target="slides/slide24.xml" Type="http://schemas.openxmlformats.org/officeDocument/2006/relationships/slide"/><Relationship Id="rId55" Target="notesSlides/notesSlide24.xml" Type="http://schemas.openxmlformats.org/officeDocument/2006/relationships/notesSlide"/><Relationship Id="rId56" Target="slides/slide25.xml" Type="http://schemas.openxmlformats.org/officeDocument/2006/relationships/slide"/><Relationship Id="rId57" Target="notesSlides/notesSlide25.xml" Type="http://schemas.openxmlformats.org/officeDocument/2006/relationships/notesSlide"/><Relationship Id="rId58" Target="slides/slide26.xml" Type="http://schemas.openxmlformats.org/officeDocument/2006/relationships/slide"/><Relationship Id="rId59" Target="notesSlides/notesSlide26.xml" Type="http://schemas.openxmlformats.org/officeDocument/2006/relationships/notesSlide"/><Relationship Id="rId6" Target="slides/slide1.xml" Type="http://schemas.openxmlformats.org/officeDocument/2006/relationships/slide"/><Relationship Id="rId60" Target="slides/slide27.xml" Type="http://schemas.openxmlformats.org/officeDocument/2006/relationships/slide"/><Relationship Id="rId61" Target="notesSlides/notesSlide27.xml" Type="http://schemas.openxmlformats.org/officeDocument/2006/relationships/notes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欢迎来到30分钟Python入门。完全零基础没关系，跟着我一步一步来，30分钟后你就能写出自己的Python程序。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就是我们30分钟的学习地图。你看，我们不是从难的概念开始，而是先学会最简单的变量，再一步步加条件、循环，到列表字典，最后用函数组织起来，做一个小项目。每一步我都会带着你们写代码，保证你能跟上，而且过程中有很多动手机会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ython的语法有多简单呢？你看这行代码：print('Hello')，直接就能输出。根本不需要复杂的符号。再看它的应用，从数据分析到网页后端，甚至人工智能都在用它。最棒的是，你遇到问题时，网上有海量的中文教程和案例。所以，零基础完全不用担心。接下来，我们就一起动手，看看编程到底有多简单——你马上就会发现，Python的哲学就是让代码容易读、容易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这句Python之禅告诉我们，好的编程语言应该简洁明了。Python正是这样一门语言。比如print('你好，世界！')这一句就能输出文字，不需要复杂的括号或分号。在接下来的基础概念部分，我们从变量开始一步步动手写代码。跟着写，马上就能学会。准备好了吗？我们进入下一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了，动手之前，我们先认识三个最最基础的概念。别看它们简单，所有代码都离不开它们。比如变量就像个有标签的盒子，数据类型决定了盒子里能放什么，打印则让你能跟电脑“对话”。准备好了吗？咱们一个一个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变量是编程最基本的概念，理解它你就能开始操控数据。想象你有很多小盒子，盒子上有名字标签，你把不同的东西放进去，以后想用的时候喊名字就行。比如我们写 name = '小明'，电脑就把'小明'存进了叫 name 的盒子。变量名是有规矩的，得用字母开头，而且大小写敏感，就像现实中小明和小明写法的不同。我们来试一下在 Python 里定义几个变量，下一张幻灯片我们就动手把变量打印出来看看。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好，现在大家打开自己的Python环境，无论是IDLE还是命令行。跟着我输入第一行：name = '李雷'，注意是英文的单引号或双引号都可以，但必须成对。然后输入print(name)并回车，你会看到屏幕显示出'李雷'。这说明变量name存了那个名字，print把它打印出来了。你可以换个名字试试，比如name = '小明'，再打印一次，输出就会变化。这个'李雷'其实是一种数据类型——字符串，我们马上就会详细讲解。接下来，我们一起看看数字和布尔值怎么用。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好的，现在我们知道三种基本数据类型了。大家可以在刚才的变量后面加上 type()，比如 type(age)，看看输出什么。布尔值 True 和 False 会在下一部分控制流中派上大用场——我们马上就能让程序根据条件做不同事情了。来，动手试试 type() 函数，观察结果，然后我们将进入更有趣的条件判断环节。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刚才我们学会了数字、文字和真假这些数据类型。现在，我们要让程序学会做决定和重复执行——这是编程中最有趣的部分。准备好了吗？跟着我，一行一行写，马上就能看到效果。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生活里我们每天都在做决定：如果下雨就带伞，否则不带。if 语句做的正是这件事。当条件为真，就运行 if 下面的代码；条件为假，就运行 else 下面的代码。注意，Python 里缩进非常重要，它决定了哪些代码属于 if 或 else。比如我们写 age = 20，然后 if age &gt;= 18: 就执行 print('成年')。现在我们来写一个判断年龄的程序，看看怎么实际使用 if 语句。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好，我们来亲手写一段能判断年龄的代码。先让用户输入年龄，拿到的是字符串，所以用 int() 转成数字。把这个数字存在 age 里。然后写 if age &gt;= 18:，注意后面一定要有冒号，回车后会自动缩进，这是 Python 的规则。缩进的部分写 print('成年')。如果年龄小于18，就走 else 分支，同样冒号加缩进，打印'未成年'。你可以自己在电脑上试试，把 age 改成 17、18、19 看看输出。运行成功后，我们接下来学一个更厉害的东西——for 循环，让电脑重复做事情。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现在打开编辑器，输入 for i in range(5):，换行缩进写 print(i)。运行一下，你会看到 0 到 4 依次出现。循环把同样的 print 执行了5次，每次 i 的值都不同，这就是自动化的开始。循环执行完，我们常常需要把结果存起来，或者处理更多数据，那就需要新的工具了——下个环节的数据结构，比如列表和字典，就是来帮我们做这件事的。跟着我写完这段代码，你就学会了最常见的循环用法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我们已经掌握了for循环，现在让数据变得更有序。这一部分我们介绍两种最常用的数据结构：列表和字典。列表就像一列有编号的抽屉，可以按顺序存放数据；字典则像标签清晰的盒子，通过名字就能找到内容。它们能让你的代码更高效、更清晰。接下来，我们首先学习列表——让数据排好队，等着你调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同学们，列表就是把你零散的数据打包成一个有序的集合。比如三个朋友，不用单独建三个变量，一个 friends 列表就搞定了。注意，索引是从 0 开始数的，这有点像从第 0 个座位开始编号，一开始可能不习惯，但很快就能上手。添加新朋友就用 append，它会自动排到最后面。len 函数能告诉你列表的长度。如果你想修改某个人的名字，直接按索引赋值就行。练一练：创建一个你自己的列表，然后试着添加和替换元素。接下来我们要看字典，它也是集合，但不再靠位置编号，而是靠名字来找数据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现在我们来认识另一种数据容器——字典。它就像真实的词典一样，每个词（键）对应一个解释（值），而且不需要按顺序记住位置。比如我们创建一个表示人的字典，里面有名字和年龄。这里注意：用花括号，冒号左边是键，右边是值，中间用逗号隔开。要获取小明的年龄，只要写 person['age'] 就能立刻拿到，是不是很方便？另外你还可以随时添加新属性，比如城市。下一张我们就拿字典和刚才的列表做对比，看看它们各自适合什么场景。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大家想想日常生活中的例子：购物清单是不是像个列表？按顺序一项项记下来，不需要给每项取名。而你的通讯录呢？每个联系人都有姓名、电话、邮箱——这些有明确的名字标签，这就是字典。刚才我们学会了字典的用法，现在把它和列表放在一起对比，你就知道什么时候该用哪个了。接下来我们要做一个联系人管理的小项目，把列表和字典结合起来用，马上就能派上用场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来把刚学的列表和字典结合起来，写一个超实用的通讯录。跟着我一起动手：第一步，创建一个空列表叫contacts；第二步，添加三个联系人，每个联系人是一个字典，有姓名和电话；第三步，用for循环遍历这个列表，打印出每个人的信息；最后，我们可以把输出美化一下，比如用f' {name}: {phone} '。这个小程序会让你立刻感受到用代码管理数据的乐趣。练完之后，我们就进入第四部分——函数，学会把重复代码打包成复用的小工具。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8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刚我们动手管理了联系人，是不是已经感觉到了代码的威力？现在进入第四部分——函数。想象一下，如果你每次做菜都要从头切菜、调味、翻炒，是不是太累了？函数就像一份菜谱，写一次就能反复使用，让代码更简洁、更聪明。准备好把代码变成乐高积木了吗？我们开始！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19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想象一下，如果每次都要写一模一样的代码，那写一百次得多累。函数就是帮你偷懒的。比如我们想打印一条欢迎语，写成函数后，一行代码就能反复调用。而且想改欢迎语内容，只需改函数内部一处就行。下面我们就来动手写你的第一个函数，让电脑乖乖听你指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0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来，跟着我在编辑器里敲一遍。先打 def greet():，注意最后一定要有冒号。回车后编辑器会自动缩进，然后输入 print('你好！')。再按一次回车退出缩进，在最后一行单独写 greet()。保存运行，你会看到“你好！”出现在控制台。是不是超有成就感？现在这个函数只能跟所有人说一样的话，但如果我们想对不同的朋友说不同的名字呢？那就需要给函数传入一个参数——这就是我们马上要学的内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我们来深入了解一下函数的两个核心部分：参数和返回值。参数就像是给函数的输入，你可以传入不同的值，函数就会根据这些值做不同的计算。比如刚才的 greet 函数，如果加上一个 name 参数，就能对每个人说不同的‘你好’。而 return 则是函数的输出，它把处理结果‘扔’回给调用它的地方。注意，return 一执行，函数就结束了，后面的代码不会再跑。如果没有写 return，函数会默默返回一个 None。现在我们可以用参数和 return 做出更灵活的函数了。接下来我们就动手实战，用这些知识写一个简单计算器。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现在我们来动手写一个简单的计算器。先定义四个函数，每个函数做一件事：加法、减法、乘法、除法。注意，除法函数里要考虑除数不能为零，我们加一个 if 判断，如果除数为零就返回 '不能除以零'。然后，用 input() 让用户输入两个数字和运算符。接着用 if/elif 判断用户输入的是加号还是减号，调用对应的函数并打印结果。这个练习把函数、条件判断和输入输出都用上了，你会发现代码变得很清晰。完成之后，我们在下一张幻灯片做一个更综合的问候程序，把今天学的所有知识串起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好，接下来我们一起来写这个问候程序。它的需求很简单：你输入名字和年龄，电脑会根据年龄给你不同的回应。先想想怎么获取输入？对，用 input()，把结果存到变量里。然后用 if 判断成年还是未成年，输出不同的话。最后，把这段逻辑包进一个函数里，这样随时可以调用。大家可以先暂停一下，自己动手试试，或者跟着我一步步写。写完之后一定要运行看看效果！下一张幻灯片我会展示完整的代码，咱们再对照检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现在我们来看刚才手把手写的完整代码。第一行用 input 获取名字存入变量 name；然后用 if 判断，如果名字为空就使用默认名字。这里定义了 greet 函数，后面调用它。接着用 for 循环打印了五遍感谢。最后我们创建了一个列表和一个字典来存数据。每一步是不是都很清晰？你跟着写出来的代码已经包含了 Python 最常用的几个概念！接下来我们快速总结一下关键收获。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刚才我们一起运行了完整的代码，是不是很有成就感？现在我们来快速回顾一下，你在这30分钟里究竟学会了什么。首先，你学会了用变量存储数据，还知道了不同类型的数据。然后，你用if判断和for循环让程序有了逻辑和重复能力。接着，你掌握了列表和字典这两种强大的数据结构。你还学会了定义函数来复用代码。最重要的是，你把所有这些知识组合起来，写出了属于自己的第一个程序！这些就是编程最核心的基础。下一节，我们来看看接下来可以怎么继续学习，把编程变成自己的技能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6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在结束之前，我给大家安排几个小任务。第一，访问 python.org 的官方教程，它非常友好；或者上慕课网找个入门课，跟着敲一遍。第二，下节课我们会接触文件操作，你可以提前想想：如果程序关闭后还能保存你的名字，是不是很棒？第三，动手修改今天的问候程序，加一行 input()，让它能回应你的名字。试试看，你一定会觉得很有趣！最后，如果你有问题，别担心——接下来就是问答时间，我会一一解答。准备好了吗？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好了，刚才我们一步步写出了第一个Python程序，从变量、循环到函数、列表和字典。现在大家有没有什么疑问？任何概念不清楚的，都可以提出来。比如，变量命名有什么规则？循环能不能嵌套？大家随便问，我会尽力解答。如果暂时没有问题，我们可以进入下一步学习计划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280" b="true">
                <a:solidFill>
                  <a:srgbClr val="3D3A36"/>
                </a:solidFill>
                <a:latin typeface="PingFang SC"/>
              </a:rPr>
              <a:t>30分钟Python入门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090" b="false">
                <a:solidFill>
                  <a:srgbClr val="D9C5B2"/>
                </a:solidFill>
                <a:ea typeface="PingFang SC"/>
              </a:rPr>
              <a:t>零基础也能写出第一行可运行的代码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3A36"/>
                </a:solidFill>
                <a:ea typeface="PingFang SC"/>
              </a:rPr>
              <a:t>今日学习路线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变量和数据类型：给数据起名字，轻松存储和读取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条件判断与循环：让Python按你的逻辑自动做决定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列表和字典：两个超实用容器，管理一堆数据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函数：把重复代码打包，一次定义、反复调用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实战小项目：综合所有知识，写出第一个完整程序</a:t>
            </a:r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3A36"/>
                </a:solidFill>
                <a:ea typeface="PingFang SC"/>
              </a:rPr>
              <a:t>为什么学Python？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709" b="false">
                <a:solidFill>
                  <a:srgbClr val="D9C5B2"/>
                </a:solidFill>
                <a:latin typeface="PingFang SC"/>
              </a:rPr>
              <a:t>Python究竟有多友好？看看这几点你就知道了。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语法像英语一样自然，读代码就像读句子，不用猜符号意思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一行代码就能做很多事，比如打印问候语、计算简单数学题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用途超广：写网页、分析数据、做人工智能、自动处理文件，样样都行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全球开发者都在用，遇到问题一搜就能找到答案，社区超级活跃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900">
                <a:solidFill>
                  <a:srgbClr val="3D3A36"/>
                </a:solidFill>
                <a:ea typeface="PingFang SC"/>
              </a:rPr>
              <a:t>学会Python，你就能让电脑替你干活——比如批量改文件名、定时发邮件</a:t>
            </a:r>
          </a:p>
        </p:txBody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3600" b="true">
                <a:solidFill>
                  <a:srgbClr val="3D3A36"/>
                </a:solidFill>
                <a:ea typeface="PingFang SC"/>
              </a:rPr>
              <a:t>编程可以很简单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1907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900" b="false">
                <a:solidFill>
                  <a:srgbClr val="3D3A36"/>
                </a:solidFill>
                <a:latin typeface="PingFang SC"/>
              </a:rPr>
              <a:t>“简单优于复杂”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4956A"/>
                </a:solidFill>
                <a:ea typeface="PingFang SC"/>
              </a:rPr>
              <a:t>第一部分：基础概念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D9C5B2"/>
                </a:solidFill>
                <a:ea typeface="PingFang SC"/>
              </a:rPr>
              <a:t>变量、数据类型、打印 —— 编程的三大基础积木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变量：存储信息的盒子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2"/>
                </a:solidFill>
                <a:ea typeface="PingFang SC"/>
              </a:rPr>
              <a:t>给数据起个名字，计算机就能记住它。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变量就像一个贴了标签的盒子，里面可以放任何数据。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用等号赋值：name = '小明' → 把'小明'放进名叫 name 的盒子。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变量可以储存数字、文字、真假值等不同类型的数据。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变量名以字母或下划线开头，只能包含字母、数字、下划线。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变量名区分大小写：Age 和 age 是两个不同的变量。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变量可以随时改变值：age = 25 之后，还能写成 age = 26。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动手：打印变量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3D3A36"/>
                </a:solidFill>
                <a:ea typeface="Menlo"/>
              </a:rPr>
              <a:t>打开Python交互环境（IDLE或命令行）</a:t>
            </a:r>
            <a:endParaRPr lang="en-US" sz="1100"/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输入变量赋值：name = '李雷'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输入打印命令：print(name)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按回车运行，观察屏幕显示姓名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试试修改变量的值再打印，巩固理解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数据类型：数字、文字、真假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2"/>
                </a:solidFill>
                <a:ea typeface="PingFang SC"/>
              </a:rPr>
              <a:t>三种基础类型，零基础也能轻松掌握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字符串：文本内容，必须用引号括起来，例如“你好，世界”。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整数：不带小数点的数字，直接写，例如 42 或 -10。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布尔值：只有 True 和 False，表示真或假（注意大小写）。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使用 type() 函数查看变量的数据类型，帮助验证。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不同数据类型不能混用，需先转换类型再操作。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4956A"/>
                </a:solidFill>
                <a:ea typeface="PingFang SC"/>
              </a:rPr>
              <a:t>第二部分：控制流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D9C5B2"/>
                </a:solidFill>
                <a:ea typeface="PingFang SC"/>
              </a:rPr>
              <a:t>条件判断和循环：让程序开始思考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latin typeface="PingFang SC"/>
              </a:rPr>
              <a:t>if 语句：让程序做决定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如果……那么……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00">
                <a:solidFill>
                  <a:srgbClr val="3D3A36"/>
                </a:solidFill>
                <a:latin typeface="PingFang SC"/>
              </a:rPr>
              <a:t>if 语句让程序根据条件做选择：条件成立就执行一段代码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3A36"/>
                </a:solidFill>
                <a:ea typeface="PingFang SC"/>
              </a:rPr>
              <a:t>条件是一个判断，结果是 True 或 False，比如 年龄 &gt;= 18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3A36"/>
                </a:solidFill>
                <a:ea typeface="PingFang SC"/>
              </a:rPr>
              <a:t>写法：if 条件: 下一行缩进写要执行的代码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3A36"/>
                </a:solidFill>
                <a:latin typeface="PingFang SC"/>
              </a:rPr>
              <a:t>else 是可选的：条件不成立时，执行 else 后面的代码块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3A36"/>
                </a:solidFill>
                <a:ea typeface="PingFang SC"/>
              </a:rPr>
              <a:t>必须注意缩进：Python 用缩进表示属于哪个代码块，一个 Tab 或四个空格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1700">
                <a:solidFill>
                  <a:srgbClr val="3D3A36"/>
                </a:solidFill>
                <a:ea typeface="PingFang SC"/>
              </a:rPr>
              <a:t>动手试试：定义一个变量 temperature，if 判断是否大于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演示：判断年龄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3D3A36"/>
                </a:solidFill>
                <a:ea typeface="Menlo"/>
              </a:rPr>
              <a:t>跟着敲一遍这段代码，马上就能看到电脑根据你的输入做不同判断。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latin typeface="PingFang SC"/>
              </a:rPr>
              <a:t>for 循环：重复执行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让电脑帮你重复做同一件事，只需几行代码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latin typeface="PingFang SC"/>
              </a:rPr>
              <a:t>for 循环告诉电脑：『对每个元素，做一遍相同操作』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latin typeface="PingFang SC"/>
              </a:rPr>
              <a:t>range(5) 生成一个数字序列：0,1,2,3,4（从0开始，不包括5）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缩进内的代码是循环体，每轮都会依次执行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循环变量 i 在每轮自动更新为序列中的下一个值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运行结果：依次打印 0 1 2 3 4 —— 你写对了！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4956A"/>
                </a:solidFill>
                <a:ea typeface="PingFang SC"/>
              </a:rPr>
              <a:t>第三部分：数据结构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D9C5B2"/>
                </a:solidFill>
                <a:ea typeface="PingFang SC"/>
              </a:rPr>
              <a:t>用列表与字典轻松管理你的数据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列表：有序的集合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用方括号 [] 把一组数据整齐地排列起来，每个元素都有自己的位置。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创建列表：friends = ['小明', '小红', '小刚']，元素用逗号隔开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列表是有序的，索引从 0 开始，所以 friends[0] 得到 '小明'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添加新元素：friends.append('小丽') 自动放到末尾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查看长度：len(friends) 告诉你列表里有多少个元素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列表可以随时修改：friends[1] = '小华' 能替换指定位置的数据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字典：键值对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字典用花括号 {} 创建，通过键名快速查找对应的值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字典里每一对都是“键: 值”，比如 person = {'name': '小明', 'age': 18}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用方括号加键名就能拿到值：person['name'] 会返回 '小明'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添加新信息很简单：person['city'] = '北京' 就能多存一个城市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键通常是字符串，值可以是数字、字符串甚至列表——字典很适合存有标签的数据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列表 vs 字典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列表用数字编号（0，1，2…），字典用有意义的标签（'姓名'、'年龄'）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追加项目：列表 .append() 放到末尾，字典直接赋值新键即可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6400800" y="1905000"/>
            <a:ext cx="51816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查找时：列表要牢记位置，字典按标签瞬间找到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实战场景：购物清单用列表，个人信息用字典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动手：管理联系人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90500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3D3A36"/>
                </a:solidFill>
                <a:ea typeface="Menlo"/>
              </a:rPr>
              <a:t>创建一个空列表 contacts，用来装所有联系人</a:t>
            </a:r>
            <a:endParaRPr lang="en-US" sz="1100"/>
          </a:p>
          <a:p>
            <a:pPr algn="l"/>
            <a:r>
              <a:rPr lang="en-US" sz="1600" b="false">
                <a:solidFill>
                  <a:srgbClr val="3D3A36"/>
                </a:solidFill>
                <a:ea typeface="Menlo"/>
              </a:rPr>
              <a:t>添加三个字典，每个包含'姓名'和'电话'两个键</a:t>
            </a:r>
          </a:p>
          <a:p>
            <a:pPr algn="l"/>
            <a:r>
              <a:rPr lang="en-US" sz="1600" b="false">
                <a:solidFill>
                  <a:srgbClr val="3D3A36"/>
                </a:solidFill>
                <a:ea typeface="Menlo"/>
              </a:rPr>
              <a:t>用 for 循环遍历 contacts，把每个联系人的姓名和电话打印出来</a:t>
            </a:r>
          </a:p>
          <a:p>
            <a:pPr algn="l"/>
            <a:r>
              <a:rPr lang="en-US" sz="1600" b="false">
                <a:solidFill>
                  <a:srgbClr val="3D3A36"/>
                </a:solidFill>
                <a:ea typeface="Menlo"/>
              </a:rPr>
              <a:t>试试加个格式化输出：'张三：138-0000-0001'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4000" b="true">
                <a:solidFill>
                  <a:srgbClr val="C4956A"/>
                </a:solidFill>
                <a:ea typeface="PingFang SC"/>
              </a:rPr>
              <a:t>第四部分：函数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310" b="false">
                <a:solidFill>
                  <a:srgbClr val="D9C5B2"/>
                </a:solidFill>
                <a:ea typeface="PingFang SC"/>
              </a:rPr>
              <a:t>把重复的代码打包成小工具，哪里需要哪里用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函数是什么？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2"/>
                </a:solidFill>
                <a:ea typeface="PingFang SC"/>
              </a:rPr>
              <a:t>把重复的代码打包成一个小工具，用的时候叫一声！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用 def 给函数起个名字，后面跟上冒号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冒号下一行要缩进，里面写函数的操作步骤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调用函数只需写函数名加一对括号：函数名()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函数让代码不再重复，改一处全部生效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2100">
                <a:solidFill>
                  <a:srgbClr val="3D3A36"/>
                </a:solidFill>
                <a:ea typeface="PingFang SC"/>
              </a:rPr>
              <a:t>程序像积木一样清晰，看名字就知道它干嘛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定义你的第一个函数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3D3A36"/>
                </a:solidFill>
                <a:ea typeface="Menlo"/>
              </a:rPr>
              <a:t>用 `def` 告诉电脑“我要定义一个函数啦”</a:t>
            </a:r>
            <a:endParaRPr lang="en-US" sz="1100"/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给函数起个名字，比如 `greet`，后面跟上括号和冒号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下一行缩进，写函数要做的事——比如打印一句问候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函数写完后，只需输入 `greet()` 就能调用它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运行代码，屏幕上立刻弹出“你好！”，函数执行成功！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参数和返回值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90" b="false">
                <a:solidFill>
                  <a:srgbClr val="D9C5B2"/>
                </a:solidFill>
                <a:ea typeface="PingFang SC"/>
              </a:rPr>
              <a:t>让函数接受输入，并返回结果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参数是函数接收的“原材料”，让函数能处理不同的数据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在括号里写参数名，多个参数用逗号隔开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latin typeface="PingFang SC"/>
              </a:rPr>
              <a:t>return 把结果“送出来”，调用者就能拿到值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函数遇到 return 就停止，后面的代码不会运行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没有 return 的函数默认返回 None，相当于空手而归</a:t>
            </a:r>
          </a:p>
          <a:p>
            <a:pPr algn="l">
              <a:spcBef>
                <a:spcPct val="10000"/>
              </a:spcBef>
              <a:buFont typeface="Arial"/>
              <a:buChar char="•"/>
            </a:pPr>
            <a:r>
              <a:rPr lang="en-US" sz="1785">
                <a:solidFill>
                  <a:srgbClr val="3D3A36"/>
                </a:solidFill>
                <a:ea typeface="PingFang SC"/>
              </a:rPr>
              <a:t>参数 + 返回值 = 一台可重复使用的“加工机器”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000" b="true">
                <a:solidFill>
                  <a:srgbClr val="3D3A36"/>
                </a:solidFill>
                <a:ea typeface="PingFang SC"/>
              </a:rPr>
              <a:t>函数实战：简单计算器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80" b="false">
                <a:solidFill>
                  <a:srgbClr val="3D3A36"/>
                </a:solidFill>
                <a:ea typeface="Menlo"/>
              </a:rPr>
              <a:t>定义四个函数：add、subtract、multiply、divide，每个接收两个参数并返回结果</a:t>
            </a:r>
            <a:endParaRPr lang="en-US" sz="1100"/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提示用户输入两个数字和运算符（+、-、*、/）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用 if/elif 判断运算符，调用对应的函数，把结果打印出来</a:t>
            </a:r>
          </a:p>
          <a:p>
            <a:pPr algn="l"/>
            <a:r>
              <a:rPr lang="en-US" sz="1680" b="false">
                <a:solidFill>
                  <a:srgbClr val="3D3A36"/>
                </a:solidFill>
                <a:ea typeface="Menlo"/>
              </a:rPr>
              <a:t>注意除零错误：在 divide 函数里加一个判断，返回提示信息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3D3A36"/>
                </a:solidFill>
                <a:ea typeface="PingFang SC"/>
              </a:rPr>
              <a:t>综合练习：问候程序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现在就用变量、判断和函数，一起来写一个能跟你打招呼的程序！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2"/>
                </a:solidFill>
                <a:ea typeface="PingFang SC"/>
              </a:rPr>
              <a:t>这个练习虽小，却融入了输入、变量、条件判断和函数四大学过的基础知识。动手试试，你就能真切感受到编程是怎么让电脑“听话”的。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程序目标：输入你的名字和年龄，电脑根据年龄回复不同的问候。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用 input() 获取名字和年龄，分别存到变量 name 和 age 里。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用 if 判断 age &gt;= 18，成年时输出“你好，XX！欢迎光临！”，否则说“小朋友，你好呀！”。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把整个问候逻辑放进一个函数 greet()，以后只要调用它就能问候。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运行程序，输入你的信息，看看电脑是不是猜对了你的年龄区间？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3D3A36"/>
                </a:solidFill>
                <a:ea typeface="PingFang SC"/>
              </a:rPr>
              <a:t>完整代码展示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3D3A36"/>
                </a:solidFill>
                <a:ea typeface="Menlo"/>
              </a:rPr>
              <a:t>对照屏幕上的代码，看看每一行用到了哪个知识点，试着在心里读一遍。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3D3A36"/>
                </a:solidFill>
                <a:ea typeface="PingFang SC"/>
              </a:rPr>
              <a:t>关键收获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回顾刚刚掌握的Python基础，你已不再是零基础！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600" b="false">
                <a:solidFill>
                  <a:srgbClr val="D9C5B2"/>
                </a:solidFill>
                <a:ea typeface="PingFang SC"/>
              </a:rPr>
              <a:t>这些核心概念是编程的基石，你已经亲手用它们写出了可运行的程序。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609600" y="2889250"/>
            <a:ext cx="10972800" cy="342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变量是数据的贴标签盒子，可以存数字、文字和真假值。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latin typeface="PingFang SC"/>
              </a:rPr>
              <a:t>if判断让程序做选择，for循环让代码重复执行，逻辑更清晰。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列表是有序的收纳盒，字典是带标签的抽屉，轻松组织数据。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函数是一段可复用的代码块，用def定义，让程序更简洁。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把前面学到的组合起来，你写出了人生第一个完整程序！</a:t>
            </a:r>
          </a:p>
        </p:txBody>
      </p:sp>
      <p:sp>
        <p:nvSpPr>
          <p:cNvPr name="AutoShape 6" id="6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  <p:sp>
        <p:nvSpPr>
          <p:cNvPr name="AutoShape 7" id="7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609600"/>
            <a:ext cx="109728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3450" b="true">
                <a:solidFill>
                  <a:srgbClr val="C4956A"/>
                </a:solidFill>
                <a:ea typeface="PingFang SC"/>
              </a:rPr>
              <a:t>下一步行动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1397000"/>
            <a:ext cx="109728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r>
              <a:rPr lang="en-US" sz="1800" b="false">
                <a:solidFill>
                  <a:srgbClr val="D9C5B2"/>
                </a:solidFill>
                <a:ea typeface="PingFang SC"/>
              </a:rPr>
              <a:t>继续你的 Python 之旅——明天就能写出自己的小工具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609600" y="2000250"/>
            <a:ext cx="10972800" cy="431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zh-Hans-CN"/>
              <a:t/>
            </a:r>
            <a:endParaRPr lang="en-US" sz="1100"/>
          </a:p>
          <a:p>
            <a:pPr algn="l"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推荐资源：Python 官网的初学者教程 + 慕课网的实战课，零基础也能轻松跟学。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下节课预告：文件操作和项目实战——学会读写文件，让程序真正“干活”。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动手练习：修改今天的问候程序，加入 input()，让电脑问你的名字并打招呼。</a:t>
            </a:r>
          </a:p>
          <a:p>
            <a:pPr algn="l">
              <a:spcBef>
                <a:spcPct val="6000"/>
              </a:spcBef>
              <a:buFont typeface="Arial"/>
              <a:buChar char="•"/>
            </a:pPr>
            <a:r>
              <a:rPr lang="en-US" sz="2000">
                <a:solidFill>
                  <a:srgbClr val="3D3A36"/>
                </a:solidFill>
                <a:ea typeface="PingFang SC"/>
              </a:rPr>
              <a:t>进阶挑战：试着添加一个简单的菜单，选择不同问候语——大胆去试，代码不怕改。</a:t>
            </a:r>
          </a:p>
        </p:txBody>
      </p:sp>
      <p:sp>
        <p:nvSpPr>
          <p:cNvPr name="AutoShape 5" id="5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  <p:sp>
        <p:nvSpPr>
          <p:cNvPr name="AutoShape 6" id="6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09600" y="2540000"/>
            <a:ext cx="10972800" cy="1524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5059" b="true">
                <a:solidFill>
                  <a:srgbClr val="3D3A36"/>
                </a:solidFill>
                <a:ea typeface="PingFang SC"/>
              </a:rPr>
              <a:t>问答环节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09600" y="4191000"/>
            <a:ext cx="10972800" cy="1016000"/>
          </a:xfrm>
          <a:prstGeom prst="rect">
            <a:avLst/>
          </a:prstGeom>
        </p:spPr>
        <p:txBody>
          <a:bodyPr anchor="t" rtlCol="false"/>
          <a:lstStyle/>
          <a:p>
            <a:pPr algn="ctr">
              <a:defRPr/>
            </a:pPr>
            <a:r>
              <a:rPr lang="zh-Hans-CN"/>
              <a:t/>
            </a:r>
            <a:r>
              <a:rPr lang="en-US" sz="2200" b="false">
                <a:solidFill>
                  <a:srgbClr val="D9C5B2"/>
                </a:solidFill>
                <a:ea typeface="PingFang SC"/>
              </a:rPr>
              <a:t>任何问题都可以问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>
            <a:off x="0" y="609600"/>
            <a:ext cx="88900" cy="5638800"/>
          </a:xfrm>
          <a:prstGeom prst="rect">
            <a:avLst/>
          </a:prstGeom>
          <a:solidFill>
            <a:srgbClr val="D9C5B2"/>
          </a:solidFill>
          <a:ln>
            <a:solidFill>
              <a:srgbClr val="D9C5B2"/>
            </a:solidFill>
          </a:ln>
        </p:spPr>
      </p:sp>
      <p:sp>
        <p:nvSpPr>
          <p:cNvPr name="AutoShape 5" id="5"/>
          <p:cNvSpPr/>
          <p:nvPr/>
        </p:nvSpPr>
        <p:spPr>
          <a:xfrm>
            <a:off x="609600" y="1371600"/>
            <a:ext cx="10972800" cy="25400"/>
          </a:xfrm>
          <a:prstGeom prst="rect">
            <a:avLst/>
          </a:prstGeom>
          <a:solidFill>
            <a:srgbClr val="C4956A"/>
          </a:solidFill>
          <a:ln>
            <a:solidFill>
              <a:srgbClr val="C4956A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