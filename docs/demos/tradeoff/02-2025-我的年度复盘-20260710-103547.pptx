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2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6"/>
    <p:sldId id="257" r:id="rId10"/>
    <p:sldId id="258" r:id="rId12"/>
    <p:sldId id="259" r:id="rId14"/>
    <p:sldId id="260" r:id="rId16"/>
    <p:sldId id="261" r:id="rId18"/>
    <p:sldId id="262" r:id="rId20"/>
    <p:sldId id="263" r:id="rId22"/>
    <p:sldId id="264" r:id="rId24"/>
    <p:sldId id="265" r:id="rId26"/>
    <p:sldId id="266" r:id="rId28"/>
    <p:sldId id="267" r:id="rId30"/>
    <p:sldId id="268" r:id="rId32"/>
    <p:sldId id="269" r:id="rId34"/>
    <p:sldId id="270" r:id="rId36"/>
    <p:sldId id="271" r:id="rId38"/>
    <p:sldId id="272" r:id="rId40"/>
    <p:sldId id="273" r:id="rId42"/>
    <p:sldId id="274" r:id="rId44"/>
    <p:sldId id="275" r:id="rId46"/>
    <p:sldId id="276" r:id="rId48"/>
    <p:sldId id="277" r:id="rId50"/>
    <p:sldId id="278" r:id="rId52"/>
    <p:sldId id="279" r:id="rId54"/>
    <p:sldId id="280" r:id="rId56"/>
    <p:sldId id="281" r:id="rId58"/>
    <p:sldId id="282" r:id="rId6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2.xml" Type="http://schemas.openxmlformats.org/officeDocument/2006/relationships/slide"/><Relationship Id="rId11" Target="notesSlides/notesSlide2.xml" Type="http://schemas.openxmlformats.org/officeDocument/2006/relationships/notesSlide"/><Relationship Id="rId12" Target="slides/slide3.xml" Type="http://schemas.openxmlformats.org/officeDocument/2006/relationships/slide"/><Relationship Id="rId13" Target="notesSlides/notesSlide3.xml" Type="http://schemas.openxmlformats.org/officeDocument/2006/relationships/notesSlide"/><Relationship Id="rId14" Target="slides/slide4.xml" Type="http://schemas.openxmlformats.org/officeDocument/2006/relationships/slide"/><Relationship Id="rId15" Target="notesSlides/notesSlide4.xml" Type="http://schemas.openxmlformats.org/officeDocument/2006/relationships/notesSlide"/><Relationship Id="rId16" Target="slides/slide5.xml" Type="http://schemas.openxmlformats.org/officeDocument/2006/relationships/slide"/><Relationship Id="rId17" Target="notesSlides/notesSlide5.xml" Type="http://schemas.openxmlformats.org/officeDocument/2006/relationships/notesSlide"/><Relationship Id="rId18" Target="slides/slide6.xml" Type="http://schemas.openxmlformats.org/officeDocument/2006/relationships/slide"/><Relationship Id="rId19" Target="notesSlides/notesSlide6.xml" Type="http://schemas.openxmlformats.org/officeDocument/2006/relationships/notesSlide"/><Relationship Id="rId2" Target="presProps.xml" Type="http://schemas.openxmlformats.org/officeDocument/2006/relationships/presProps"/><Relationship Id="rId20" Target="slides/slide7.xml" Type="http://schemas.openxmlformats.org/officeDocument/2006/relationships/slide"/><Relationship Id="rId21" Target="notesSlides/notesSlide7.xml" Type="http://schemas.openxmlformats.org/officeDocument/2006/relationships/notesSlide"/><Relationship Id="rId22" Target="slides/slide8.xml" Type="http://schemas.openxmlformats.org/officeDocument/2006/relationships/slide"/><Relationship Id="rId23" Target="notesSlides/notesSlide8.xml" Type="http://schemas.openxmlformats.org/officeDocument/2006/relationships/notesSlide"/><Relationship Id="rId24" Target="slides/slide9.xml" Type="http://schemas.openxmlformats.org/officeDocument/2006/relationships/slide"/><Relationship Id="rId25" Target="notesSlides/notesSlide9.xml" Type="http://schemas.openxmlformats.org/officeDocument/2006/relationships/notesSlide"/><Relationship Id="rId26" Target="slides/slide10.xml" Type="http://schemas.openxmlformats.org/officeDocument/2006/relationships/slide"/><Relationship Id="rId27" Target="notesSlides/notesSlide10.xml" Type="http://schemas.openxmlformats.org/officeDocument/2006/relationships/notesSlide"/><Relationship Id="rId28" Target="slides/slide11.xml" Type="http://schemas.openxmlformats.org/officeDocument/2006/relationships/slide"/><Relationship Id="rId29" Target="notesSlides/notesSlide11.xml" Type="http://schemas.openxmlformats.org/officeDocument/2006/relationships/notesSlide"/><Relationship Id="rId3" Target="viewProps.xml" Type="http://schemas.openxmlformats.org/officeDocument/2006/relationships/viewProps"/><Relationship Id="rId30" Target="slides/slide12.xml" Type="http://schemas.openxmlformats.org/officeDocument/2006/relationships/slide"/><Relationship Id="rId31" Target="notesSlides/notesSlide12.xml" Type="http://schemas.openxmlformats.org/officeDocument/2006/relationships/notesSlide"/><Relationship Id="rId32" Target="slides/slide13.xml" Type="http://schemas.openxmlformats.org/officeDocument/2006/relationships/slide"/><Relationship Id="rId33" Target="notesSlides/notesSlide13.xml" Type="http://schemas.openxmlformats.org/officeDocument/2006/relationships/notesSlide"/><Relationship Id="rId34" Target="slides/slide14.xml" Type="http://schemas.openxmlformats.org/officeDocument/2006/relationships/slide"/><Relationship Id="rId35" Target="notesSlides/notesSlide14.xml" Type="http://schemas.openxmlformats.org/officeDocument/2006/relationships/notesSlide"/><Relationship Id="rId36" Target="slides/slide15.xml" Type="http://schemas.openxmlformats.org/officeDocument/2006/relationships/slide"/><Relationship Id="rId37" Target="notesSlides/notesSlide15.xml" Type="http://schemas.openxmlformats.org/officeDocument/2006/relationships/notesSlide"/><Relationship Id="rId38" Target="slides/slide16.xml" Type="http://schemas.openxmlformats.org/officeDocument/2006/relationships/slide"/><Relationship Id="rId39" Target="notesSlides/notesSlide16.xml" Type="http://schemas.openxmlformats.org/officeDocument/2006/relationships/notesSlide"/><Relationship Id="rId4" Target="theme/theme1.xml" Type="http://schemas.openxmlformats.org/officeDocument/2006/relationships/theme"/><Relationship Id="rId40" Target="slides/slide17.xml" Type="http://schemas.openxmlformats.org/officeDocument/2006/relationships/slide"/><Relationship Id="rId41" Target="notesSlides/notesSlide17.xml" Type="http://schemas.openxmlformats.org/officeDocument/2006/relationships/notesSlide"/><Relationship Id="rId42" Target="slides/slide18.xml" Type="http://schemas.openxmlformats.org/officeDocument/2006/relationships/slide"/><Relationship Id="rId43" Target="notesSlides/notesSlide18.xml" Type="http://schemas.openxmlformats.org/officeDocument/2006/relationships/notesSlide"/><Relationship Id="rId44" Target="slides/slide19.xml" Type="http://schemas.openxmlformats.org/officeDocument/2006/relationships/slide"/><Relationship Id="rId45" Target="notesSlides/notesSlide19.xml" Type="http://schemas.openxmlformats.org/officeDocument/2006/relationships/notesSlide"/><Relationship Id="rId46" Target="slides/slide20.xml" Type="http://schemas.openxmlformats.org/officeDocument/2006/relationships/slide"/><Relationship Id="rId47" Target="notesSlides/notesSlide20.xml" Type="http://schemas.openxmlformats.org/officeDocument/2006/relationships/notesSlide"/><Relationship Id="rId48" Target="slides/slide21.xml" Type="http://schemas.openxmlformats.org/officeDocument/2006/relationships/slide"/><Relationship Id="rId49" Target="notesSlides/notesSlide21.xml" Type="http://schemas.openxmlformats.org/officeDocument/2006/relationships/notesSlide"/><Relationship Id="rId5" Target="tableStyles.xml" Type="http://schemas.openxmlformats.org/officeDocument/2006/relationships/tableStyles"/><Relationship Id="rId50" Target="slides/slide22.xml" Type="http://schemas.openxmlformats.org/officeDocument/2006/relationships/slide"/><Relationship Id="rId51" Target="notesSlides/notesSlide22.xml" Type="http://schemas.openxmlformats.org/officeDocument/2006/relationships/notesSlide"/><Relationship Id="rId52" Target="slides/slide23.xml" Type="http://schemas.openxmlformats.org/officeDocument/2006/relationships/slide"/><Relationship Id="rId53" Target="notesSlides/notesSlide23.xml" Type="http://schemas.openxmlformats.org/officeDocument/2006/relationships/notesSlide"/><Relationship Id="rId54" Target="slides/slide24.xml" Type="http://schemas.openxmlformats.org/officeDocument/2006/relationships/slide"/><Relationship Id="rId55" Target="notesSlides/notesSlide24.xml" Type="http://schemas.openxmlformats.org/officeDocument/2006/relationships/notesSlide"/><Relationship Id="rId56" Target="slides/slide25.xml" Type="http://schemas.openxmlformats.org/officeDocument/2006/relationships/slide"/><Relationship Id="rId57" Target="notesSlides/notesSlide25.xml" Type="http://schemas.openxmlformats.org/officeDocument/2006/relationships/notesSlide"/><Relationship Id="rId58" Target="slides/slide26.xml" Type="http://schemas.openxmlformats.org/officeDocument/2006/relationships/slide"/><Relationship Id="rId59" Target="notesSlides/notesSlide26.xml" Type="http://schemas.openxmlformats.org/officeDocument/2006/relationships/notesSlide"/><Relationship Id="rId6" Target="slides/slide1.xml" Type="http://schemas.openxmlformats.org/officeDocument/2006/relationships/slide"/><Relationship Id="rId60" Target="slides/slide27.xml" Type="http://schemas.openxmlformats.org/officeDocument/2006/relationships/slide"/><Relationship Id="rId61" Target="notesSlides/notesSlide27.xml" Type="http://schemas.openxmlformats.org/officeDocument/2006/relationships/notes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2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_rels/notesSlide2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7.xml" Type="http://schemas.openxmlformats.org/officeDocument/2006/relationships/slide"/></Relationships>
</file>

<file path=ppt/notesSlides/notesSlide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大家好，又到了年底复盘的时候。今年我不想写那种闪闪发光的总结，只想把真实的经历、踩过的坑和学到的教训，像跟老朋友聊天一样说出来。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2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接下来的20分钟，我想和大家分享三个部分。先聊聊这一年里让我骄傲的几件事，虽然不完美，但每个背后都有迭代的故事。然后说说踩过的坑，从中学到的成长型思维。最后展望一下明年想尝试的方向。当然，我更期待听到你的故事——你的年度关键词是什么？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3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先别急着看我的答案，花十秒钟想想你的年度关键词。想好了吗？下一页我就要揭晓我的了——说实话，这个词我自己都有点意外。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4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比如年初我接手了一个产品改版，一直纠结细节，直到Q1结束都没上线。后来用了迭代思维：先出一版最小功能，两周内发布，收集反馈再优化。结果用户给了很多意料之外的建议，产品反而走得更顺了。这个例子也让我看到，迭代不只是方法论，更是一种心态——允许不完美，相信会更好。接下来，我想聊聊今年那些真正让我眼睛发亮的事，也就是迭代带来的小成果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5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好，现在进入第一个篇章。这三件事，是我这一年里亲手做成的小成就，每一件背后都有折腾、有意外、也有惊喜。它们让我相信：微小的光也能照亮方向。咱们慢慢聊。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6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这一页我用时间线把全年几件大事串了起来。其实最开始我纠结要不要列出来，因为看起来都很小。但后来发现，正是这些小事让我的2025有了节奏。比如6月那次分享，我提前一周每天都在紧张，讲完收到一位朋友说‘你讲得真好’，突然觉得大着胆子做了一次不完美的事情，反而拿到了真实反馈。接下来我想聊聊第一个让我眼睛发亮的成就：从想法跑到产品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7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当时我脑子里有个小需求，总觉得要构思完整才能动手。后来逼自己一个周末先做出来，结果真的有人用了。第一个朋友反馈说‘功能有用，但界面真丑’，我没急着美化，而是先问‘功能对吗？’。之后每一版只改一个点，迭代了五次。回头看，那个粗糙的原型比任何完美的计划都重要。下一步的成就感，来自另一个完全不同的维度——公开分享自己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8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那次分享是一个小型线下活动，主题关于生活中的小实验。我提前两周就开始焦虑，甚至想过临阵退缩。但当我真的站上去，把准备了无数遍的内容用自己的话讲出来时，发现紧张反而让我更专注。最意外的收获是结束后那些私信——有人因为我的故事决定也开始做小尝试。这让我相信：公开表达的意义不在于展示完美，而在于连接真实。下一个成就，是我把分享的习惯真正融入了日常，变成了每天不写点什么都难受的创作节奏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9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大家可以看这个日历热力图，一开始三月份稀稀疏疏，后来慢慢连成片，到年底几乎每天都有写作的动作。有一次出差住酒店，已经累到不想动，但想到每天20分钟的深度思考任务，还是打开手机写了几条笔记。结果那几条恰恰成了后来一篇重要文章的核心。这个习惯教会我：不用等状态来了再行动，状态是在行动中产生的。好，年初画的大饼到底吃了多少？下一张看看我的年初计划和实际达成的对比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10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回头看我的创作习惯，其实也是在一次次“计划跑偏”里建立起来的。所以我想看看年初的目标究竟兑现了多少。比如学课，本来想一口气啃三门，后来发现一门深读带来的感悟比囫囵吞枣有用得多。运动也是，虽然只坚持了两个月，但那段每天的晨跑让我养成了早起的节奏。最有意思的是那些意外的社群链接，完全不在计划里，却是今年最暖的收获。这些“未完成的勾”并不是减法，而是告诉我什么才是我真正在乎的。下一张我想分享一句话，它陪着我走过了这些取舍的时刻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1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这句话是我年初在一篇公众号文章里看到的，当时正对着一个卡了很久的项目反复犹豫。我决定先做一版发出去，结果收到了不少朋友的鼓励和修正建议，事情反而推进得比想象快。现在回想，如果没有这句话，我可能还在原地打磨那个不存在的“完美版本”。好了，成就篇就聊到这里，接下来我想换个角度，说说那些让我摔跤的时刻——它们给我的，远不止疼痛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12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每次看似走弯路的时候，其实都在帮我积攒下一段路的装备。接下来我拆开这三个坑，看看每一把钥匙是怎么配出来的。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13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你看，这张红色日程表就是我的上半年。同时答应四个项目，以为自己是超人，结果每个都延期。最讽刺的是，我一开始说『好』是因为怕别人觉得我不靠谱，最后却因为交付不了被追着问『到底什么时候能好？』。这件事教会我：保护自己的时间不是自私，是长期负责。后来我给自己立了个规矩：任何请求，至少等三分钟再回复。这个小动作帮我筛掉了至少一半本不该接的任务。说到『信息上瘾』，下一个坑更隐蔽——你以为学了很多，其实只是囤积了一堆永远不会打开的资料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14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曾经我有个错觉，只要保存了文章，知识就是我的。结果收藏夹越来越长，脑子里却空空如也。后来我想通，真正的学习是从输出开始的。现在每读完一篇文章，我会问自己：我能用一句话说出它讲了什么吗？这个转变让我从囤积者变成了实践者。下一张要聊的坑更扎心——我把身体当成了永远满电的电池，忘了它也需要关机重启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15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我知道每次熬夜时都安慰自己‘再撑一下就好’，但代价是第二天效率断崖式下跌，有一次开会直接睡着，太尴尬了。后来我开始记录睡眠时长和第二天精力的关系，发现睡够7小时的工作输出竟然是熬夜状态的两倍。所以我现在把睡眠优先列进待办清单，这不是偷懒，而是对长期输出的投资。这三个坑的教训让我意识到，光有热情不够，还需要一套让决策更聪明的反思工具。接下来我会分享我试过的方法——STOP &amp; GO 框架，也许对你也管用。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16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比如有次同事临时约我周末加班赶项目，我下意识想答应，但套了一下这个框架：先看STOP信号——最近有没有身体报警？哦，已经连续一周凌晨两点睡了。OK，这就是STOP。于是我回绝了，改为远程协助。后来发现对方其实没那么急。所以这个框架帮我避免了很多不必要的消耗。接下来我给大家看，如果回到过去，用这个框架回头审视几个关键决策，会有什么不同的选择——下一张幻灯片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17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大家看看左边这些，是不是有点眼熟？我也经常这样。但后来我用了STOP &amp; GO框架，慢慢把旧习惯改成了右边的新做法。比如以前朋友邀约我从不拒绝，结果自己忙不过来还失约。现在我学会了先看日程，主动约一个双方都合适的时间。这些小改变积累起来，让我感觉对生活更有掌控感了。这些对比不只是教训，更是我明年想继续做的事。下一部分，我就来说说明年我想怎么认真试试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18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刚才我们回头看了看过去的选择，现在我想把目光向前看。明年我不打算立一堆Flag，而是想认真试试几个从教训里长出来的方向——它们不大，但我有信心能坚持。先透露一个：把创作变成体系。具体怎么做，接下来慢慢聊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19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我打算每周二晚上九点，关掉手机写一小时。不要多，先让身体记住这个节奏。然后我也在试录一个5分钟的mini播客，讲一个我踩过的小坑和教训。你会发现，说出来的东西和写在笔记里完全不同。最后，我准备把这一套流程固定下来，变成我自己的内容操作手册。创作这件事，再小，形成系统就不容易放弃。而系统之外，第二件事也同等重要——我想主动去编织一些面对面的连接，让成长不再是一个人的事情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20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今年我试了几次主动组局，印象最深的是11月那次「年度遗憾清单」饭局，结果大家聊得比预想轻松，还笑出了眼泪。我发现，关键不是完美流程，而是真诚邀请。会后我记了几点笔记：谁聊到了哪个点眼睛发光，下次可以约TA深聊。这个习惯帮我慢慢扩大了真正有连接的圈子。接下来第三个方向，纯粹出于好奇心——AI和教育的交叉，居然撞出了新可能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2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（展示一张AI芯片和一本打开的书交融的图标）今年我做了一个决定：不再只围观AI新闻，而是跳进具体的场景里试试。跟完那个产品项目后，我最深的感受是：技术文档里完美的用户旅程，在线下试讲时全变成了意外。比如在社群试讲那天，有个妈妈问我能不能帮她孩子改作文，我才意识到自己一直在聊功能，没聊需求。和那两位老师的合作更让我清醒——他们每天要批50份作业，AI能不能自动生成反馈？这才是真问题。这个小踩坑反而让我更确定：AI+教育这个方向值得继续，但要蹲下来和老师、学生一起做。接下来我会把这三个方向放进2026的时间表里，看看每一步具体落在哪一季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22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这些里程碑来自我2025踩过的坑里借来的灵感——不是完美的计划，而是给自己留的小步迭代节奏。比如Q1的播客，我打算先录再剪，先完成再完美。Q4的小报告，等于是给自己一年新尝试的复盘沉淀。下一张小林的案例，正好帮我把这些方向落地得更具体，大家可以看看她是怎么从一个想法拆成季度行动的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23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小林是我在AI社群认识的朋友，她的转型其实有清晰的轨迹。前三个月在摸索，第四个月她试了每周直播‘备课过程’——不是讲多深的知识，而是把学习材料、思考步骤直接展示出来。她还公开了一个Notion知识库，所有人都能看到她每天收集的资料。这让我很触动：原来‘公开建造’本身就是信任的积累，不完美反而更真实。所以下一张幻灯片，我给自己写了一句话，也邀请你试试——如果让你给2026年写一句话，你会写什么？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24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小林的故事让我看到了行动的力量，但每个人都需要一句属于自己的‘灯语’。那句我写给明年的话就在屏幕上——它不是什么金句，而是从一次次踩坑和复盘里长出来的直觉。认真做事，善良做人，剩下的那些不完美、那些没来得及的答案，都交给‘迭代’来处理。我觉得这才是最真实的成长型思维：先完成，再完美，然后小步向前。现在，我想把全年的线索收在一起，做一个不加滤镜的总结，邀请你也来看看你的2025是什么形状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25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（手指按在书签上，准备翻到最后一页）这一页，是我一整年的缩影。它不是精修过的照片，而是一张素颜的抓拍——有惊喜，也有留白。我把它叫做“我的2025画像”，由三个词串起：迭代、允许、再出发。现在，我就拿给你看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26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你看，这三个关键词其实是我自己从这一年的碎片里捡出来的。成就章里有『完成』，不是因为我做了多大的事，而是我终于把『想』变成了『做』。教训章里有『边界』，这个教训来得有点疼——为了维护一个「好人」的形象，我把自己累成了狗。展望章我选了『体系』，因为我发现单靠意志力不可靠，得建立系统。好了，我的画像给完了，现在轮到你了——如果用一个词总结你的2025，会是什么？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27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现在轮到你了。我的年度关键词是『迭代』——每一版都比上一版好一点点，哪怕只有一点点。这个动作很简单：花五分钟写下三个词，发到朋友圈，或者直接私信给我。不用写小作文，像发一条普通动态那样就好，如果字数不够，加个表情包也行。我很期待看到你的关键词，因为每个人的复盘都是独一无二的。我们在评论区见，一起把这份能量传递下去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1.xml" Type="http://schemas.openxmlformats.org/officeDocument/2006/relationships/notesSlid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2.xml" Type="http://schemas.openxmlformats.org/officeDocument/2006/relationships/notesSlid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3.xml" Type="http://schemas.openxmlformats.org/officeDocument/2006/relationships/notesSlid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4.xml" Type="http://schemas.openxmlformats.org/officeDocument/2006/relationships/notesSlid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5.xml" Type="http://schemas.openxmlformats.org/officeDocument/2006/relationships/notesSlid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6.xml" Type="http://schemas.openxmlformats.org/officeDocument/2006/relationships/notesSlid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7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2540000"/>
            <a:ext cx="10972800" cy="1524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5280" b="true">
                <a:solidFill>
                  <a:srgbClr val="3D2C23"/>
                </a:solidFill>
                <a:latin typeface="PingFang SC"/>
              </a:rPr>
              <a:t>2025 我的年度复盘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4191000"/>
            <a:ext cx="10972800" cy="1016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2090" b="false">
                <a:solidFill>
                  <a:srgbClr val="D9C5B0"/>
                </a:solidFill>
                <a:ea typeface="PingFang SC"/>
              </a:rPr>
              <a:t>我把我的2025摊给你看，不完美，但真实。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>
            <a:off x="609600" y="1371600"/>
            <a:ext cx="10972800" cy="25400"/>
          </a:xfrm>
          <a:prstGeom prst="rect">
            <a:avLst/>
          </a:prstGeom>
          <a:solidFill>
            <a:srgbClr val="B47A6B"/>
          </a:solidFill>
          <a:ln>
            <a:solidFill>
              <a:srgbClr val="B47A6B"/>
            </a:solidFill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3600" b="true">
                <a:solidFill>
                  <a:srgbClr val="3D2C23"/>
                </a:solidFill>
                <a:ea typeface="PingFang SC"/>
              </a:rPr>
              <a:t>接下来的 20 分钟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709" b="false">
                <a:solidFill>
                  <a:srgbClr val="D9C5B0"/>
                </a:solidFill>
                <a:ea typeface="PingFang SC"/>
              </a:rPr>
              <a:t>三件事、三个坑、三个方向 —— 我的分享路径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2190750"/>
            <a:ext cx="109728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1900">
                <a:solidFill>
                  <a:srgbClr val="3D2C23"/>
                </a:solidFill>
                <a:ea typeface="PingFang SC"/>
              </a:rPr>
              <a:t>🎉 成就：三件让我骄傲的事（背后藏着多少次迭代）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1900">
                <a:solidFill>
                  <a:srgbClr val="3D2C23"/>
                </a:solidFill>
                <a:ea typeface="PingFang SC"/>
              </a:rPr>
              <a:t>💡 踩坑：三次重要教训（不完美但真实）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1900">
                <a:solidFill>
                  <a:srgbClr val="3D2C23"/>
                </a:solidFill>
                <a:ea typeface="PingFang SC"/>
              </a:rPr>
              <a:t>🔄 从教训学到成长型思维：先完成再完美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1900">
                <a:solidFill>
                  <a:srgbClr val="3D2C23"/>
                </a:solidFill>
                <a:ea typeface="PingFang SC"/>
              </a:rPr>
              <a:t>🚀 展望：明年想尝试的三个方向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1900">
                <a:solidFill>
                  <a:srgbClr val="3D2C23"/>
                </a:solidFill>
                <a:ea typeface="PingFang SC"/>
              </a:rPr>
              <a:t>❓ 你的年度关键词是什么？聊聊你的故事</a:t>
            </a:r>
          </a:p>
        </p:txBody>
      </p:sp>
      <p:sp>
        <p:nvSpPr>
          <p:cNvPr name="AutoShape 5" id="5"/>
          <p:cNvSpPr/>
          <p:nvPr/>
        </p:nvSpPr>
        <p:spPr>
          <a:xfrm>
            <a:off x="609600" y="1371600"/>
            <a:ext cx="10972800" cy="25400"/>
          </a:xfrm>
          <a:prstGeom prst="rect">
            <a:avLst/>
          </a:prstGeom>
          <a:solidFill>
            <a:srgbClr val="B47A6B"/>
          </a:solidFill>
          <a:ln>
            <a:solidFill>
              <a:srgbClr val="B47A6B"/>
            </a:solidFill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2540000"/>
            <a:ext cx="10972800" cy="1524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4800" b="true">
                <a:solidFill>
                  <a:srgbClr val="B47A6B"/>
                </a:solidFill>
                <a:ea typeface="PingFang SC"/>
              </a:rPr>
              <a:t>开篇：你用什么词形容今年？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4191000"/>
            <a:ext cx="10972800" cy="1016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2090" b="false">
                <a:solidFill>
                  <a:srgbClr val="D9C5B0"/>
                </a:solidFill>
                <a:ea typeface="PingFang SC"/>
              </a:rPr>
              <a:t>如果只用一个词总结2025，你选什么？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>
            <a:off x="609600" y="1371600"/>
            <a:ext cx="10972800" cy="25400"/>
          </a:xfrm>
          <a:prstGeom prst="rect">
            <a:avLst/>
          </a:prstGeom>
          <a:solidFill>
            <a:srgbClr val="B47A6B"/>
          </a:solidFill>
          <a:ln>
            <a:solidFill>
              <a:srgbClr val="B47A6B"/>
            </a:solidFill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3600" b="true">
                <a:solidFill>
                  <a:srgbClr val="3D2C23"/>
                </a:solidFill>
                <a:ea typeface="PingFang SC"/>
              </a:rPr>
              <a:t>我的年度关键词：迭代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709" b="false">
                <a:solidFill>
                  <a:srgbClr val="D9C5B0"/>
                </a:solidFill>
                <a:ea typeface="PingFang SC"/>
              </a:rPr>
              <a:t>如果用一个词总结2025，我的答案是——迭代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2190750"/>
            <a:ext cx="109728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520" b="false">
                <a:solidFill>
                  <a:srgbClr val="D9C5B0"/>
                </a:solidFill>
                <a:ea typeface="PingFang SC"/>
              </a:rPr>
              <a:t>迭代不是大改变，而是每一天的小改进。它让我在不完美中找到了从容，也让我更期待下一版自己。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609600" y="3079750"/>
            <a:ext cx="10972800" cy="342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1900">
                <a:solidFill>
                  <a:srgbClr val="3D2C23"/>
                </a:solidFill>
                <a:ea typeface="PingFang SC"/>
              </a:rPr>
              <a:t>迭代思维：不是要一步登天，而是每次都比上次好一点点，就像软件更新v1.0到v1.1。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1900">
                <a:solidFill>
                  <a:srgbClr val="3D2C23"/>
                </a:solidFill>
                <a:ea typeface="PingFang SC"/>
              </a:rPr>
              <a:t>这一年，我学会了允许自己交出不完美的答卷。等万事俱备，往往连开始都错过。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1900">
                <a:solidFill>
                  <a:srgbClr val="3D2C23"/>
                </a:solidFill>
                <a:ea typeface="PingFang SC"/>
              </a:rPr>
              <a:t>从“做好”到“先做完”：有个项目拖了两个月，强迫自己3天内出第一版——虽然粗糙，但至少能跑了。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1900">
                <a:solidFill>
                  <a:srgbClr val="3D2C23"/>
                </a:solidFill>
                <a:ea typeface="PingFang SC"/>
              </a:rPr>
              <a:t>迭代不是否定过去，而是把每次踩坑都变成下一次的垫脚石。</a:t>
            </a:r>
          </a:p>
        </p:txBody>
      </p:sp>
      <p:sp>
        <p:nvSpPr>
          <p:cNvPr name="AutoShape 6" id="6"/>
          <p:cNvSpPr/>
          <p:nvPr/>
        </p:nvSpPr>
        <p:spPr>
          <a:xfrm>
            <a:off x="609600" y="1371600"/>
            <a:ext cx="10972800" cy="25400"/>
          </a:xfrm>
          <a:prstGeom prst="rect">
            <a:avLst/>
          </a:prstGeom>
          <a:solidFill>
            <a:srgbClr val="B47A6B"/>
          </a:solidFill>
          <a:ln>
            <a:solidFill>
              <a:srgbClr val="B47A6B"/>
            </a:solidFill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2540000"/>
            <a:ext cx="10972800" cy="1524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4000" b="true">
                <a:solidFill>
                  <a:srgbClr val="B47A6B"/>
                </a:solidFill>
                <a:latin typeface="PingFang SC"/>
              </a:rPr>
              <a:t>Part 1 那些让我眼睛发亮的事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4191000"/>
            <a:ext cx="10972800" cy="1016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2310" b="false">
                <a:solidFill>
                  <a:srgbClr val="D9C5B0"/>
                </a:solidFill>
                <a:ea typeface="PingFang SC"/>
              </a:rPr>
              <a:t>回顾2025，有三件小事让我觉得，努力真的没有白费——它们不惊天动地，却真实地照亮了我的前行路。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D9C5B0"/>
          </a:solidFill>
          <a:ln>
            <a:solidFill>
              <a:srgbClr val="D9C5B0"/>
            </a:solidFill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000" b="true">
                <a:solidFill>
                  <a:srgbClr val="3D2C23"/>
                </a:solidFill>
                <a:latin typeface="PingFang SC"/>
              </a:rPr>
              <a:t>2025 关键事件时间线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90" b="false">
                <a:solidFill>
                  <a:srgbClr val="D9C5B0"/>
                </a:solidFill>
                <a:ea typeface="PingFang SC"/>
              </a:rPr>
              <a:t>一眼看完我的年度大事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2000250"/>
            <a:ext cx="109728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680" b="false">
                <a:solidFill>
                  <a:srgbClr val="D9C5B0"/>
                </a:solidFill>
                <a:ea typeface="PingFang SC"/>
              </a:rPr>
              <a:t>回头看，这些节点就像散落的闪光碎片——它们不一定有多亮，但连起来就是我2025的底色。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609600" y="2889250"/>
            <a:ext cx="10972800" cy="342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100">
                <a:solidFill>
                  <a:srgbClr val="3D2C23"/>
                </a:solidFill>
                <a:latin typeface="PingFang SC"/>
              </a:rPr>
              <a:t>3月：给那个藏了很久的念头松了绑，写了第一行代码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2100">
                <a:solidFill>
                  <a:srgbClr val="3D2C23"/>
                </a:solidFill>
                <a:latin typeface="PingFang SC"/>
              </a:rPr>
              <a:t>6月：站到台前讲了一小时，心跳比键盘声还响，但收获了第一束花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2100">
                <a:solidFill>
                  <a:srgbClr val="3D2C23"/>
                </a:solidFill>
                <a:latin typeface="PingFang SC"/>
              </a:rPr>
              <a:t>9月：开始每周固定输出内容，用先完成再完美驯服了拖延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2100">
                <a:solidFill>
                  <a:srgbClr val="3D2C23"/>
                </a:solidFill>
                <a:latin typeface="PingFang SC"/>
              </a:rPr>
              <a:t>11月：拉了十几个陌生人线下聊，发现一个人也能创造一个小磁场</a:t>
            </a:r>
          </a:p>
        </p:txBody>
      </p:sp>
      <p:sp>
        <p:nvSpPr>
          <p:cNvPr name="AutoShape 6" id="6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D9C5B0"/>
          </a:solidFill>
          <a:ln>
            <a:solidFill>
              <a:srgbClr val="D9C5B0"/>
            </a:solidFill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000" b="true">
                <a:solidFill>
                  <a:srgbClr val="3D2C23"/>
                </a:solidFill>
                <a:ea typeface="PingFang SC"/>
              </a:rPr>
              <a:t>成就 1：从想法跑到产品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90" b="false">
                <a:solidFill>
                  <a:srgbClr val="D9C5B0"/>
                </a:solidFill>
                <a:ea typeface="PingFang SC"/>
              </a:rPr>
              <a:t>把一个一闪而过的念头，做成了真的有人在用的工具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2000250"/>
            <a:ext cx="109728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680" b="false">
                <a:solidFill>
                  <a:srgbClr val="D9C5B0"/>
                </a:solidFill>
                <a:ea typeface="PingFang SC"/>
              </a:rPr>
              <a:t>这就是最小可行产品的力量——不完美，但真实。行动比完美更稀缺。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609600" y="2889250"/>
            <a:ext cx="10972800" cy="342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100">
                <a:solidFill>
                  <a:srgbClr val="3D2C23"/>
                </a:solidFill>
                <a:ea typeface="PingFang SC"/>
              </a:rPr>
              <a:t>一个周末，用现成的无代码工具拼出了第一个丑但能跑的原型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2100">
                <a:solidFill>
                  <a:srgbClr val="3D2C23"/>
                </a:solidFill>
                <a:ea typeface="PingFang SC"/>
              </a:rPr>
              <a:t>快速丢给几个朋友试用，收到了 20+ 条真实的吐槽和建议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2100">
                <a:solidFill>
                  <a:srgbClr val="3D2C23"/>
                </a:solidFill>
                <a:ea typeface="PingFang SC"/>
              </a:rPr>
              <a:t>根据反馈改了 5 个小版本——每次只修复一个具体痛点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2100">
                <a:solidFill>
                  <a:srgbClr val="3D2C23"/>
                </a:solidFill>
                <a:ea typeface="PingFang SC"/>
              </a:rPr>
              <a:t>最大教训：先完成再完美——那些“完美细节”的想象，大部分在真实用户面前根本不重要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2100">
                <a:solidFill>
                  <a:srgbClr val="3D2C23"/>
                </a:solidFill>
                <a:ea typeface="PingFang SC"/>
              </a:rPr>
              <a:t>版本演进的截图拼在一起，就是我的小步迭代成长史</a:t>
            </a:r>
          </a:p>
        </p:txBody>
      </p:sp>
      <p:sp>
        <p:nvSpPr>
          <p:cNvPr name="AutoShape 6" id="6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D9C5B0"/>
          </a:solidFill>
          <a:ln>
            <a:solidFill>
              <a:srgbClr val="D9C5B0"/>
            </a:solidFill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000" b="true">
                <a:solidFill>
                  <a:srgbClr val="3D2C23"/>
                </a:solidFill>
                <a:ea typeface="PingFang SC"/>
              </a:rPr>
              <a:t>成就 2：公开分享，不再害怕被评价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90" b="false">
                <a:solidFill>
                  <a:srgbClr val="D9C5B0"/>
                </a:solidFill>
                <a:ea typeface="PingFang SC"/>
              </a:rPr>
              <a:t>站上小舞台，迈出被看见的一步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2000250"/>
            <a:ext cx="109728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1785">
                <a:solidFill>
                  <a:srgbClr val="3D2C23"/>
                </a:solidFill>
                <a:ea typeface="PingFang SC"/>
              </a:rPr>
              <a:t>第一次在几十双陌生眼睛前系统讲出自己的观点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1785">
                <a:solidFill>
                  <a:srgbClr val="3D2C23"/>
                </a:solidFill>
                <a:ea typeface="PingFang SC"/>
              </a:rPr>
              <a:t>稿子改了 8 版，彩排 10 遍，心跳还是快到像要跳出来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1785">
                <a:solidFill>
                  <a:srgbClr val="3D2C23"/>
                </a:solidFill>
                <a:ea typeface="PingFang SC"/>
              </a:rPr>
              <a:t>走上台的那一刻，我告诉自己：讲错了也没关系，先完成再说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1785">
                <a:solidFill>
                  <a:srgbClr val="3D2C23"/>
                </a:solidFill>
                <a:ea typeface="PingFang SC"/>
              </a:rPr>
              <a:t>中间卡壳了三秒，我停下来笑了笑，观众反而给了我掌声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1785">
                <a:solidFill>
                  <a:srgbClr val="3D2C23"/>
                </a:solidFill>
                <a:ea typeface="PingFang SC"/>
              </a:rPr>
              <a:t>分享后收到三位朋友私信：『你讲的那句话刚好是我需要的』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1785">
                <a:solidFill>
                  <a:srgbClr val="3D2C23"/>
                </a:solidFill>
                <a:ea typeface="PingFang SC"/>
              </a:rPr>
              <a:t>原来真诚比完美更能打动人心——不完美但真实，够了</a:t>
            </a:r>
          </a:p>
        </p:txBody>
      </p:sp>
      <p:sp>
        <p:nvSpPr>
          <p:cNvPr name="AutoShape 5" id="5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D9C5B0"/>
          </a:solidFill>
          <a:ln>
            <a:solidFill>
              <a:srgbClr val="D9C5B0"/>
            </a:solidFill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000" b="true">
                <a:solidFill>
                  <a:srgbClr val="3D2C23"/>
                </a:solidFill>
                <a:ea typeface="PingFang SC"/>
              </a:rPr>
              <a:t>成就 3：为自己建立了创作习惯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90" b="false">
                <a:solidFill>
                  <a:srgbClr val="D9C5B0"/>
                </a:solidFill>
                <a:ea typeface="PingFang SC"/>
              </a:rPr>
              <a:t>从零到每周稳定输出，我用习惯为自己打造了一个创作系统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2000250"/>
            <a:ext cx="109728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680" b="false">
                <a:solidFill>
                  <a:srgbClr val="D9C5B0"/>
                </a:solidFill>
                <a:ea typeface="PingFang SC"/>
              </a:rPr>
              <a:t>这一年，我最大的收获不是200多条笔记，而是知道自己每天可以有一小段时间完全属于自己。这种确定性，比任何结果都重要。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609600" y="2889250"/>
            <a:ext cx="10972800" cy="342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100">
                <a:solidFill>
                  <a:srgbClr val="3D2C23"/>
                </a:solidFill>
                <a:latin typeface="PingFang SC"/>
              </a:rPr>
              <a:t>3月启动卡片笔记，从随手记到每日清理大脑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2100">
                <a:solidFill>
                  <a:srgbClr val="3D2C23"/>
                </a:solidFill>
                <a:ea typeface="PingFang SC"/>
              </a:rPr>
              <a:t>年底积累了200+条知识点，它们相互连接成网络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2100">
                <a:solidFill>
                  <a:srgbClr val="3D2C23"/>
                </a:solidFill>
                <a:ea typeface="PingFang SC"/>
              </a:rPr>
              <a:t>每天20分钟深度思考，是给自己最值钱的安静时光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2100">
                <a:solidFill>
                  <a:srgbClr val="3D2C23"/>
                </a:solidFill>
                <a:ea typeface="PingFang SC"/>
              </a:rPr>
              <a:t>创作从'等灵感'变成'每天开机'，稳定得不可思议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2100">
                <a:solidFill>
                  <a:srgbClr val="3D2C23"/>
                </a:solidFill>
                <a:ea typeface="PingFang SC"/>
              </a:rPr>
              <a:t>相信长期主义：每天一点点，比偶尔冲刺强百倍</a:t>
            </a:r>
          </a:p>
        </p:txBody>
      </p:sp>
      <p:sp>
        <p:nvSpPr>
          <p:cNvPr name="AutoShape 6" id="6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D9C5B0"/>
          </a:solidFill>
          <a:ln>
            <a:solidFill>
              <a:srgbClr val="D9C5B0"/>
            </a:solidFill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000" b="true">
                <a:solidFill>
                  <a:srgbClr val="3D2C23"/>
                </a:solidFill>
                <a:ea typeface="PingFang SC"/>
              </a:rPr>
              <a:t>年初计划 vs 实际达成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2000250"/>
            <a:ext cx="51816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100">
                <a:solidFill>
                  <a:srgbClr val="3D2C23"/>
                </a:solidFill>
                <a:ea typeface="PingFang SC"/>
              </a:rPr>
              <a:t>计划学3门课 ➔ 实际深入了1门 —— 从“多线并行”转向“单点打透”，反倒收获了质的飞跃。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2100">
                <a:solidFill>
                  <a:srgbClr val="3D2C23"/>
                </a:solidFill>
                <a:ea typeface="PingFang SC"/>
              </a:rPr>
              <a:t>计划每周运动3次 ➔ 只坚持了2个月 —— 没有嘲笑自己半途而废，而是庆祝那两个月带来的早起习惯。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2100">
                <a:solidFill>
                  <a:srgbClr val="3D2C23"/>
                </a:solidFill>
                <a:ea typeface="PingFang SC"/>
              </a:rPr>
              <a:t>意料之外的社群链接 —— 一次随机的约饭，长成了持续半年的共修小组。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6400800" y="2000250"/>
            <a:ext cx="51816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100">
                <a:solidFill>
                  <a:srgbClr val="3D2C23"/>
                </a:solidFill>
                <a:ea typeface="PingFang SC"/>
              </a:rPr>
              <a:t>还有十几项未完成的“小目标” —— 它们变成下一年的候补清单，不完美但真实。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2100">
                <a:solidFill>
                  <a:srgbClr val="3D2C23"/>
                </a:solidFill>
                <a:ea typeface="PingFang SC"/>
              </a:rPr>
              <a:t>现在回头看，计划和实际之间的缝隙里，藏着成长最真实的形状。</a:t>
            </a:r>
          </a:p>
        </p:txBody>
      </p:sp>
      <p:sp>
        <p:nvSpPr>
          <p:cNvPr name="AutoShape 5" id="5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D9C5B0"/>
          </a:solidFill>
          <a:ln>
            <a:solidFill>
              <a:srgbClr val="D9C5B0"/>
            </a:solidFill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000" b="true">
                <a:solidFill>
                  <a:srgbClr val="3D2C23"/>
                </a:solidFill>
                <a:ea typeface="PingFang SC"/>
              </a:rPr>
              <a:t>让我持守的那句话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2000250"/>
            <a:ext cx="109728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2100" b="false">
                <a:solidFill>
                  <a:srgbClr val="3D2C23"/>
                </a:solidFill>
                <a:ea typeface="PingFang SC"/>
              </a:rPr>
              <a:t>完成比完美重要一百倍。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D9C5B0"/>
          </a:solidFill>
          <a:ln>
            <a:solidFill>
              <a:srgbClr val="D9C5B0"/>
            </a:solidFill>
          </a:ln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2540000"/>
            <a:ext cx="10972800" cy="1524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4000" b="true">
                <a:solidFill>
                  <a:srgbClr val="B47A6B"/>
                </a:solidFill>
                <a:latin typeface="PingFang SC"/>
              </a:rPr>
              <a:t>Part 2 踩坑给了我三把钥匙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4191000"/>
            <a:ext cx="10972800" cy="1016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2200" b="false">
                <a:solidFill>
                  <a:srgbClr val="D9C5B0"/>
                </a:solidFill>
                <a:ea typeface="PingFang SC"/>
              </a:rPr>
              <a:t>它们不是失败的记号，而是带着教训继续前进的路标。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000" b="true">
                <a:solidFill>
                  <a:srgbClr val="3D2C23"/>
                </a:solidFill>
                <a:ea typeface="PingFang SC"/>
              </a:rPr>
              <a:t>坑 1：过度承诺综合征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00" b="false">
                <a:solidFill>
                  <a:srgbClr val="D9C5B0"/>
                </a:solidFill>
                <a:ea typeface="PingFang SC"/>
              </a:rPr>
              <a:t>说『好』太快，把自己的时间撕成碎片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1905000"/>
            <a:ext cx="109728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3D2C23"/>
                </a:solidFill>
                <a:ea typeface="PingFang SC"/>
              </a:rPr>
              <a:t>一个季度同时推进 4 个项目，最后全部延期——不是我不努力，是我根本没给自己留『呼吸间隙』。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2C23"/>
                </a:solidFill>
                <a:ea typeface="PingFang SC"/>
              </a:rPr>
              <a:t>根源是害怕拒绝后被贴上『不靠谱』的标签，结果反而因为延期显得更不靠谱。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2C23"/>
                </a:solidFill>
                <a:ea typeface="PingFang SC"/>
              </a:rPr>
              <a:t>教训：先完成再完美，先评估再答应。保护核心时间比讨好别人更重要。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2C23"/>
                </a:solidFill>
                <a:ea typeface="PingFang SC"/>
              </a:rPr>
              <a:t>现在我会在说『好』之前，停顿三秒问自己：『这真的是我现在该做的事吗？』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000" b="true">
                <a:solidFill>
                  <a:srgbClr val="3D2C23"/>
                </a:solidFill>
                <a:ea typeface="PingFang SC"/>
              </a:rPr>
              <a:t>坑 2：信息焦虑，学了用不上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00" b="false">
                <a:solidFill>
                  <a:srgbClr val="D9C5B0"/>
                </a:solidFill>
                <a:ea typeface="PingFang SC"/>
              </a:rPr>
              <a:t>收藏即学会——我亲手制造的幻觉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1905000"/>
            <a:ext cx="109728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3D2C23"/>
                </a:solidFill>
                <a:ea typeface="PingFang SC"/>
              </a:rPr>
              <a:t>手机里存了150+篇待读文章，真正消化的不到5篇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2C23"/>
                </a:solidFill>
                <a:ea typeface="PingFang SC"/>
              </a:rPr>
              <a:t>原来我把『收藏』当成了『学会』，自我欺骗最隐蔽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2C23"/>
                </a:solidFill>
                <a:ea typeface="PingFang SC"/>
              </a:rPr>
              <a:t>真相是：知道不等于做到，囤积知识只是缓解焦虑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2C23"/>
                </a:solidFill>
                <a:ea typeface="PingFang SC"/>
              </a:rPr>
              <a:t>教训：输入必须与输出配对——读一篇，写一句，做一步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2C23"/>
                </a:solidFill>
                <a:ea typeface="PingFang SC"/>
              </a:rPr>
              <a:t>我改了方法：每次看完立刻用三句话总结，或者直接分享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000" b="true">
                <a:solidFill>
                  <a:srgbClr val="3D2C23"/>
                </a:solidFill>
                <a:ea typeface="PingFang SC"/>
              </a:rPr>
              <a:t>坑 3：把健康放在了最后一项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00" b="false">
                <a:solidFill>
                  <a:srgbClr val="D9C5B0"/>
                </a:solidFill>
                <a:ea typeface="PingFang SC"/>
              </a:rPr>
              <a:t>熬夜换来的进度，迟早要还——但可以换种算法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1905000"/>
            <a:ext cx="109728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3D2C23"/>
                </a:solidFill>
                <a:ea typeface="PingFang SC"/>
              </a:rPr>
              <a:t>下半年熬夜超80天，身体直接给了我两次病假警告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2C23"/>
                </a:solidFill>
                <a:ea typeface="PingFang SC"/>
              </a:rPr>
              <a:t>根源是我默认“年轻可以无限透支”，这是最大的认知坑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2C23"/>
                </a:solidFill>
                <a:ea typeface="PingFang SC"/>
              </a:rPr>
              <a:t>健康是1，其他是0——以前我只算后面的0，从来没认真保过1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2C23"/>
                </a:solidFill>
                <a:ea typeface="PingFang SC"/>
              </a:rPr>
              <a:t>现在我把“先完成再完美”变成“先休息再干活”，反而效率更高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2C23"/>
                </a:solidFill>
                <a:ea typeface="PingFang SC"/>
              </a:rPr>
              <a:t>教训：最高效的版本，一定来自休息好的自己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000" b="true">
                <a:solidFill>
                  <a:srgbClr val="3D2C23"/>
                </a:solidFill>
                <a:ea typeface="PingFang SC"/>
              </a:rPr>
              <a:t>教训反思框架：STOP &amp; GO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00" b="false">
                <a:solidFill>
                  <a:srgbClr val="D9C5B0"/>
                </a:solidFill>
                <a:ea typeface="PingFang SC"/>
              </a:rPr>
              <a:t>把经历变成可复用的原则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1905000"/>
            <a:ext cx="109728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600" b="false">
                <a:solidFill>
                  <a:srgbClr val="D9C5B0"/>
                </a:solidFill>
                <a:ea typeface="PingFang SC"/>
              </a:rPr>
              <a:t>这一年，我学会了一件事：每一次『失控』其实都在给我递信号。我把它们拆成了两盏灯——STOP 和 GO，做决定前给自己来个两分钟体检。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609600" y="2794000"/>
            <a:ext cx="10972800" cy="342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1700">
                <a:solidFill>
                  <a:srgbClr val="3D2C23"/>
                </a:solidFill>
                <a:ea typeface="PingFang SC"/>
              </a:rPr>
              <a:t>当我发现自己在心里说出『先忙完这阵再说』——这就是STOP信号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3D2C23"/>
                </a:solidFill>
                <a:ea typeface="PingFang SC"/>
              </a:rPr>
              <a:t>当我的时间变成一堆碎片，注意力无法集中——这也是STOP信号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3D2C23"/>
                </a:solidFill>
                <a:ea typeface="PingFang SC"/>
              </a:rPr>
              <a:t>我开始要求自己每次只设定一个能在月内完成的『小闭环』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3D2C23"/>
                </a:solidFill>
                <a:ea typeface="PingFang SC"/>
              </a:rPr>
              <a:t>把目标公开告诉几个朋友，用外部承诺推自己一把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3D2C23"/>
                </a:solidFill>
                <a:ea typeface="PingFang SC"/>
              </a:rPr>
              <a:t>给自己划一条不可逾越的红线：睡眠和运动优先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3D2C23"/>
                </a:solidFill>
                <a:ea typeface="PingFang SC"/>
              </a:rPr>
              <a:t>每次重大决定前，花2分钟默念一遍STOP &amp; GO，像过安检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000" b="true">
                <a:solidFill>
                  <a:srgbClr val="3D2C23"/>
                </a:solidFill>
                <a:ea typeface="PingFang SC"/>
              </a:rPr>
              <a:t>当时的选择 vs 现在的我会怎么做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905000"/>
            <a:ext cx="51816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3D2C23"/>
                </a:solidFill>
                <a:ea typeface="PingFang SC"/>
              </a:rPr>
              <a:t>过去朋友邀约我从不拒绝 → 现在先看日程再主动协调时间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2C23"/>
                </a:solidFill>
                <a:ea typeface="PingFang SC"/>
              </a:rPr>
              <a:t>过去刷资讯停不下来 → 现在每天30分钟上限，刷完立刻写笔记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2C23"/>
                </a:solidFill>
                <a:ea typeface="PingFang SC"/>
              </a:rPr>
              <a:t>过去熬夜赶工 → 现在22:30关机，第二天早起补救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6400800" y="1905000"/>
            <a:ext cx="51816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3D2C23"/>
                </a:solidFill>
                <a:ea typeface="PingFang SC"/>
              </a:rPr>
              <a:t>过去什么都自己扛 → 现在拆解任务，主动请人帮忙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2C23"/>
                </a:solidFill>
                <a:ea typeface="PingFang SC"/>
              </a:rPr>
              <a:t>过去追求完美迟迟不发 → 现在先完成再完美，小步迭代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2540000"/>
            <a:ext cx="10972800" cy="1524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4200" b="true">
                <a:solidFill>
                  <a:srgbClr val="B47A6B"/>
                </a:solidFill>
                <a:latin typeface="PingFang SC"/>
              </a:rPr>
              <a:t>Part 3 明年我想这样认真试试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4191000"/>
            <a:ext cx="10972800" cy="1016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2200" b="false">
                <a:solidFill>
                  <a:srgbClr val="D9C5B0"/>
                </a:solidFill>
                <a:ea typeface="PingFang SC"/>
              </a:rPr>
              <a:t>踩坑之后，我把收获整理成了三个想认真孵化的方向。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D9C5B0"/>
          </a:solidFill>
          <a:ln>
            <a:solidFill>
              <a:srgbClr val="D9C5B0"/>
            </a:solidFill>
          </a:ln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150" b="true">
                <a:solidFill>
                  <a:srgbClr val="3D2C23"/>
                </a:solidFill>
                <a:ea typeface="PingFang SC"/>
              </a:rPr>
              <a:t>方向 1：把创作变成体系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00" b="false">
                <a:solidFill>
                  <a:srgbClr val="D9C5B0"/>
                </a:solidFill>
                <a:ea typeface="PingFang SC"/>
              </a:rPr>
              <a:t>从零星记录到个人知识系统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1905000"/>
            <a:ext cx="109728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600" b="false">
                <a:solidFill>
                  <a:srgbClr val="D9C5B0"/>
                </a:solidFill>
                <a:ea typeface="PingFang SC"/>
              </a:rPr>
              <a:t>这一年在断断续续地写，明年想试着让创作更可持续——不是靠「等灵感」，而是靠一个简单的系统，把随机变成规律。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609600" y="2794000"/>
            <a:ext cx="10972800" cy="342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3D2C23"/>
                </a:solidFill>
                <a:ea typeface="PingFang SC"/>
              </a:rPr>
              <a:t>定一个雷打不动的写作时段，哪怕只写500字，先让习惯长出来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2C23"/>
                </a:solidFill>
                <a:ea typeface="PingFang SC"/>
              </a:rPr>
              <a:t>用短视频或播客记录思考过程，让观点被「听见」和「看见」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2C23"/>
                </a:solidFill>
                <a:ea typeface="PingFang SC"/>
              </a:rPr>
              <a:t>把每次创作拆成选题→提纲→初稿→打磨，慢慢攒出自己的SOP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2C23"/>
                </a:solidFill>
                <a:ea typeface="PingFang SC"/>
              </a:rPr>
              <a:t>建立「灵感采集本」，把日常碎片变成素材库，不再等灵感敲门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2C23"/>
                </a:solidFill>
                <a:ea typeface="PingFang SC"/>
              </a:rPr>
              <a:t>先完成再完美——每一篇公开发布都是迭代的起点</a:t>
            </a:r>
          </a:p>
        </p:txBody>
      </p:sp>
      <p:sp>
        <p:nvSpPr>
          <p:cNvPr name="AutoShape 6" id="6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D9C5B0"/>
          </a:solidFill>
          <a:ln>
            <a:solidFill>
              <a:srgbClr val="D9C5B0"/>
            </a:solidFill>
          </a:ln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150" b="true">
                <a:solidFill>
                  <a:srgbClr val="3D2C23"/>
                </a:solidFill>
                <a:ea typeface="PingFang SC"/>
              </a:rPr>
              <a:t>方向 2：主动编织连接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00" b="false">
                <a:solidFill>
                  <a:srgbClr val="D9C5B0"/>
                </a:solidFill>
                <a:ea typeface="PingFang SC"/>
              </a:rPr>
              <a:t>我不再等别人来约，而是自己动手组局——试试看，感觉真的不一样。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1905000"/>
            <a:ext cx="109728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3D2C23"/>
                </a:solidFill>
                <a:ea typeface="PingFang SC"/>
              </a:rPr>
              <a:t>每月一次线下主题饭局：定一个具体的小话题，比如「最近读的一页书」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2C23"/>
                </a:solidFill>
                <a:ea typeface="PingFang SC"/>
              </a:rPr>
              <a:t>系统维护「关键 20 人」名单：不是人脉库，是真心想持续对话的人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2C23"/>
                </a:solidFill>
                <a:ea typeface="PingFang SC"/>
              </a:rPr>
              <a:t>练习深度倾听：关掉内心的「接话欲」，专注听对方没说出来的部分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2C23"/>
                </a:solidFill>
                <a:ea typeface="PingFang SC"/>
              </a:rPr>
              <a:t>组局后的轻复盘记下：哪些对话让彼此更近了，哪些下次可以调整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2C23"/>
                </a:solidFill>
                <a:ea typeface="PingFang SC"/>
              </a:rPr>
              <a:t>从怕冷场到接纳沉默——先完成再完美，这次局没白组</a:t>
            </a:r>
          </a:p>
        </p:txBody>
      </p:sp>
      <p:sp>
        <p:nvSpPr>
          <p:cNvPr name="AutoShape 5" id="5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D9C5B0"/>
          </a:solidFill>
          <a:ln>
            <a:solidFill>
              <a:srgbClr val="D9C5B0"/>
            </a:solidFill>
          </a:ln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150" b="true">
                <a:solidFill>
                  <a:srgbClr val="3D2C23"/>
                </a:solidFill>
                <a:ea typeface="PingFang SC"/>
              </a:rPr>
              <a:t>方向 3：探索AI与教育的交界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00" b="false">
                <a:solidFill>
                  <a:srgbClr val="D9C5B0"/>
                </a:solidFill>
                <a:ea typeface="PingFang SC"/>
              </a:rPr>
              <a:t>技术可以放大教育的影响力，但前提是我们先理解人的学习节奏。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1905000"/>
            <a:ext cx="109728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600" b="false">
                <a:solidFill>
                  <a:srgbClr val="D9C5B0"/>
                </a:solidFill>
                <a:ea typeface="PingFang SC"/>
              </a:rPr>
              <a:t>这个方向其实是从踩坑里长出来的——最初只是好奇，后来发现如果不理解真实的课堂痛点，再酷的AI也只是摆设。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609600" y="2794000"/>
            <a:ext cx="10972800" cy="342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3D2C23"/>
                </a:solidFill>
                <a:ea typeface="PingFang SC"/>
              </a:rPr>
              <a:t>跟完一个AI产品设计线上项目，发现工具离真实课堂还差一层『翻译』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2C23"/>
                </a:solidFill>
                <a:ea typeface="PingFang SC"/>
              </a:rPr>
              <a:t>在本地社群试讲2次AI工具入门课，学员最兴奋的不是功能，而是『我立刻能用』的场景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2C23"/>
                </a:solidFill>
                <a:ea typeface="PingFang SC"/>
              </a:rPr>
              <a:t>与2位一线教师合作，意外踩坑：他们需要的是「降本」，而不是「炫技」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2C23"/>
                </a:solidFill>
                <a:ea typeface="PingFang SC"/>
              </a:rPr>
              <a:t>开始用 STOP &amp; GO 框架问自己：『这个方向是真正在帮人成长，还是我自己喜欢造轮子？』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2C23"/>
                </a:solidFill>
                <a:ea typeface="PingFang SC"/>
              </a:rPr>
              <a:t>结论：AI是杠杆，但教育的支点永远是人和关系</a:t>
            </a:r>
          </a:p>
        </p:txBody>
      </p:sp>
      <p:sp>
        <p:nvSpPr>
          <p:cNvPr name="AutoShape 6" id="6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D9C5B0"/>
          </a:solidFill>
          <a:ln>
            <a:solidFill>
              <a:srgbClr val="D9C5B0"/>
            </a:solidFill>
          </a:ln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150" b="true">
                <a:solidFill>
                  <a:srgbClr val="3D2C23"/>
                </a:solidFill>
                <a:latin typeface="PingFang SC"/>
              </a:rPr>
              <a:t>2026 行动里程碑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00" b="false">
                <a:solidFill>
                  <a:srgbClr val="D9C5B0"/>
                </a:solidFill>
                <a:ea typeface="PingFang SC"/>
              </a:rPr>
              <a:t>把大方向拆成四个小台阶，每个季度给自己一个诚实的 Checkpoint。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1905000"/>
            <a:ext cx="109728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3D2C23"/>
                </a:solidFill>
                <a:latin typeface="PingFang SC"/>
              </a:rPr>
              <a:t>Q1：把零散内容整成体系，再录三期播客试水——哪怕只有三个人听。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2C23"/>
                </a:solidFill>
                <a:latin typeface="PingFang SC"/>
              </a:rPr>
              <a:t>Q2：系统学完一门 AI 产品设计课，然后第一次线下组局，和朋友们面对面聊。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2C23"/>
                </a:solidFill>
                <a:latin typeface="PingFang SC"/>
              </a:rPr>
              <a:t>Q3：把自己摸索的方法教出去，交付两场工具入门课；再发起一次共创项目。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2C23"/>
                </a:solidFill>
                <a:latin typeface="PingFang SC"/>
              </a:rPr>
              <a:t>Q4：回看一整年的新尝试，做一份「教育+AI」迷你观察报告，不完美但真实。</a:t>
            </a:r>
          </a:p>
        </p:txBody>
      </p:sp>
      <p:sp>
        <p:nvSpPr>
          <p:cNvPr name="AutoShape 5" id="5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D9C5B0"/>
          </a:solidFill>
          <a:ln>
            <a:solidFill>
              <a:srgbClr val="D9C5B0"/>
            </a:solidFill>
          </a:ln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150" b="true">
                <a:solidFill>
                  <a:srgbClr val="3D2C23"/>
                </a:solidFill>
                <a:ea typeface="PingFang SC"/>
              </a:rPr>
              <a:t>参考案例：小林的一年转型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00" b="false">
                <a:solidFill>
                  <a:srgbClr val="D9C5B0"/>
                </a:solidFill>
                <a:ea typeface="PingFang SC"/>
              </a:rPr>
              <a:t>一年前，她的困惑和我相同；一年后，她活成了我想要的样子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1905000"/>
            <a:ext cx="109728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3D2C23"/>
                </a:solidFill>
                <a:ea typeface="PingFang SC"/>
              </a:rPr>
              <a:t>她的起点跟我一样：产品经理一枚，对AI一知半解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2C23"/>
                </a:solidFill>
                <a:ea typeface="PingFang SC"/>
              </a:rPr>
              <a:t>她做了两件事：每周直播备课（边学边讲），并开放自己的知识库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2C23"/>
                </a:solidFill>
                <a:ea typeface="PingFang SC"/>
              </a:rPr>
              <a:t>结果：一年后，她成了AI教育博主，内容不多但精准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2C23"/>
                </a:solidFill>
                <a:ea typeface="PingFang SC"/>
              </a:rPr>
              <a:t>我的收获：公开建造过程就是最好的内容——先完成，再完美</a:t>
            </a:r>
          </a:p>
        </p:txBody>
      </p:sp>
      <p:sp>
        <p:nvSpPr>
          <p:cNvPr name="AutoShape 5" id="5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D9C5B0"/>
          </a:solidFill>
          <a:ln>
            <a:solidFill>
              <a:srgbClr val="D9C5B0"/>
            </a:solidFill>
          </a:ln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150" b="true">
                <a:solidFill>
                  <a:srgbClr val="3D2C23"/>
                </a:solidFill>
                <a:ea typeface="PingFang SC"/>
              </a:rPr>
              <a:t>我写给明年的那句话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905000"/>
            <a:ext cx="109728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2000" b="false">
                <a:solidFill>
                  <a:srgbClr val="3D2C23"/>
                </a:solidFill>
                <a:latin typeface="PingFang SC"/>
              </a:rPr>
              <a:t>“认真做事，善良做人，其他的交给迭代。”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D9C5B0"/>
          </a:solidFill>
          <a:ln>
            <a:solidFill>
              <a:srgbClr val="D9C5B0"/>
            </a:solidFill>
          </a:ln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2540000"/>
            <a:ext cx="10972800" cy="1524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4600" b="true">
                <a:solidFill>
                  <a:srgbClr val="B47A6B"/>
                </a:solidFill>
                <a:ea typeface="PingFang SC"/>
              </a:rPr>
              <a:t>总结与邀请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4191000"/>
            <a:ext cx="10972800" cy="1016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2200" b="false">
                <a:solidFill>
                  <a:srgbClr val="D9C5B0"/>
                </a:solidFill>
                <a:ea typeface="PingFang SC"/>
              </a:rPr>
              <a:t>翻到这一页，是我为自己画的2025画像——不完美，但足够真实。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D9C5B0"/>
          </a:solidFill>
          <a:ln>
            <a:solidFill>
              <a:srgbClr val="D9C5B0"/>
            </a:solidFill>
          </a:ln>
        </p:spPr>
      </p:sp>
      <p:sp>
        <p:nvSpPr>
          <p:cNvPr name="AutoShape 5" id="5"/>
          <p:cNvSpPr/>
          <p:nvPr/>
        </p:nvSpPr>
        <p:spPr>
          <a:xfrm>
            <a:off x="609600" y="1371600"/>
            <a:ext cx="10972800" cy="25400"/>
          </a:xfrm>
          <a:prstGeom prst="rect">
            <a:avLst/>
          </a:prstGeom>
          <a:solidFill>
            <a:srgbClr val="B47A6B"/>
          </a:solidFill>
          <a:ln>
            <a:solidFill>
              <a:srgbClr val="B47A6B"/>
            </a:solidFill>
          </a:ln>
        </p:spPr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450" b="true">
                <a:solidFill>
                  <a:srgbClr val="3D2C23"/>
                </a:solidFill>
                <a:ea typeface="PingFang SC"/>
              </a:rPr>
              <a:t>我的2025画像：迭代、允许、再出发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00" b="false">
                <a:solidFill>
                  <a:srgbClr val="D9C5B0"/>
                </a:solidFill>
                <a:ea typeface="PingFang SC"/>
              </a:rPr>
              <a:t>如果用三个词拼出我的2025，它们是——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2000250"/>
            <a:ext cx="109728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600" b="false">
                <a:solidFill>
                  <a:srgbClr val="D9C5B0"/>
                </a:solidFill>
                <a:ea typeface="PingFang SC"/>
              </a:rPr>
              <a:t>有完成，有踩坑，也有不完美但真实的成长。回头看，每一步都算数。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609600" y="2889250"/>
            <a:ext cx="10972800" cy="342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1700">
                <a:solidFill>
                  <a:srgbClr val="3D2C23"/>
                </a:solidFill>
                <a:ea typeface="PingFang SC"/>
              </a:rPr>
              <a:t>完成：从“想”到“做”，我发了第一个小产品，虽然只有10个用户，但也算迈出去了。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3D2C23"/>
                </a:solidFill>
                <a:ea typeface="PingFang SC"/>
              </a:rPr>
              <a:t>分享：不再纠结“完美”，把不完整的复盘发到朋友圈，反而收到好几条“我也是”。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3D2C23"/>
                </a:solidFill>
                <a:ea typeface="PingFang SC"/>
              </a:rPr>
              <a:t>习惯：每天5分钟写日记，骗过自己的懒惰，坚持了200天，养成了不费力的小仪式。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3D2C23"/>
                </a:solidFill>
                <a:ea typeface="PingFang SC"/>
              </a:rPr>
              <a:t>边界：学会说“不”之后，我才发现精力不是用来应付所有人的。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3D2C23"/>
                </a:solidFill>
                <a:ea typeface="PingFang SC"/>
              </a:rPr>
              <a:t>行动：不等“准备好”再出发，先跑起来再调整方向，踩了很多坑但每个坑都是升级包。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3D2C23"/>
                </a:solidFill>
                <a:ea typeface="PingFang SC"/>
              </a:rPr>
              <a:t>健康：熬夜写代码换来的是第二天低效，规律作息才是长期主义的燃料。</a:t>
            </a:r>
          </a:p>
        </p:txBody>
      </p:sp>
      <p:sp>
        <p:nvSpPr>
          <p:cNvPr name="AutoShape 6" id="6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D9C5B0"/>
          </a:solidFill>
          <a:ln>
            <a:solidFill>
              <a:srgbClr val="D9C5B0"/>
            </a:solidFill>
          </a:ln>
        </p:spPr>
      </p:sp>
      <p:sp>
        <p:nvSpPr>
          <p:cNvPr name="AutoShape 7" id="7"/>
          <p:cNvSpPr/>
          <p:nvPr/>
        </p:nvSpPr>
        <p:spPr>
          <a:xfrm>
            <a:off x="609600" y="1371600"/>
            <a:ext cx="10972800" cy="25400"/>
          </a:xfrm>
          <a:prstGeom prst="rect">
            <a:avLst/>
          </a:prstGeom>
          <a:solidFill>
            <a:srgbClr val="B47A6B"/>
          </a:solidFill>
          <a:ln>
            <a:solidFill>
              <a:srgbClr val="B47A6B"/>
            </a:solidFill>
          </a:ln>
        </p:spPr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450" b="true">
                <a:solidFill>
                  <a:srgbClr val="B47A6B"/>
                </a:solidFill>
                <a:ea typeface="PingFang SC"/>
              </a:rPr>
              <a:t>轮到你了——属于你的年度关键词是什么？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00" b="false">
                <a:solidFill>
                  <a:srgbClr val="D9C5B0"/>
                </a:solidFill>
                <a:ea typeface="PingFang SC"/>
              </a:rPr>
              <a:t>复盘不是一个人的仪式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2000250"/>
            <a:ext cx="109728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600" b="false">
                <a:solidFill>
                  <a:srgbClr val="D9C5B0"/>
                </a:solidFill>
                <a:ea typeface="PingFang SC"/>
              </a:rPr>
              <a:t>我不需要你写得完美，只需要你写得真实。期待在评论区看见你的关键词。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609600" y="2889250"/>
            <a:ext cx="10972800" cy="342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3D2C23"/>
                </a:solidFill>
                <a:ea typeface="PingFang SC"/>
              </a:rPr>
              <a:t>写下三个词：一件成就、一个教训、一个方向——它们是你2025的坐标。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2C23"/>
                </a:solidFill>
                <a:ea typeface="PingFang SC"/>
              </a:rPr>
              <a:t>把这份复盘发到朋友圈，用真实的文字代替精心修饰的年终总结。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2C23"/>
                </a:solidFill>
                <a:ea typeface="PingFang SC"/>
              </a:rPr>
              <a:t>把你的关键词私信或评论区发给我，我很想听听你的故事，互相启发下一步。</a:t>
            </a:r>
          </a:p>
        </p:txBody>
      </p:sp>
      <p:sp>
        <p:nvSpPr>
          <p:cNvPr name="AutoShape 6" id="6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D9C5B0"/>
          </a:solidFill>
          <a:ln>
            <a:solidFill>
              <a:srgbClr val="D9C5B0"/>
            </a:solidFill>
          </a:ln>
        </p:spPr>
      </p:sp>
      <p:sp>
        <p:nvSpPr>
          <p:cNvPr name="AutoShape 7" id="7"/>
          <p:cNvSpPr/>
          <p:nvPr/>
        </p:nvSpPr>
        <p:spPr>
          <a:xfrm>
            <a:off x="609600" y="1371600"/>
            <a:ext cx="10972800" cy="25400"/>
          </a:xfrm>
          <a:prstGeom prst="rect">
            <a:avLst/>
          </a:prstGeom>
          <a:solidFill>
            <a:srgbClr val="B47A6B"/>
          </a:solidFill>
          <a:ln>
            <a:solidFill>
              <a:srgbClr val="B47A6B"/>
            </a:solidFill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