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大家好！欢迎走进Python的世界。别担心零基础，就像学骑车一样，我们先从最简单的平衡感开始，30分钟后你一定能写出可以跑起来的代码。接下来，我们花一分钟看看今天的路线图。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今天我们将像搭积木一样，把这些概念一个个串起来。别担心记不住，每个概念都会现场动手尝试。准备好了吗？让我们从为什么学Python开始。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咱们先别急着写代码，想一想生活里那些重复又繁琐的事，比如把几百张照片按日期分文件夹。Python 就是专门干这个的，它像一把瑞士军刀，简单却功能齐全。全球有几百万人在用它自动处理数据、搭建网站，甚至训练人工智能。其实，它离我们很近，很多你常用的软件背后都有它的影子。接下来，我们就一起掀开它的幕布，看看 Python 到底是什么，为什么它这么容易上手。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大家想象一下，你要告诉电脑‘你好’，在 Python 里只需一行 print('你好')，就这么简单。别的语言可能需要写好几行不知所云的准备代码，而 Python 先让你把想法跑起来。这种‘所见即所得’的感觉，是我们把它作为第一门语言的原因。等会儿我们来写第一行代码，先看看 Python 到底能帮我们完成哪些日常任务。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大家注意到了吗？我们刚才说的第一个例子——Instagram。没错，这个全球几亿人在用的应用，最早就是用 Python 写的。现在你也能用它，而且不需要是天才。我们来看第二个点：自动化办公。大家有没有经历过重复改文件名、填表格的崩溃？等学会了，这些活儿你可以让电脑自动完成，你就有了一个永远不累的助手。另外，数据分析不是只有数据科学家才用，你可以快速画出图表，看清家里每个月的开销。最后，最重要的一点是，Python 入门特别快，等一下我们很快就能写出第一行代码，但我保证，随着你深入，它不会限制你，反而能带你走很远。好了，我们现在就来试试。」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这就是你的第一行 Python 代码。别紧张，它就像你第一次对电脑说“你好”。现在，请打开你的练习环境，把这一行字打出来，然后按下回车。看到电脑立刻回应你的感觉了吗？你已经成功和计算机完成了一次对话。接下来，我们要学习怎么让计算机记住一些东西——也就是给数据起个名字，这个概念叫“变量”。准备好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接下来我们正式进入编程最有趣的部分——让电脑记住东西。你可能会觉得变量这个词有点陌生，但其实它就像你给储物盒贴的标签。想象一个盒子，上面写着'糖果'，你立刻就知道里面是什么。在编程里，这种贴标签的动作就叫定义变量。而数据类型呢，就是告诉你这个盒子适合装糖果还是装玩具。接下来几分钟，我们会用这种生活中的直觉，一步步学会它。准备好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大家好，现在我们来学习变量。想象一下你家里有很多收纳盒，每个盒子上贴着标签，比如“冬天的袜子”“常用文具”。变量就是给数据贴标签，这样你就可以直接用标签来找到里面的东西。例如`age = 25`，就是把25这个数字放进了叫age的盒子。那个等号不是数学里的等于，而是“放入”的动作。你随时可以改变盒子里的内容，比如`age = 26`，年龄就更新了。起名字要有意义，用`student_count`代替`x`，这样别人看你的代码马上就能明白。名字也不能随便乱取，比如不能有空格、不能数字开头。学会了变量，接下来我们看看这些盒子里能装哪些种类的数据，比如整数、小数、文字——也就是基本数据类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大家好，刚刚我们学会用变量给数据起名字。接下来想一想，你放进变量里的数据是不是都一样？比如存朋友的数量用整数，存一瓶水的价格就要用带小数点的数字，而记一句祝福语则要用文字。其实 Python 在幕后会区分这些“值”的不同类型，这就像水果有苹果、香蕉、橙子，每种吃法不一样。现在请大家打开 Python，试试 a = 5，然后输入 type(a)，看看它返回什么。再换成 a = 3.14 和 a = 'Hello'，类型马上变了。为什么非得分清？下张幻灯片我们会看到，加号对不同类型做的事完全不同，乱用就会闹出笑话。好，大家练完我们一起前进。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我们先做一个脑内测试：'3' + '5' 等于多少？很多人会脱口而出 8，但 Python 会给你 '35'，因为带引号的 3 和 5 是文字不是数字。这个细节在实际写代码时特别容易出问题，尤其是用 input() 获取用户输入，返回的全是字符串类型。一会儿我们会在动手环节让大家亲手试这个坑，看看怎么用 int() 把它转成真正的数字，再加减乘除。好，下一张幻灯片我们就打开编辑器，动手去写真正的变量和加法了。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请大家现在打开你的 Python 环境，我们一起把代码跑起来。不用怕敲错，写代码就像拼乐高，一步步来。第一步，定义 name 变量，注意字符串要用引号引起来，引号就是告诉 Python ‘这是一串文字’。第二步，定义 age 变量，数字不需要引号。第三步，用 print 输出，括号里我们写了 ‘名字：’ 这串提示，然后用逗号隔开 name 变量，Python 会把它们连起来显示。第四步，在 print 里直接做了 age + 1 的运算，Python 会先算答案再打印。运行一下，如果屏幕上出现了正确的结果，恭喜你，刚刚写出了第一段完整的程序！如果哪儿不对，检查一下引号和逗号，它们经常是‘小陷阱’。在下张幻灯片里，我会分享几个给变量起名字的小贴士，让你的代码更好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上一步大家已经成功让 Python 记住了信息。现在我们来聊聊怎么给这些信息起名字。好名字就像给盒子贴上清晰标签，一眼就知道里面装了什么。这里有六条简单规则：第一，名字只能有字母、数字和下划线，不能有空格；第二，不能以数字开头；第三，大小写是不同的，Name 和 name 是两个变量；第四，Python 自己占了一些词，比如 if、for，我们不能用；第五，名字要有意义，比如用 student_count 而不是 x；第六，多个单词用下划线连接更可读。记住这些规则后，下一步我们会一起“找茬”，看看哪些命名是 Python 不接受的，哪些又会让代码难懂。准备好了吗？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好，我们一起来当一回代码侦探。第一行，1name，变量命名规则第一条就是不能以数字开头，这行会报语法错误。第二行，age = twenty，如果 twenty 没有用引号括起来，Python 会以为它是一个变量名，但前面没定义，就会报 NameError。第三行，print 里用到了 name，但整个代码里没有定义过 name，所以又会报错。大家可以在自己的环境里试试，把错误一个个改掉，看看错误信息是什么。这也引出了我们下一节要讲的：如何让程序更智能地做出判断和重复工作——条件与循环。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已经学会了让程序记住数据和做计算，但真正的智能感来自“不同情况不同处理”。这一部分，我们会给程序装上两个新能力：条件判断让程序像过马路时看红绿灯一样选择走哪条路，循环让程序自动重复，省得我们拼命复制粘贴。你可以想象一个快递机器人：看到门就判断是左拐还是右拐，重复迈步直到到达目的地。接下来，我们先从最自然的“如果…就…”开始，一步步把这两个能力变成你手中的代码。准备好了吗？让我们看看程序怎么学会做决定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我们马上动手试一下：假设一个温度变量，用 if 判断温度高低，打出不同的提示。看我写一遍：if temperature &gt; 30: 打印'好热'；elif temperature &gt; 20: 打印'舒服'；else: 打印'有点冷'。注意每个条件后面的冒号，还有下一行缩进。很多人刚开始会忘记冒号，或者缩进没对齐，Python 立刻就提醒错误，这时候别慌，仔细检查一下就行。好，现在轮到你了，打开编辑器跟着敲。等大家都跑通了，我们接着看一个完整的例子：用条件判断把分数变成等级。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好，我们一起来写一个成绩评级的小程序。首先用 input 让用户输入分数，但 input 拿到的是文本，所以外面套一个 int 变成整数。然后开始条件判断：如果分数大于等于 90，打印 'A'；否则如果大于等于 70，打印 'B'；剩下的情况打印 '继续加油'。大家现在打开自己的编辑器，把这段代码敲进去，然后试着输入 95、80、60，看看输出分别是什么。等大家跑完，你会发现这个逻辑和我们生活里判断成绩一模一样——先看是否优秀，再看是否良好，最后是继续努力。接下来我们会学习如何让程序重复做这件事，不用每次都重新运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大家好，刚才我们用 if 来判断一次，现在我们要让电脑重复判断、重复做事。先看 while：猜数字游戏，只要猜不对就一直问。我会打开 IDLE 演示一个简单 while 循环：每次输入数字，错了就继续，对了就用 break 跳出。再演示 for：一个列表 [‘苹果’,‘香蕉’,‘橘子’]，用 for 水果 in 列表打印出来，清楚看到一次只取一个。注意，如果忘记在循环里修改条件，while 会变成无限循环，屏幕会疯狂输出，这时按 Ctrl+C 可以停下来。最后，请大家在电脑上试试：用 while 写一个倒计时，从 5 数到 0。接下来我们会看，当循环遇到 if，该怎么选择用谁。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大家在生活里其实一直在做这样的选择：只检查一次密码，用 if 就够了。已知今晚要读 3 页书，用 for 一页一页读。而如果练习一首曲子，你不知道练多少遍才能熟练，只能用 while 不断重复直到自己满意。现在请大家看屏幕，我们做一个判断练习：我会给出几个场景，你们说该用 if、for 还是 while。之后我们会进入列表和字典，它们经常陪 for 循环一起出现，让批量处理变得特别轻松。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已经能让程序记住一个个单独的信息，但如果要记住全班三十个同学的名字，一个个起名字就太累了。今天我们要认识“容器”，也就是能一次装下好多数据的结构，就像一个大盒子或者一本通讯录。我会先给你看一种叫“列表”的容器，它像一张有序的清单，你可以随时添加或删除。然后我们会看到“字典”，它像用钥匙找对应的值，比如用名字查电话号码。接下来让我们在代码里动手试试，直接对比这两种容器，你马上就能感受到它们的不同。翻开下一页，我们开始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刚才知道容器就是能装数据的盒子。现在看看两个最重要的盒子长什么样。大家想一下，如果我要记下今天食堂的菜单，适合用列表还是字典？对，列表，因为上菜顺序重要。但如果要记每个窗口的特色菜，比如“1号窗口：红烧肉”“2号窗口：炒青菜”，用字典更方便，你喊一声“1号窗口”就能知道是什么菜。好，我们先打开Python，实际操练一下列表的玩法，下一张我们就来解锁列表的独门绝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刚才我们看到了列表就像一个有序的容器，现在学习怎么操作它。首先是添加，用 .append()，新元素永远加到最后。删除用 .remove()，但要小心，如果元素不在列表里，程序会直接报错，一会儿我们动手试试看。修改很简单，通过下标直接赋值，别忘了下标从0开始。遍历用 for 循环，把每个元素取出来处理，之前学过的循环知识现在派上用场了。好，下面我们用一个购物清单的例子，把这些操作用起来，大家打开编辑器，跟我一起写。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刚才我们学了列表的增删改查，现在马上动手写一个购物清单，感受列表的便利。请你打开编辑器，跟我一起敲代码。第一步，创建空列表 `items = []`，就像拿出一张空白纸。第二步，用 `append` 加入'牛奶'和'面包'。运行看看，是不是打印出了一个列表？太棒了！现在，你来做主，再加一件你想买的东西，比如'薯片'，再运行一次。看到变化了吗？这个小小的列表，其实就是你数据处理的起点。下一节，我们将学习一种更神奇的容器——字典，它能像通讯录一样，用名字快速找到电话号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接下来请大家打开 Python 环境，我们动手做一个通讯录小工具。先回忆一下购物清单，它是列表，按位置取东西，但通讯录不一样——我们想通过名字马上查号码。Python 的字典就是专门干这个的。跟我一起敲：定义一个空字典 contacts，然后存小明、小红的号码。执行 print(contacts['小明'])，马上返回号码，比列表按索引找快得多。大家试试把自己的名字和号码存进去。学会字典后，下一节我们会把查号的动作封装起来，变成一个可以重复使用的函数，让代码更简洁。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在通讯录里，我们可能重复写了好几遍‘查找键，取出值’的代码。如果能把这段查找动作打包成一个命令，以后每次只要喊它的名字，它就会自动执行，该多省事。这就是函数——给一段代码起个名字，需要它时调用一下就行。比如，我们可以想象一个叫 print_contact 的小功能，每次想打印联系人时，直接用它，而不必重写那几行。接下来这张幻灯片，我们就用 def 这个关键词来创造第一个自己的函数，然后试着调用它。注意看冒号和缩进，它们是函数的‘代码块’标识。准备好动手了吗？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我们马上一起动手：先定义一个叫 say_hello 的函数，里面就一行 print('你好')，注意 def 后面的冒号和下面缩进的四个空格。然后下面另起一行，不缩进，写 say_hello() 调用它，看屏幕上打出打招呼。再加一个带参数的 add(a, b) 函数，里面 return a + b，调用 add(3, 5) 看看结果。记住，定义决定了技能怎么干，调用就是让它马上干。以后遇到任何需要重复做的事，第一个念头就是“能不能把它变成函数”。好，接下来我们把今天学过的所有概念串一遍，进入 30 分钟回顾。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我们仅仅花了 30 分钟，就走完了变量、条件、循环、列表、字典和函数这六大版块。还记得刚开始可能觉得陌生吗？现在你可以用变量存储数据，让程序按条件自动决策，用列表和字典整理信息，还能把重复逻辑封装成函数。举个例子，你刚刚写的计算器脚本，就综合了这些概念。接下来，我们把这些积木组合起来，做一个真正的小项目：猜数字游戏。我们会用到随机数、循环和条件判断，让代码和你互动起来。让我们试试看，把这些工具变成你的第一个完整应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刚才我们回顾了所有概念，现在就是动手的时刻。首先，推荐大家打开 repl.it，新建一个 Python 文件。我们一起尝试“猜数字”游戏的第一步：用一个变量保存答案，比如 answer = 7，然后用 input 让玩家猜，再结合条件判断告诉他是大了还是小了。别怕报错，每修一个错，你就学会一个新东西。继续迭代这个小项目，你就能把今天的内容全部串起来。接下来就交给大家，动手吧！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504438"/>
                </a:solidFill>
                <a:latin typeface="PingFang SC"/>
              </a:rPr>
              <a:t>Python 入门 30 分钟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B5A68F"/>
                </a:solidFill>
                <a:ea typeface="PingFang SC"/>
              </a:rPr>
              <a:t>从零开始，写出你的第一段代码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504438"/>
                </a:solidFill>
                <a:ea typeface="PingFang SC"/>
              </a:rPr>
              <a:t>今天你会学到什么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latin typeface="PingFang SC"/>
              </a:rPr>
              <a:t>Python像读英语一样，让你专注思考而不是复杂规则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ea typeface="PingFang SC"/>
              </a:rPr>
              <a:t>给信息起名字（变量），认识数字、文字等基本类型，让程序能和你对话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ea typeface="PingFang SC"/>
              </a:rPr>
              <a:t>用“如果…就…”做判断，用“重复做”让计算机不知疲倦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ea typeface="PingFang SC"/>
              </a:rPr>
              <a:t>用容器装下多个数据（列表），用钥匙找值（字典）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ea typeface="PingFang SC"/>
              </a:rPr>
              <a:t>把经常用的指令打包成积木块（函数），随时调用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614">
                <a:solidFill>
                  <a:srgbClr val="504438"/>
                </a:solidFill>
                <a:ea typeface="PingFang SC"/>
              </a:rPr>
              <a:t>动手拼装学过的零件，运行你的第一个Python程序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800" b="true">
                <a:solidFill>
                  <a:srgbClr val="C58B70"/>
                </a:solidFill>
                <a:ea typeface="PingFang SC"/>
              </a:rPr>
              <a:t>为什么学 Python？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B5A68F"/>
                </a:solidFill>
                <a:ea typeface="PingFang SC"/>
              </a:rPr>
              <a:t>简单到像在写句子，强大到能驱动人工智能——一个让想法快速变成现实的工具箱。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504438"/>
                </a:solidFill>
                <a:latin typeface="PingFang SC"/>
              </a:rPr>
              <a:t>Python 是什么？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B5A68F"/>
                </a:solidFill>
                <a:ea typeface="PingFang SC"/>
              </a:rPr>
              <a:t>一种让你像写便签一样和电脑对话的伙伴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读代码就像读简化版的英文句子，逻辑清晰、一目了然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不需要操心内存、硬盘这些幕后细节，Python 全帮你搞定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代码结构靠缩进对齐，像整理好的大纲一样自然分层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新手友好，能立刻做出可见成果，学起来信心十足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504438"/>
                </a:solidFill>
                <a:latin typeface="PingFang SC"/>
              </a:rPr>
              <a:t>Python 可以做什么？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B5A68F"/>
                </a:solidFill>
                <a:ea typeface="PingFang SC"/>
              </a:rPr>
              <a:t>它不是你想象中冷冰冰的代码，而是帮你把想法变成现实的工具箱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520" b="false">
                <a:solidFill>
                  <a:srgbClr val="B5A68F"/>
                </a:solidFill>
                <a:ea typeface="PingFang SC"/>
              </a:rPr>
              <a:t>无论你是想让工作更轻松，还是想探索技术的边界，Python 都会是你身边随叫随到的伙伴。接下来，我们就用一行代码，亲手推开这扇门。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30797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像搭乐高一样搭建网站——Instagram、豆瓣的后台都有Python的身影，你每天刷的应用可能就是用这把“乐高”拼出来的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给数据拍一张X光片——有了Python，成千上万行的表格瞬间变成清晰的图表，趋势和异常一目了然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雇一个不知疲倦的机器人助理——自动整理文件、定时发送邮件、批量处理表格，那些重复枯燥的活儿都可以交给它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让电脑学会“看”和“听”——识别照片里的猫、理解你说的话，这些曾经只在科幻片里的能力，现在你也能用几行代码体验到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504438"/>
                </a:solidFill>
                <a:ea typeface="PingFang SC"/>
              </a:rPr>
              <a:t>像骑自行车一样简单起步，却又能长成一辆越野车——开始的几分钟你就能跑起来，而未来的你可以用同一套语法去处理海量数据甚至训练人工智能</a:t>
            </a:r>
          </a:p>
        </p:txBody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504438"/>
                </a:solidFill>
                <a:ea typeface="PingFang SC"/>
              </a:rPr>
              <a:t>你的第一行代码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900" b="false">
                <a:solidFill>
                  <a:srgbClr val="504438"/>
                </a:solidFill>
                <a:latin typeface="PingFang SC"/>
              </a:rPr>
              <a:t>print('Hello, World!')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58B70"/>
                </a:solidFill>
                <a:ea typeface="PingFang SC"/>
              </a:rPr>
              <a:t>变量与数据类型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B5A68F"/>
                </a:solidFill>
                <a:ea typeface="PingFang SC"/>
              </a:rPr>
              <a:t>给数据起个好名字，就像给储物盒贴上标签一样简单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变量：给数据起名字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B5A68F"/>
                </a:solidFill>
                <a:ea typeface="PingFang SC"/>
              </a:rPr>
              <a:t>就像给收纳盒贴标签，随用随取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B5A68F"/>
                </a:solidFill>
                <a:ea typeface="PingFang SC"/>
              </a:rPr>
              <a:t>变量是编程中最基础的概念，就像给数据一个清晰的家。试着打开你的Python环境，输入`name = '你的名字'`，然后用`print(name)`看看效果吧！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变量是给数据起一个名字，让你在代码里能反复使用它，而不是每次都从头写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等号`=`在这里不是“相等”，而是“把右边的值放进左边的名字里”——比如`age = 25`就是把25存进叫age的盒子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盒子里的内容可以随时更换：`age = 26`后，age里就装的是26了，旧的值会被覆盖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起名字要见名知意：用`student_count`比用`x`好得多，别人一看就懂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名字的规矩：不能以数字开头，不能包含空格（用下划线`_`代替），也不能用Python内置的保留字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基本数据类型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B5A68F"/>
                </a:solidFill>
                <a:ea typeface="PingFang SC"/>
              </a:rPr>
              <a:t>编程里的值不止一种——分清数字和文字，是让程序听懂你指令的第一步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整数：像数数用的数字，没有小数点，比如年龄 25、库存数量 100、零下的温度 -5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浮点数：带小数点的数字，适合表达更精细的量，比如价格 9.99、身高 1.75、圆周率 3.14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字符串：一切文字信息，必须用引号“抱”起来，比如 '你好' 或 "Python"，告诉电脑这是文本不是数字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latin typeface="PingFang SC"/>
              </a:rPr>
              <a:t>type()：随身小侦探，把值或变量放进 type() 里，立刻告诉你它属于哪一类——就像查看物品标签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同一个变量可以换类型，但类型决定了能做哪些操作：数字能算账，文字能拼接，混在一起可能会闹脾气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数字 vs 字符串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数字间的 + 就是数学里的加法：3 + 5 得到 8，和我们直觉的算术完全一致。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字符串的 + 是把两段文字首尾相接：'3' + '5' 得到 '35'，就像把两张标签贴成一行。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用 input() 接收用户输入时，拿到的永远是字符串——直接相加会拼出意外的结果。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运算前先检查类型：用 type() 看一眼，需要计算时再用 int() 或 float() 把文字转成数字。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动手：变量赋值与打印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504438"/>
                </a:solidFill>
                <a:ea typeface="Menlo"/>
              </a:rPr>
              <a:t>你刚刚分别认识了变量和 print，现在我们把它们合在一起：定义两个变量，然后让程序既能介绍你，又能帮你算出明年的年龄。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变量命名小贴士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B5A68F"/>
                </a:solidFill>
                <a:ea typeface="PingFang SC"/>
              </a:rPr>
              <a:t>给变量起个好名字，让别人（也包括未来的自己）一眼就懂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名字只能用字母、数字和下划线「_」，不能包含空格或特殊符号（例如 my_score）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不能以数字开头，但可以用字母或下划线起头（例如 score1 ✅；1score ❌）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大小写严格区分：Name 和 name 是两个不同的“盒子”，互不影响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避开 Python 保留字（比如 if、for、while），否则代码会产生歧义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名字要有描述性，看到变量名就能猜到里面存的是什么（用 age 比用 a 更清晰）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504438"/>
                </a:solidFill>
                <a:ea typeface="PingFang SC"/>
              </a:rPr>
              <a:t>多个单词建议用下划线连接（user_name），这是 Python 社区的习惯写法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练一练：找错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504438"/>
                </a:solidFill>
                <a:ea typeface="Menlo"/>
              </a:rPr>
              <a:t>下面这段代码里有几个典型的初学者错误，试试找出它们，并在心里想好怎么改。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58B70"/>
                </a:solidFill>
                <a:ea typeface="PingFang SC"/>
              </a:rPr>
              <a:t>条件与循环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68F"/>
                </a:solidFill>
                <a:ea typeface="PingFang SC"/>
              </a:rPr>
              <a:t>开始让程序根据情况“动脑子”——不再只是从上到下傻傻执行，而是能判断、能重复。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条件判断：如果…就…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让程序学会根据不同的情况，做出不同的反应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if 就是“如果”：条件成立（是），就执行冒号下面缩进的代码块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elif 是“否则如果”：可以加多个分支，从上到下依次检查，遇到第一个满足的就执行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else 是最后的收尾：所有条件都不满足时执行，就像一个安全网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条件里用比较符号：== 判断相等（注意是两个等号），&gt;、&lt;、&gt;=、&lt;= 比较大小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缩进是 Python 的规矩：属于 if 的代码必须整齐向右缩进（通常 4 个空格），不然程序会报错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例子：成绩等级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504438"/>
                </a:solidFill>
                <a:ea typeface="Menlo"/>
              </a:rPr>
              <a:t>用 input() 获取用户输入的分数，并用 int() 将它变成数字（input 返回的是文字）</a:t>
            </a:r>
            <a:endParaRPr lang="en-US" sz="1100"/>
          </a:p>
          <a:p>
            <a:pPr algn="l"/>
            <a:r>
              <a:rPr lang="en-US" sz="1600" b="false">
                <a:solidFill>
                  <a:srgbClr val="504438"/>
                </a:solidFill>
                <a:ea typeface="Menlo"/>
              </a:rPr>
              <a:t>第一个判断：如果分数大于等于 90，直接打印 'A'（好厉害！）</a:t>
            </a:r>
          </a:p>
          <a:p>
            <a:pPr algn="l"/>
            <a:r>
              <a:rPr lang="en-US" sz="1600" b="false">
                <a:solidFill>
                  <a:srgbClr val="504438"/>
                </a:solidFill>
                <a:latin typeface="Menlo"/>
              </a:rPr>
              <a:t>elif 是“否则如果”——分数没到 90 但大于等于 70，打印 'B'</a:t>
            </a:r>
          </a:p>
          <a:p>
            <a:pPr algn="l"/>
            <a:r>
              <a:rPr lang="en-US" sz="1600" b="false">
                <a:solidFill>
                  <a:srgbClr val="504438"/>
                </a:solidFill>
                <a:latin typeface="Menlo"/>
              </a:rPr>
              <a:t>else 是“以上都不满足”——剩下的情况打印 '继续加油'，鼓励一下</a:t>
            </a:r>
          </a:p>
          <a:p>
            <a:pPr algn="l"/>
            <a:r>
              <a:rPr lang="en-US" sz="1600" b="false">
                <a:solidFill>
                  <a:srgbClr val="504438"/>
                </a:solidFill>
                <a:ea typeface="Menlo"/>
              </a:rPr>
              <a:t>试一试：分别输入 95、80、60，看看输出是不是 A、B、继续加油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循环：重复执行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让电脑不知疲倦地干活——两种让代码反复运行的方式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68F"/>
                </a:solidFill>
                <a:ea typeface="PingFang SC"/>
              </a:rPr>
              <a:t>循环就是把“重复做”这件事交给代码，从此不用再复制粘贴一百遍。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while：只要某个条件还是“真”，就继续做——像肚子饿了就再吃一口，直到吃饱为止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for：手里有一串东西，挨个拿出来处理——像按购物清单一件件拿，拿完为止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无限循环：条件永远成立，电脑就永远停不下来——记得给自己留个“刹车”（比如用 Ctrl+C 强制终止）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latin typeface="PingFang SC"/>
              </a:rPr>
              <a:t>break：循环里的紧急出口——一旦找到想要的东西，就用 break 立刻跳出，不浪费力气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小心：循环的“身体”要用缩进对齐——Python 只看缩进来决定哪几行是一块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latin typeface="PingFang SC"/>
              </a:rPr>
              <a:t>if 与 while 该怎么选？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一个简单的决策框架，帮你像聊天一样自然选择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68F"/>
                </a:solidFill>
                <a:ea typeface="PingFang SC"/>
              </a:rPr>
              <a:t>编程里的选择和你每天做决定很像——先想清楚次数，结构自然就出来了。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先问自己一个关键问题：这个动作或判断，需要重复做吗？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只做一次？用 if：就像手机解锁，验证对了就进入，错了就提示——一次结束。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确定要重复几次？用 for：已经知道购物车里有 5 件商品，逐件结算，不多不少。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不确定几次，只有条件满足时才继续？用 while：玩猜数字时，你不知道猜几次，只要没猜中就继续猜。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有时候 for 和 while 都能用，但 while 更擅长处理“未知终点”的任务，比如等待用户输入“退出”才停止。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58B70"/>
                </a:solidFill>
                <a:ea typeface="PingFang SC"/>
              </a:rPr>
              <a:t>列表与字典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B5A68F"/>
                </a:solidFill>
                <a:ea typeface="PingFang SC"/>
              </a:rPr>
              <a:t>像用收纳盒整理杂物一样，用一个名字轻松管理一大堆数据。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列表 vs 字典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列表像电影院的座位：第1排、第2排……按顺序坐下，通过位置编号找到人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字典像存取柜：你给物品贴上标签（比如“手机”“钱包”），找的时候喊标签就行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用起来也很直白：list[0] 拿第一个，list[1] 拿第二个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字典里就用标签代替数字：dict['名字'] 拿到这个人名，dict['电话'] 拿到号码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需要记住顺序时用列表——比如排名、待办清单；需要根据名字快速找到信息时用字典——比如通讯录、课程表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列表的常见操作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增删改查，一招一式，玩儿转你的数据清单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68F"/>
                </a:solidFill>
                <a:ea typeface="PingFang SC"/>
              </a:rPr>
              <a:t>这些是列表最常用的五个操作，接下来用购物清单实战，让代码跑起来！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添加：`列表.append('新元素')` —— 新物品总是排在末尾，就像排队结账。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删除：`列表.remove('元素')` —— 把不需要的东西“请”出去；注意，如果元素不存在，程序会报错。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修改：`列表[0] = '新值'` —— 直接替换指定位置的值，位置编号从0开始。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长度：`len(列表)` —— 帮你快速数出有多少个元素，像清点购物车物品。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遍历：`for item in 列表:` —— 一件一件取出每个元素，重复做同样的事，比如打印或检查。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动手：购物清单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504438"/>
                </a:solidFill>
                <a:ea typeface="Menlo"/>
              </a:rPr>
              <a:t>让我们用刚学会的列表操作，创建一个属于自己的购物清单。从空列表开始，一步步加入想买的东西，然后打印出来，就像真的在列清单一样！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动手：通讯录小工具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504438"/>
                </a:solidFill>
                <a:ea typeface="Menlo"/>
              </a:rPr>
              <a:t>字典不是靠排序来查找的列表，它更像一部手机通讯录：每个朋友都有唯一的名字（钥匙），你只需要知道名字，就能立刻找到对应的号码（值）。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58B70"/>
                </a:solidFill>
                <a:ea typeface="PingFang SC"/>
              </a:rPr>
              <a:t>函数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B5A68F"/>
                </a:solidFill>
                <a:ea typeface="PingFang SC"/>
              </a:rPr>
              <a:t>给一段代码起个名字，就像把常用积木变成你的专属积木块，随叫随到。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504438"/>
                </a:solidFill>
                <a:ea typeface="PingFang SC"/>
              </a:rPr>
              <a:t>定义并使用函数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B5A68F"/>
                </a:solidFill>
                <a:ea typeface="PingFang SC"/>
              </a:rPr>
              <a:t>把你教给电脑的本事打包成一个“技能”，以后叫它的名字就能用。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B5A68F"/>
                </a:solidFill>
                <a:ea typeface="PingFang SC"/>
              </a:rPr>
              <a:t>函数就像你手把手教会电脑的一个新招数，定义一次，随叫随到——再也不用把同样的代码复制粘贴得到处都是了。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用 def 给技能起名字，末尾加冒号，下面缩进的代码块就是这个技能要做的事——就像写一份固定步骤的食谱。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写好之后，只要写出名字加括号（比如 greet()），电脑就会按顺序执行你教的那套动作，一秒都不偷懒。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如果技能需要“食材”，就在括号里放变量名（例如 def add(a, b):）；调用时告诉它具体数值，它算完用 return 把结果递给你。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504438"/>
                </a:solidFill>
                <a:ea typeface="PingFang SC"/>
              </a:rPr>
              <a:t>把常用的操作封装成函数，代码就像整理好的工具箱：想改逻辑只动一处，所有用到它的地方自动更新，整洁又可重用。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504438"/>
                </a:solidFill>
                <a:latin typeface="PingFang SC"/>
              </a:rPr>
              <a:t>30 分钟回顾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你已经掌握了编程的核心积木：变量、循环、容器与函数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B5A68F"/>
                </a:solidFill>
                <a:ea typeface="PingFang SC"/>
              </a:rPr>
              <a:t>这些概念简单却强大，它们是所有软件的基础砖块。接下来，把它们组合成一个完整的小项目，你会更真切地体会编程的乐趣。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变量与数据类型：给信息起名字，比如 name = "小明"，让程序记住文字、数字等不同种类的内容。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条件与循环：用 if/elif 让程序自己做选择，用 while 重复执行，就像交通灯自动切换直到行人通过。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列表与字典：用方括号装下一串东西，像购物清单；用“钥匙找值”快速找到姓名对应的电话。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函数：把一段常用代码打包，起一个名字（def greet():），以后一行调用，不用再重写。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你从零开始，亲手写出了能跑的 Python 脚本——变量赋值、条件判断、循环计数、函数调用全都活起来了。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C58B70"/>
                </a:solidFill>
                <a:ea typeface="PingFang SC"/>
              </a:rPr>
              <a:t>下一步：写一个小项目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B5A68F"/>
                </a:solidFill>
                <a:ea typeface="PingFang SC"/>
              </a:rPr>
              <a:t>今天就可以做到的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写一个“猜数字”游戏：用变量存答案，用条件判断给提示，用循环反复猜，直到猜对。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用字典做一个简易翻译器：输入中文，用“钥匙找值”的方式输出对应的英文。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打开在线 Python 编辑器（如 repl.it），无需安装，立刻就能写代码、看结果。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504438"/>
                </a:solidFill>
                <a:ea typeface="PingFang SC"/>
              </a:rPr>
              <a:t>记住：编程是动手学会的，不是看会的。今天就去写你的第一行代码！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B5A68F"/>
          </a:solidFill>
          <a:ln>
            <a:solidFill>
              <a:srgbClr val="B5A68F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58B70"/>
          </a:solidFill>
          <a:ln>
            <a:solidFill>
              <a:srgbClr val="C58B7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