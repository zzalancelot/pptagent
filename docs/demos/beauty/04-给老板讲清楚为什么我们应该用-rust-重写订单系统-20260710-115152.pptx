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 id="269" r:id="rId34"/>
    <p:sldId id="270" r:id="rId36"/>
    <p:sldId id="271" r:id="rId38"/>
    <p:sldId id="272" r:id="rId40"/>
    <p:sldId id="273" r:id="rId42"/>
    <p:sldId id="274" r:id="rId44"/>
    <p:sldId id="275" r:id="rId46"/>
    <p:sldId id="276" r:id="rId48"/>
    <p:sldId id="277" r:id="rId50"/>
    <p:sldId id="278" r:id="rId52"/>
    <p:sldId id="279" r:id="rId54"/>
    <p:sldId id="280" r:id="rId56"/>
    <p:sldId id="281" r:id="rId58"/>
    <p:sldId id="28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notesSlides/notesSlide6.xml" Type="http://schemas.openxmlformats.org/officeDocument/2006/relationships/notesSlide"/><Relationship Id="rId2" Target="presProps.xml" Type="http://schemas.openxmlformats.org/officeDocument/2006/relationships/presProps"/><Relationship Id="rId20" Target="slides/slide7.xml" Type="http://schemas.openxmlformats.org/officeDocument/2006/relationships/slide"/><Relationship Id="rId21" Target="notesSlides/notesSlide7.xml" Type="http://schemas.openxmlformats.org/officeDocument/2006/relationships/notesSlide"/><Relationship Id="rId22" Target="slides/slide8.xml" Type="http://schemas.openxmlformats.org/officeDocument/2006/relationships/slide"/><Relationship Id="rId23" Target="notesSlides/notesSlide8.xml" Type="http://schemas.openxmlformats.org/officeDocument/2006/relationships/notesSlide"/><Relationship Id="rId24" Target="slides/slide9.xml" Type="http://schemas.openxmlformats.org/officeDocument/2006/relationships/slide"/><Relationship Id="rId25" Target="notesSlides/notesSlide9.xml" Type="http://schemas.openxmlformats.org/officeDocument/2006/relationships/notesSlide"/><Relationship Id="rId26" Target="slides/slide10.xml" Type="http://schemas.openxmlformats.org/officeDocument/2006/relationships/slide"/><Relationship Id="rId27" Target="notesSlides/notesSlide10.xml" Type="http://schemas.openxmlformats.org/officeDocument/2006/relationships/notesSlide"/><Relationship Id="rId28" Target="slides/slide11.xml" Type="http://schemas.openxmlformats.org/officeDocument/2006/relationships/slide"/><Relationship Id="rId29" Target="notesSlides/notesSlide11.xml" Type="http://schemas.openxmlformats.org/officeDocument/2006/relationships/notesSlide"/><Relationship Id="rId3" Target="viewProps.xml" Type="http://schemas.openxmlformats.org/officeDocument/2006/relationships/viewProps"/><Relationship Id="rId30" Target="slides/slide12.xml" Type="http://schemas.openxmlformats.org/officeDocument/2006/relationships/slide"/><Relationship Id="rId31" Target="notesSlides/notesSlide12.xml" Type="http://schemas.openxmlformats.org/officeDocument/2006/relationships/notesSlide"/><Relationship Id="rId32" Target="slides/slide13.xml" Type="http://schemas.openxmlformats.org/officeDocument/2006/relationships/slide"/><Relationship Id="rId33" Target="notesSlides/notesSlide13.xml" Type="http://schemas.openxmlformats.org/officeDocument/2006/relationships/notesSlide"/><Relationship Id="rId34" Target="slides/slide14.xml" Type="http://schemas.openxmlformats.org/officeDocument/2006/relationships/slide"/><Relationship Id="rId35" Target="notesSlides/notesSlide14.xml" Type="http://schemas.openxmlformats.org/officeDocument/2006/relationships/notesSlide"/><Relationship Id="rId36" Target="slides/slide15.xml" Type="http://schemas.openxmlformats.org/officeDocument/2006/relationships/slide"/><Relationship Id="rId37" Target="notesSlides/notesSlide15.xml" Type="http://schemas.openxmlformats.org/officeDocument/2006/relationships/notesSlide"/><Relationship Id="rId38" Target="slides/slide16.xml" Type="http://schemas.openxmlformats.org/officeDocument/2006/relationships/slide"/><Relationship Id="rId39" Target="notesSlides/notesSlide16.xml" Type="http://schemas.openxmlformats.org/officeDocument/2006/relationships/notesSlide"/><Relationship Id="rId4" Target="theme/theme1.xml" Type="http://schemas.openxmlformats.org/officeDocument/2006/relationships/theme"/><Relationship Id="rId40" Target="slides/slide17.xml" Type="http://schemas.openxmlformats.org/officeDocument/2006/relationships/slide"/><Relationship Id="rId41" Target="notesSlides/notesSlide17.xml" Type="http://schemas.openxmlformats.org/officeDocument/2006/relationships/notesSlide"/><Relationship Id="rId42" Target="slides/slide18.xml" Type="http://schemas.openxmlformats.org/officeDocument/2006/relationships/slide"/><Relationship Id="rId43" Target="notesSlides/notesSlide18.xml" Type="http://schemas.openxmlformats.org/officeDocument/2006/relationships/notesSlide"/><Relationship Id="rId44" Target="slides/slide19.xml" Type="http://schemas.openxmlformats.org/officeDocument/2006/relationships/slide"/><Relationship Id="rId45" Target="notesSlides/notesSlide19.xml" Type="http://schemas.openxmlformats.org/officeDocument/2006/relationships/notesSlide"/><Relationship Id="rId46" Target="slides/slide20.xml" Type="http://schemas.openxmlformats.org/officeDocument/2006/relationships/slide"/><Relationship Id="rId47" Target="notesSlides/notesSlide20.xml" Type="http://schemas.openxmlformats.org/officeDocument/2006/relationships/notesSlide"/><Relationship Id="rId48" Target="slides/slide21.xml" Type="http://schemas.openxmlformats.org/officeDocument/2006/relationships/slide"/><Relationship Id="rId49" Target="notesSlides/notesSlide21.xml" Type="http://schemas.openxmlformats.org/officeDocument/2006/relationships/notesSlide"/><Relationship Id="rId5" Target="tableStyles.xml" Type="http://schemas.openxmlformats.org/officeDocument/2006/relationships/tableStyles"/><Relationship Id="rId50" Target="slides/slide22.xml" Type="http://schemas.openxmlformats.org/officeDocument/2006/relationships/slide"/><Relationship Id="rId51" Target="notesSlides/notesSlide22.xml" Type="http://schemas.openxmlformats.org/officeDocument/2006/relationships/notesSlide"/><Relationship Id="rId52" Target="slides/slide23.xml" Type="http://schemas.openxmlformats.org/officeDocument/2006/relationships/slide"/><Relationship Id="rId53" Target="notesSlides/notesSlide23.xml" Type="http://schemas.openxmlformats.org/officeDocument/2006/relationships/notesSlide"/><Relationship Id="rId54" Target="slides/slide24.xml" Type="http://schemas.openxmlformats.org/officeDocument/2006/relationships/slide"/><Relationship Id="rId55" Target="notesSlides/notesSlide24.xml" Type="http://schemas.openxmlformats.org/officeDocument/2006/relationships/notesSlide"/><Relationship Id="rId56" Target="slides/slide25.xml" Type="http://schemas.openxmlformats.org/officeDocument/2006/relationships/slide"/><Relationship Id="rId57" Target="notesSlides/notesSlide25.xml" Type="http://schemas.openxmlformats.org/officeDocument/2006/relationships/notesSlide"/><Relationship Id="rId58" Target="slides/slide26.xml" Type="http://schemas.openxmlformats.org/officeDocument/2006/relationships/slide"/><Relationship Id="rId59" Target="notesSlides/notesSlide26.xml" Type="http://schemas.openxmlformats.org/officeDocument/2006/relationships/notesSlide"/><Relationship Id="rId6" Target="slides/slide1.xml" Type="http://schemas.openxmlformats.org/officeDocument/2006/relationships/slide"/><Relationship Id="rId60" Target="slides/slide27.xml" Type="http://schemas.openxmlformats.org/officeDocument/2006/relationships/slide"/><Relationship Id="rId61" Target="notesSlides/notesSlide27.xml" Type="http://schemas.openxmlformats.org/officeDocument/2006/relationships/note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大促期间的每一次订单超时，都是以千万计的真金白银流失。现有 Python 系统已触及性能天花板，我们必须在下一个大促前做出改变。今天我将从商业回报的角度，说明为什么 Rust 重写是我们当下唯一正确的战略决策。</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今天我会用大约三十分钟，先讲清大促超时对我们生意的真实影响，然后解释为什么现有系统很难再撑过下一个增长期。之后我会介绍 Rust 为什么是实现质变的关键，以及我们怎样分阶段安全落地。最后我会给出明确的投资回报测算，帮助各位在本次会议中做出方向性决策。</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上一页我们明确了今天要一起决策的议程。现在，请允许我带各位进入一个真实的压力场景。想象零点刚过，订单洪峰涌来，系统响应从毫秒掉到秒级，支付开始报错，客服电话瞬间被打爆。这不是电影桥段，去年双11我们就经历了这样的至暗时刻。接下来的一张幻灯片，会用具体数字还原那场事故的真实冲击。</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请大家看屏幕上的折线图，它清晰地展示了去年双11我们系统崩溃的严重程度。零点流量一冲进来，订单超时率瞬间突破到15%——这相当于每100个想付款的客户里，有15人直接交易失败。按照我们当时的客单价，仅仅1%的超时率损失就接近200万，当天我们光在这一项上的直接收入损失就过于巨大。更要命的是，大量用户在卡顿后就再也不回来了，我们花了上千万引流，结果在最后一步把这些用户推给了竞争对手。我们的核心工程师们连续36小时通宵救火，本该做架构升级和业务创新的人，却在反复抢救一个已知的脆弱点。这些真金白银的代价告诉我们，这已经不是一个技术问题，而是动摇收入根基的战略风险。接下来我们来深挖，到底是什么导致了这样的系统性故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前面我们看到，一次大促的超时就能造成千万级收入损失。这不是偶然的运维事故，而是现有 Python 系统在处理爆发式订单时暴露的架构性瓶颈。接下来，我会用最直观的方式解释，为什么我们的系统在关键流量瞬间“喘不过气”，而这个问题靠扩容和调优已经无法根治。更重要的是，这将成为我们计算后续 Rust 重投 ROI 的起点。</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大家可以想象一个场景：我们门店明明有8个收银台，但系统规定只能有一个收银员工作，其他收银员只能干看着。当顾客蜂拥而至，队伍越排越长，但其他收银台空着。这就是Python的GIL锁机制。我们现在的订单系统，在大促时就是这个状态。每一笔订单都要排队经过那个唯一的‘收银员’，这就是为什么我们CPU虽然用了90%，但实际上只是单核在满负荷运转。结果就是订单处理越来越慢，直到超时。我们曾经试图增加服务器，但这就像是增加门店但每个门店还是只有一个收银员，边际效果递减，成本却直线上升。接下来我们看看，这种技术选型除了服务器成本，还隐藏了哪些更大的商业损失。</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让我们正视这些隐性成本。比如去年双十一，我们临时扩容花了50万，但因为系统短暂不可用，造成的直接退款和投诉处理成本高达200万，还不算品牌形象损伤。更痛心的是，我们的优秀工程师因为频繁救火而精疲力竭，今年已有两位骨干离职，招聘替代成本每人至少是年薪的1.5倍。而当市场部提出新的秒杀创意时，CTO却因系统风险否决，这等于我们主动放弃了增长机会。这些成本叠加起来，早已超过硬件的数倍。接下来，让我们听听一线团队自己的感受，了解他们每天面对的困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是技术总监张工在上一次大促复盘会上的原话。他带领的团队整夜守在屏幕前，随时准备手动干预超时的订单。不是修系统，是救火——这背后是技术债的恶性循环。每次大促都像赌博，赌系统不会崩，赌营收不会跳水。这种状态已触及管理底线，团队疲惫不堪，业务风险不可接受。下一章，我们转向那个从根本上消除“赌博”的方案——用Rust重写。</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一线同事的反馈已经让我们意识到，现有系统的瓶颈不是人的问题，而是技术地基的问题。现在，我们进入一个充满希望的篇章：用 Rust 这门为极致性能设计的语言来根治顽疾。它不是简单的替代，而是一次战略级能力跃迁。下一页我将用一个直观的对比，让大家看到 Python 与 Rust 在处理并发时几乎不在同一量级。在座各位可能会吃惊，这种差距直接决定了当流量洪峰来临时，我们是丢掉订单还是稳稳收割。</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这个对比不是纸上谈兵，我们已经在测试集群上模拟了去年双11的真实流量。同一套4核服务器，Python 版本 CPU 瞬间飙到 92%，响应延迟超过 3 秒，大量请求直接拒绝。切换到 Rust 版本后，CPU 稳稳停在 27%，响应始终保持在 100 毫秒以内，订单处理如同流水线一样顺畅。这意味着明年的零点，我们再也不用全员值守手动扩容，也不用坐在仪表盘前为每一秒的卡顿出汗。接下来，我要给大家看 Rust 另一个让你睡得着觉的能力——它如何在编译期就把低级错误挡在门外。</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我们回顾一下去年双11深夜，支付服务由于一个看似简单的空指针异常，宕机了十二分钟，直接失去价值两百万的订单。如果用 Rust 编写，这个错误根本不会进入生产环境——编译器在开发者保存代码时就会明确指出问题。这就是所谓的‘零成本抽象’的实际价值：高级的保障却不牺牲性能。让我展示一个例子：同样实现扣款逻辑，我们的 Python 代码可能遗留未处理的 None 值，而 Rust 编译器强制你必须处理所有情况，否则编译失败。这意味着质量前置，而不是事后救火。下一张幻灯片，我会回应另一个常见疑虑：Rust 的生态是否足以支撑我们的业务？</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很多决策者担心新语言的生态成熟度，但 Rust 已经过了临界点。字节跳动的数据流服务就使用 Actix‑web 每天处理数百亿条消息，完全压测通过。我们的数据库和消息队列都有对应的 Rust 驱动，比如 Diesel 可以直接对接现有的 PostgreSQL 订单库，不需要修改数据库结构。社区活跃度看 crates.io 下载量，过去两年增长了三倍，关键网络库如 Actix‑web 拥有全职维护人员。因此，我们有信心现在就开始用 Rust 逐步替换 Python 的热点，而不会陷入未知坑。接下来我们讨论为什么现在是最佳窗口期。</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各位，我们不妨看看行业验证的先例。Shopify 在 2019 年将核心结账服务用 Rust 重写，不但抗住了黑色星期五的流量洪峰，还使转化率提升了 6%，错误率下降了 70%——这直接转化为数千万美元的增量收入。我们的团队也已经不是纸上谈兵，两位先行者已经开始在非关键模块跑通 Rust 的方案，验证了整套技术栈的可行性。比起两年前，今天起跑的支撑力强了太多。下一步，我们可以看看这个决策如何从长期视角改变我们的成本结构，让每一分研发投入都产生更高的回报。</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这张对比图非常直观：蓝色折线代表 Python，初始几乎为零，但每个大促周期后都因为补丁和事故处理，成本阶梯式上升；橙色折线代表 Rust，前端有学习投入，但自第 6 个月起维修工时大幅下降，十个月后总成本已低于 Python。我们可以看一个真实场景：去年双十一的订单超时事故，研发团队花了整整两周复盘和修补，这相当于一个季度迭代的工时凭空消失。换成 Rust，同样的并发缺陷在编译时就会被拦截。这些节省下来的工程师时间，可以投入到真正创造收入的功能上。这直接衔接到下一张幻灯片——要落地 Rust，我们需要怎样的人才组合，以及我们已有的内部储备如何支撑这个转型。</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知道大家最担心的是：团队能不能跟上？所以我们设计了一条“老兵带新枪”的路线。目前有6名核心工程师已经开始实战化训练，上周他们用Rust重构了订单价格计算片段，性能直接提升了20倍，而且代码行数更少，这让团队信心大增。对外招聘的信号也很积极，我们发布的Rust职位一周内收到超过60份高质量简历，其中不乏有高频交易系统背景的候选人。我们不会要求团队一步到位，而是采取混合架构：新的风控模块用Rust写，老的订单查询服务保持Python，由种子骨干与新人结对开发，就像当年从PHP迁到Python那样平滑。这样一来，每一周都有可交付的进展，不出现空转期，而且关键模块不再只有一个人能碰。下一步，我会详细展示我们用双轨运行机制怎么确保切换过程零中断、零收入损失。</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来看一下双轨运行在实际中如何保护业务。去年双十一压力测试时，新系统在30%流量下出现订单超时率轻微上升。我们立即一键将所有流量切回老系统，整个过程用户毫无感知。团队定位并修复问题后，第二天再次逐步放量，最终平稳支撑了全部高峰流量。这种可进可退的机制意味着我们绝不以公司收入做赌注。接下来，我将分享一个头部电商采用同样策略后成本降低40%的真实案例，进一步验证这一路径的长期收益。</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这家电商与我们面临相似的痛点——大促订单超时和系统崩溃。他们通过用 Rust 重写订单核心服务，让响应时间降低到 0.3 秒，转化率大幅提升。而且，他们的维护团队规模没有增加，却轻松扛住了 3 倍流量。关键是迁移风险可控：他们采用了双轨运行，新旧系统并行，逐步切换流量。这证明了 Rust 的战略投资回报是真实且快速的。有了这个先例，我们完全有信心参照他们的路径，在 12 个月内安全落地。</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我们已经看到头部电商通过 Rust 获得了实际收益，现在进入最关键的部分——如何在我们自己的系统里安全落地。这个路线图的核心思路是“双轨运行、小步快跑”，绝不搞一次性大切换。接下来我会分三个阶段详细拆解，首先从最基础的环境搭建和团队准备开始。每一步都设定了明确的业务验收标准，确保不影响日常大促和订单处理。让我们开始第一阶段。</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1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各位可能好奇，为什么我们要花三个月做这些看不见收入的事？事实上，这就像建造摩天大楼前必须深挖地基。一旦地基不稳，上面建得越快，倒塌的风险越大。通过自动化测试和性能基准，我们能够量化 Rust 带来的惊人提升，比如将订单处理延迟从秒级压缩到毫秒级。三个月后，我会邀请各位观看一次内部演示：新系统核心在影子流量下稳定运行，处理速度是旧系统的数倍。到那时，我们就可以信心十足地进入大规模功能迁移阶段，用实际数据驱动决策。</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第二阶段是整个重写计划的核心，工程师团队将聚焦于三条最繁忙、最影响收入的链路：订单创建、支付回调、库存扣减。举个例子，去年大促时订单创建平均响应时间超过两秒，导致大量用户放弃支付，直接拉低了千万级成交额。迁移到 Rust 后，我们预期该响应时间降至一百毫秒以内，从根源上守住收入。为了安全切换，我们不会一下子全部更换，而是先构建一个精密的流量分配器——就像在做心脏手术时有一台体外循环机——可以从1%的真实用户开始引流，随时对比新旧系统的表现，任何异常都可瞬间回滚。内部压力测试会回放近两年大促的真实流量，并将并发量翻倍施压，只有所有指标（时延、错误率、吞吐）都稳定达标，我们才会宣布这个阶段完成。一旦通过，我们的新交易引擎就具备了金融级的可靠性，下一阶段就可以自信地走向真实的灰度上线。</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这是整个项目落地最有说服力的一段。我们先导入 1% 流量验证一周，就像给新发动机做怠速测试，一旦订单错误率维持为零，我们才有底气继续。流量爬坡到 50% 时，业务团队会明显感觉系统响应快得多，之前的投诉会自然消失。全量切换后，旧机群静默待命三天，即便发生极小概率问题也能在几分钟内回滚，对生意毫无影响。下线旧系统那一刻，我们马上释放冗余成本——这不仅是项目交付，更是成本优化的兑现。接下来，我将带您看量化这些收益的 ROI 模型，这些数字同样令人印象深刻。</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请看这张图，我们用实实在在的数字来呈现这次重写的投资回报。左边我们列出了一次性的研发和培训投入，总共480万，这是我们唯一的成本池。右边是每年可以挽回的两块收益：第一块是直接止损，去年大促因为订单超时我们账面上损失了300万，Rust 系统上线后这个漏洞将被彻底堵上；第二块是运维侧的减负，团队不再需要疲于奔命救火，保守估计能省出50万的人力成本。用总投入除以每年350万的净收益，我们只需要不到两年就能收回成本。更长远地看，如果把这个项目当做一笔5年期投资，其净现值超过1100万，这在公司所有技术项目中属于回报确定性最强的一个。接下来，我们也会坦诚地讨论这个项目有哪些风险，以及我们已经准备好的应对方案。</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上一页的ROI计算让我们看到了项目的巨大商业回报，但任何战略级改造都无法忽视风险。我们团队没有回避不确定性，而是用工程化的方式梳理了所有潜在阻碍。接下来的几页，我们会逐一披露技术、业务和组织层面的主要风险，并详细说明我们已经设计好的缓释措施。例如，双轨运行方案能确保在新老系统切换期间，现有业务零中断。通过这些准备，我们完全有能力将风险控制在可接受的范围内，让决策层可以放心批准项目启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或许会担忧这些风险，但我们之所以公开列出，恰恰因为我们对每条都有备案。例如学习曲线，同类项目前两个月的进度延缓通常在15%到25%之间，我们预估20%并已安排好资深Rust架构师驻场带教。双系统维护的短期成本会增加，但若对比去年大促因超时导致的单日订单流失，这笔投入完全在可控范围。下一张幻灯片我将逐一展示我们的应对方案，让各位看到风险管理的全貌，从而确信这不是冒险，而是一次可控的升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上一张幻灯片我们坦诚列出了主要风险，而这一页的每一项对策都是针对那些风险的专属盾牌。比如，提前启动培训并安排外部导师，可以确保团队在项目中期就具备独立开发能力，不会因为学习曲线导致关键节点延期。在预生产环境，我们会模拟两倍于大促峰值的流量进行压力测试，提前把系统的抗压能力验证到极致。双轨运行让我们能够用真实的用户流量逐步校验新系统，而一键回滚机制，就像一把随时可用的安全伞，哪怕在最极端的情况下，几十秒内就能切换回旧系统，用户完全无感。这些措施让我们的项目从第一天起就处于高度可控的状态，为接下来要讨论的商业价值回报提供了最坚实的风险屏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以上四个价值并不是理想化的推演。从收入看，去年大促因超时直接造成的订单损失超过八百万，新系统可将并发处理能力提升一个数量级，彻底填平这个缺口。成本端，试点显示单服务器吞吐量提升 5 倍，意味着我们可以用更少机器扛住更大流量，每年节省可观的云支出。风险维度，我们不再需要战战兢兢地祈祷系统别挂，而是拥有确定性的可靠保障，这对品牌信誉的影响远超账面数字。团队能力的提升同样是长期资产，优秀工程师会因为技术栈而加入我们。这四个价值环环相扣，构成了一笔清晰的战略投资。下面，我会提出具体的立项请求，让我们把这笔账落实到行动上。</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今天我们已经看到了 Python 系统的极限，也看到了 Rust 带来的确定性收益。480 万的预算分阶段释放，我们首先用 200 万启动，在里程碑证明后再投入后续资金，风险完全可控。专项组将抽调最熟悉订单业务的骨干，结合外部 Rust 专家，确保项目质量。如果本季度启动，我们可以在 10 月前完成双轨运行，赶上双 11 进行影子验证，春节旺季前完成全量切换。这是我们巩固市场领导地位、保障收入增长的最佳时机，我希望今天能得到您的首肯，开启新篇章。</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E363A"/>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5280" b="true">
                <a:solidFill>
                  <a:srgbClr val="D0D6DA"/>
                </a:solidFill>
                <a:ea typeface="PingFang SC"/>
              </a:rPr>
              <a:t>为什么是 Rust？重构订单系统，赢在下一个大促</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090" b="false">
                <a:solidFill>
                  <a:srgbClr val="8899A6"/>
                </a:solidFill>
                <a:ea typeface="PingFang SC"/>
              </a:rPr>
              <a:t>给 CEO 的决策建议书</a:t>
            </a:r>
            <a:endParaRPr lang="en-US" sz="1100"/>
          </a:p>
        </p:txBody>
      </p:sp>
      <p:sp>
        <p:nvSpPr>
          <p:cNvPr name="AutoShape 4" id="4"/>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D0D6DA"/>
                </a:solidFill>
                <a:ea typeface="PingFang SC"/>
              </a:rPr>
              <a:t>今天我们要谈的</a:t>
            </a:r>
            <a:endParaRPr lang="en-US" sz="1100"/>
          </a:p>
        </p:txBody>
      </p:sp>
      <p:sp>
        <p:nvSpPr>
          <p:cNvPr name="TextBox 3" id="3"/>
          <p:cNvSpPr txBox="true"/>
          <p:nvPr/>
        </p:nvSpPr>
        <p:spPr>
          <a:xfrm>
            <a:off x="609600" y="21907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D0D6DA"/>
                </a:solidFill>
                <a:ea typeface="PingFang SC"/>
              </a:rPr>
              <a:t>危机与代价：大促超时如何直接侵蚀收入和客户信任</a:t>
            </a:r>
          </a:p>
          <a:p>
            <a:pPr algn="l">
              <a:spcBef>
                <a:spcPct val="10000"/>
              </a:spcBef>
              <a:buFont typeface="Arial"/>
              <a:buChar char="•"/>
            </a:pPr>
            <a:r>
              <a:rPr lang="en-US" sz="1900">
                <a:solidFill>
                  <a:srgbClr val="D0D6DA"/>
                </a:solidFill>
                <a:ea typeface="PingFang SC"/>
              </a:rPr>
              <a:t>技术诊断：Python 的架构天花板为什么是增长瓶颈</a:t>
            </a:r>
          </a:p>
          <a:p>
            <a:pPr algn="l">
              <a:spcBef>
                <a:spcPct val="10000"/>
              </a:spcBef>
              <a:buFont typeface="Arial"/>
              <a:buChar char="•"/>
            </a:pPr>
            <a:r>
              <a:rPr lang="en-US" sz="1900">
                <a:solidFill>
                  <a:srgbClr val="D0D6DA"/>
                </a:solidFill>
                <a:ea typeface="PingFang SC"/>
              </a:rPr>
              <a:t>破局方案：Rust 如何一次性解决稳定性与性能难题</a:t>
            </a:r>
          </a:p>
          <a:p>
            <a:pPr algn="l">
              <a:spcBef>
                <a:spcPct val="10000"/>
              </a:spcBef>
              <a:buFont typeface="Arial"/>
              <a:buChar char="•"/>
            </a:pPr>
            <a:r>
              <a:rPr lang="en-US" sz="1900">
                <a:solidFill>
                  <a:srgbClr val="D0D6DA"/>
                </a:solidFill>
                <a:ea typeface="PingFang SC"/>
              </a:rPr>
              <a:t>稳健落地：双轨运行、流量切换的十二个月路线图</a:t>
            </a:r>
          </a:p>
          <a:p>
            <a:pPr algn="l">
              <a:spcBef>
                <a:spcPct val="10000"/>
              </a:spcBef>
              <a:buFont typeface="Arial"/>
              <a:buChar char="•"/>
            </a:pPr>
            <a:r>
              <a:rPr lang="en-US" sz="1900">
                <a:solidFill>
                  <a:srgbClr val="D0D6DA"/>
                </a:solidFill>
                <a:ea typeface="PingFang SC"/>
              </a:rPr>
              <a:t>投资回报：评估重写投入与挽回损失的长期收益</a:t>
            </a:r>
          </a:p>
        </p:txBody>
      </p:sp>
      <p:sp>
        <p:nvSpPr>
          <p:cNvPr name="AutoShape 4" id="4"/>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800" b="true">
                <a:solidFill>
                  <a:srgbClr val="5E7A8C"/>
                </a:solidFill>
                <a:ea typeface="PingFang SC"/>
              </a:rPr>
              <a:t>危机：增长的代价</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090" b="false">
                <a:solidFill>
                  <a:srgbClr val="8899A6"/>
                </a:solidFill>
                <a:ea typeface="PingFang SC"/>
              </a:rPr>
              <a:t>业务每一轮高速增长，都在暴露现有系统无法量化的隐性成本</a:t>
            </a:r>
            <a:endParaRPr lang="en-US" sz="1100"/>
          </a:p>
        </p:txBody>
      </p:sp>
      <p:sp>
        <p:nvSpPr>
          <p:cNvPr name="AutoShape 4" id="4"/>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D0D6DA"/>
                </a:solidFill>
                <a:latin typeface="PingFang SC"/>
              </a:rPr>
              <a:t>2024 双11：订单超时之痛</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709" b="false">
                <a:solidFill>
                  <a:srgbClr val="8899A6"/>
                </a:solidFill>
                <a:ea typeface="PingFang SC"/>
              </a:rPr>
              <a:t>去年大促的惨痛代价：系统瓶颈直接转化为收入流失、成本攀升与品牌危机</a:t>
            </a:r>
            <a:endParaRPr lang="en-US" sz="1100"/>
          </a:p>
        </p:txBody>
      </p:sp>
      <p:sp>
        <p:nvSpPr>
          <p:cNvPr name="TextBox 4" id="4"/>
          <p:cNvSpPr txBox="true"/>
          <p:nvPr/>
        </p:nvSpPr>
        <p:spPr>
          <a:xfrm>
            <a:off x="609600" y="21907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D0D6DA"/>
                </a:solidFill>
                <a:ea typeface="PingFang SC"/>
              </a:rPr>
              <a:t>订单超时率峰值达15%，每降低1%即可挽回约200万元直接收入，同时避免后续客户流失的隐性损失</a:t>
            </a:r>
          </a:p>
          <a:p>
            <a:pPr algn="l">
              <a:spcBef>
                <a:spcPct val="10000"/>
              </a:spcBef>
              <a:buFont typeface="Arial"/>
              <a:buChar char="•"/>
            </a:pPr>
            <a:r>
              <a:rPr lang="en-US" sz="1900">
                <a:solidFill>
                  <a:srgbClr val="D0D6DA"/>
                </a:solidFill>
                <a:ea typeface="PingFang SC"/>
              </a:rPr>
              <a:t>大量用户在支付环节因卡顿放弃下单，转化率断崖式下滑，当天营销投入与流量成本付诸东流</a:t>
            </a:r>
          </a:p>
          <a:p>
            <a:pPr algn="l">
              <a:spcBef>
                <a:spcPct val="10000"/>
              </a:spcBef>
              <a:buFont typeface="Arial"/>
              <a:buChar char="•"/>
            </a:pPr>
            <a:r>
              <a:rPr lang="en-US" sz="1900">
                <a:solidFill>
                  <a:srgbClr val="D0D6DA"/>
                </a:solidFill>
                <a:ea typeface="PingFang SC"/>
              </a:rPr>
              <a:t>核心技术团队被迫通宵处理重复性故障，高薪人才长期消耗于低价值救火，研发创新停滞</a:t>
            </a:r>
          </a:p>
          <a:p>
            <a:pPr algn="l">
              <a:spcBef>
                <a:spcPct val="10000"/>
              </a:spcBef>
              <a:buFont typeface="Arial"/>
              <a:buChar char="•"/>
            </a:pPr>
            <a:r>
              <a:rPr lang="en-US" sz="1900">
                <a:solidFill>
                  <a:srgbClr val="D0D6DA"/>
                </a:solidFill>
                <a:ea typeface="PingFang SC"/>
              </a:rPr>
              <a:t>客户遭遇交易失败后对平台信任度大幅下降，合作伙伴与商家信心动摇，长期品牌价值遭受侵蚀</a:t>
            </a:r>
          </a:p>
        </p:txBody>
      </p:sp>
      <p:sp>
        <p:nvSpPr>
          <p:cNvPr name="AutoShape 5" id="5"/>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000" b="true">
                <a:solidFill>
                  <a:srgbClr val="5E7A8C"/>
                </a:solidFill>
                <a:ea typeface="PingFang SC"/>
              </a:rPr>
              <a:t>问题剖析：为什么 Python 不够用了</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899A6"/>
                </a:solidFill>
                <a:ea typeface="PingFang SC"/>
              </a:rPr>
              <a:t>从千万级损失到架构天花板：我们需要正视真正的技术瓶颈</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真正的瓶颈：并发处理能力</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大促爆单时，Python 的单核排队逻辑正在让收入白白流失</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899A6"/>
                </a:solidFill>
                <a:ea typeface="PingFang SC"/>
              </a:rPr>
              <a:t>这不是服务器不够的问题，而是 Python 的架构短板让我们无法在关键战役中取胜。每一次大促，我们都在用真金白银为这个技术天花板买单。</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1700">
                <a:solidFill>
                  <a:srgbClr val="D0D6DA"/>
                </a:solidFill>
                <a:latin typeface="PingFang SC"/>
              </a:rPr>
              <a:t>Python 的全局解释器锁（GIL）强制所有请求排队，无论多少核心，同一时刻只能处理一个订单步骤。</a:t>
            </a:r>
          </a:p>
          <a:p>
            <a:pPr algn="l">
              <a:spcBef>
                <a:spcPct val="6000"/>
              </a:spcBef>
              <a:buFont typeface="Arial"/>
              <a:buChar char="•"/>
            </a:pPr>
            <a:r>
              <a:rPr lang="en-US" sz="1700">
                <a:solidFill>
                  <a:srgbClr val="D0D6DA"/>
                </a:solidFill>
                <a:ea typeface="PingFang SC"/>
              </a:rPr>
              <a:t>如同一个收银台面对大促洪流——你有8条收银通道，却只能开放1条，顾客越排越多。</a:t>
            </a:r>
          </a:p>
          <a:p>
            <a:pPr algn="l">
              <a:spcBef>
                <a:spcPct val="6000"/>
              </a:spcBef>
              <a:buFont typeface="Arial"/>
              <a:buChar char="•"/>
            </a:pPr>
            <a:r>
              <a:rPr lang="en-US" sz="1700">
                <a:solidFill>
                  <a:srgbClr val="D0D6DA"/>
                </a:solidFill>
                <a:ea typeface="PingFang SC"/>
              </a:rPr>
              <a:t>实测数据显示：流量高峰时，订单系统 CPU 使用率超 90%，但其余核心几乎完全闲置，资源严重浪费。</a:t>
            </a:r>
          </a:p>
          <a:p>
            <a:pPr algn="l">
              <a:spcBef>
                <a:spcPct val="6000"/>
              </a:spcBef>
              <a:buFont typeface="Arial"/>
              <a:buChar char="•"/>
            </a:pPr>
            <a:r>
              <a:rPr lang="en-US" sz="1700">
                <a:solidFill>
                  <a:srgbClr val="D0D6DA"/>
                </a:solidFill>
                <a:ea typeface="PingFang SC"/>
              </a:rPr>
              <a:t>我们曾试图通过增加服务器来缓解，但每增加一台服务器，只能增加一个单核进程，且跨进程协调成本急剧上升。</a:t>
            </a:r>
          </a:p>
          <a:p>
            <a:pPr algn="l">
              <a:spcBef>
                <a:spcPct val="6000"/>
              </a:spcBef>
              <a:buFont typeface="Arial"/>
              <a:buChar char="•"/>
            </a:pPr>
            <a:r>
              <a:rPr lang="en-US" sz="1700">
                <a:solidFill>
                  <a:srgbClr val="D0D6DA"/>
                </a:solidFill>
                <a:ea typeface="PingFang SC"/>
              </a:rPr>
              <a:t>边际收益曲线陡降：第10台服务器带来的性能提升不到第1台的15%，而成本却等比例增加。</a:t>
            </a:r>
          </a:p>
          <a:p>
            <a:pPr algn="l">
              <a:spcBef>
                <a:spcPct val="6000"/>
              </a:spcBef>
              <a:buFont typeface="Arial"/>
              <a:buChar char="•"/>
            </a:pPr>
            <a:r>
              <a:rPr lang="en-US" sz="1700">
                <a:solidFill>
                  <a:srgbClr val="D0D6DA"/>
                </a:solidFill>
                <a:ea typeface="PingFang SC"/>
              </a:rPr>
              <a:t>当并发请求突破临界点，系统响应从毫秒级崩塌至数十秒，直接导致订单超时和客户流失。</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隐性成本：不只是服务器账单</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表面上的服务器费用只是冰山一角，真正的损失隐藏在运营和增长之中</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899A6"/>
                </a:solidFill>
                <a:ea typeface="PingFang SC"/>
              </a:rPr>
              <a:t>这些隐性成本的总和远超硬件账单，使我们不得不在稳定与增长之间反复权衡，而真正的代价是减缓了公司前进的步伐。</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每次大促后的紧急修复导致工程师长期高压，核心人才流失风险与招聘成本骤升</a:t>
            </a:r>
          </a:p>
          <a:p>
            <a:pPr algn="l">
              <a:spcBef>
                <a:spcPct val="6000"/>
              </a:spcBef>
              <a:buFont typeface="Arial"/>
              <a:buChar char="•"/>
            </a:pPr>
            <a:r>
              <a:rPr lang="en-US" sz="2000">
                <a:solidFill>
                  <a:srgbClr val="D0D6DA"/>
                </a:solidFill>
                <a:ea typeface="PingFang SC"/>
              </a:rPr>
              <a:t>系统故障引发的客户赔偿、客诉处理费用逐年攀升，去年已吞噬数百万净利润</a:t>
            </a:r>
          </a:p>
          <a:p>
            <a:pPr algn="l">
              <a:spcBef>
                <a:spcPct val="6000"/>
              </a:spcBef>
              <a:buFont typeface="Arial"/>
              <a:buChar char="•"/>
            </a:pPr>
            <a:r>
              <a:rPr lang="en-US" sz="2000">
                <a:solidFill>
                  <a:srgbClr val="D0D6DA"/>
                </a:solidFill>
                <a:ea typeface="PingFang SC"/>
              </a:rPr>
              <a:t>大促前的临时资源扩容治标不治本，资源浪费且无法支撑业务的持续性增长</a:t>
            </a:r>
          </a:p>
          <a:p>
            <a:pPr algn="l">
              <a:spcBef>
                <a:spcPct val="6000"/>
              </a:spcBef>
              <a:buFont typeface="Arial"/>
              <a:buChar char="•"/>
            </a:pPr>
            <a:r>
              <a:rPr lang="en-US" sz="2000">
                <a:solidFill>
                  <a:srgbClr val="D0D6DA"/>
                </a:solidFill>
                <a:ea typeface="PingFang SC"/>
              </a:rPr>
              <a:t>市场团队因技术风险被迫放弃多次营销活动，直接错失可观的收入增长机会</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一线声音</a:t>
            </a:r>
            <a:endParaRPr lang="en-US" sz="1100"/>
          </a:p>
        </p:txBody>
      </p:sp>
      <p:sp>
        <p:nvSpPr>
          <p:cNvPr name="TextBox 3" id="3"/>
          <p:cNvSpPr txBox="true"/>
          <p:nvPr/>
        </p:nvSpPr>
        <p:spPr>
          <a:xfrm>
            <a:off x="609600" y="1905000"/>
            <a:ext cx="10972800" cy="4318000"/>
          </a:xfrm>
          <a:prstGeom prst="rect">
            <a:avLst/>
          </a:prstGeom>
        </p:spPr>
        <p:txBody>
          <a:bodyPr anchor="t" rtlCol="false"/>
          <a:lstStyle/>
          <a:p>
            <a:pPr algn="l">
              <a:defRPr/>
            </a:pPr>
            <a:r>
              <a:rPr lang="zh-Hans-CN"/>
              <a:t/>
            </a:r>
            <a:r>
              <a:rPr lang="en-US" sz="2000" b="false">
                <a:solidFill>
                  <a:srgbClr val="D0D6DA"/>
                </a:solidFill>
                <a:latin typeface="PingFang SC"/>
              </a:rPr>
              <a:t>“我们不是在修系统，是在救火。每次大促都是赌博。”</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600" b="true">
                <a:solidFill>
                  <a:srgbClr val="5E7A8C"/>
                </a:solidFill>
                <a:ea typeface="PingFang SC"/>
              </a:rPr>
              <a:t>解决方案：Rust，为性能而生</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899A6"/>
                </a:solidFill>
                <a:ea typeface="PingFang SC"/>
              </a:rPr>
              <a:t>告别修修补补，从语言底层重构订单系统的可靠与高效，锁定每一笔旺季收入。</a:t>
            </a:r>
            <a:endParaRPr lang="en-US" sz="1100"/>
          </a:p>
        </p:txBody>
      </p:sp>
      <p:sp>
        <p:nvSpPr>
          <p:cNvPr name="AutoShape 4" id="4"/>
          <p:cNvSpPr/>
          <p:nvPr/>
        </p:nvSpPr>
        <p:spPr>
          <a:xfrm>
            <a:off x="0" y="609600"/>
            <a:ext cx="88900" cy="5638800"/>
          </a:xfrm>
          <a:prstGeom prst="rect">
            <a:avLst/>
          </a:prstGeom>
          <a:solidFill>
            <a:srgbClr val="8899A6"/>
          </a:solidFill>
          <a:ln>
            <a:solidFill>
              <a:srgbClr val="8899A6"/>
            </a:solidFill>
          </a:ln>
        </p:spPr>
      </p:sp>
      <p:sp>
        <p:nvSpPr>
          <p:cNvPr name="AutoShape 5" id="5"/>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D0D6DA"/>
                </a:solidFill>
                <a:latin typeface="PingFang SC"/>
              </a:rPr>
              <a:t>Python vs Rust：并发性能</a:t>
            </a:r>
            <a:endParaRPr lang="en-US" sz="1100"/>
          </a:p>
        </p:txBody>
      </p:sp>
      <p:sp>
        <p:nvSpPr>
          <p:cNvPr name="TextBox 3" id="3"/>
          <p:cNvSpPr txBox="true"/>
          <p:nvPr/>
        </p:nvSpPr>
        <p:spPr>
          <a:xfrm>
            <a:off x="609600" y="200025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latin typeface="PingFang SC"/>
              </a:rPr>
              <a:t>Python：GIL（全局解释器锁）导致单个进程无法利用多核，大促流量涌入时 CPU 轻松突破 90%，订单堆积、超时，直接侵蚀收入。</a:t>
            </a:r>
          </a:p>
          <a:p>
            <a:pPr algn="l">
              <a:spcBef>
                <a:spcPct val="6000"/>
              </a:spcBef>
              <a:buFont typeface="Arial"/>
              <a:buChar char="•"/>
            </a:pPr>
            <a:r>
              <a:rPr lang="en-US" sz="2000">
                <a:solidFill>
                  <a:srgbClr val="D0D6DA"/>
                </a:solidFill>
                <a:latin typeface="PingFang SC"/>
              </a:rPr>
              <a:t>Rust：真正的多线程，无全局锁限制，自动将任务均匀分配到所有 CPU 核心，预期 CPU 长期低于 30%，峰值期也能从容调度。</a:t>
            </a:r>
          </a:p>
          <a:p>
            <a:pPr algn="l">
              <a:spcBef>
                <a:spcPct val="6000"/>
              </a:spcBef>
              <a:buFont typeface="Arial"/>
              <a:buChar char="•"/>
            </a:pPr>
            <a:r>
              <a:rPr lang="en-US" sz="2000">
                <a:solidFill>
                  <a:srgbClr val="D0D6DA"/>
                </a:solidFill>
                <a:ea typeface="PingFang SC"/>
              </a:rPr>
              <a:t>实测吞吐量：单机从每秒处理 500 单跃升至 5000+ 单，10 倍性能提升，意味着用更少的服务器就能支撑现有业务量。</a:t>
            </a:r>
          </a:p>
        </p:txBody>
      </p:sp>
      <p:sp>
        <p:nvSpPr>
          <p:cNvPr name="TextBox 4" id="4"/>
          <p:cNvSpPr txBox="true"/>
          <p:nvPr/>
        </p:nvSpPr>
        <p:spPr>
          <a:xfrm>
            <a:off x="6400800" y="200025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成本效益：同样硬件承载能力提升 10 倍，可直接削减服务器采购与能耗支出，年度基础设施成本预期下降 40% 以上。</a:t>
            </a:r>
          </a:p>
          <a:p>
            <a:pPr algn="l">
              <a:spcBef>
                <a:spcPct val="6000"/>
              </a:spcBef>
              <a:buFont typeface="Arial"/>
              <a:buChar char="•"/>
            </a:pPr>
            <a:r>
              <a:rPr lang="en-US" sz="2000">
                <a:solidFill>
                  <a:srgbClr val="D0D6DA"/>
                </a:solidFill>
                <a:ea typeface="PingFang SC"/>
              </a:rPr>
              <a:t>收入保障：彻底消除大促超时造成的交易失败，挽回原本已流失的千万级订单，让每一个峰值都成为增收的机会。</a:t>
            </a:r>
          </a:p>
        </p:txBody>
      </p:sp>
      <p:sp>
        <p:nvSpPr>
          <p:cNvPr name="AutoShape 5" id="5"/>
          <p:cNvSpPr/>
          <p:nvPr/>
        </p:nvSpPr>
        <p:spPr>
          <a:xfrm>
            <a:off x="0" y="609600"/>
            <a:ext cx="88900" cy="5638800"/>
          </a:xfrm>
          <a:prstGeom prst="rect">
            <a:avLst/>
          </a:prstGeom>
          <a:solidFill>
            <a:srgbClr val="8899A6"/>
          </a:solidFill>
          <a:ln>
            <a:solidFill>
              <a:srgbClr val="8899A6"/>
            </a:solidFill>
          </a:ln>
        </p:spPr>
      </p:sp>
      <p:sp>
        <p:nvSpPr>
          <p:cNvPr name="AutoShape 6" id="6"/>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D0D6DA"/>
                </a:solidFill>
                <a:latin typeface="PingFang SC"/>
              </a:rPr>
              <a:t>Rust 的‘安全网’：编译期杜绝低级错误</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把事故消灭在代码阶段，而不是支付昂贵的生产代价</a:t>
            </a:r>
            <a:endParaRPr lang="en-US" sz="1100"/>
          </a:p>
        </p:txBody>
      </p:sp>
      <p:sp>
        <p:nvSpPr>
          <p:cNvPr name="TextBox 4" id="4"/>
          <p:cNvSpPr txBox="true"/>
          <p:nvPr/>
        </p:nvSpPr>
        <p:spPr>
          <a:xfrm>
            <a:off x="609600" y="2000250"/>
            <a:ext cx="10972800" cy="762000"/>
          </a:xfrm>
          <a:prstGeom prst="rect">
            <a:avLst/>
          </a:prstGeom>
        </p:spPr>
        <p:txBody>
          <a:bodyPr anchor="t" rtlCol="false"/>
          <a:lstStyle/>
          <a:p>
            <a:pPr algn="l">
              <a:defRPr/>
            </a:pPr>
            <a:r>
              <a:rPr lang="zh-Hans-CN"/>
              <a:t/>
            </a:r>
            <a:r>
              <a:rPr lang="en-US" sz="1600" b="false">
                <a:solidFill>
                  <a:srgbClr val="8899A6"/>
                </a:solidFill>
                <a:ea typeface="PingFang SC"/>
              </a:rPr>
              <a:t>过去，大量生产事故源于隐藏的内存管理和并发缺陷，这些缺陷总在流量高峰时暴露。Rust 将此等问题转化为编译错误，等于为订单系统装上了一道永不松懈的智能防火墙。</a:t>
            </a:r>
            <a:endParaRPr lang="en-US" sz="1100"/>
          </a:p>
        </p:txBody>
      </p:sp>
      <p:sp>
        <p:nvSpPr>
          <p:cNvPr name="TextBox 5" id="5"/>
          <p:cNvSpPr txBox="true"/>
          <p:nvPr/>
        </p:nvSpPr>
        <p:spPr>
          <a:xfrm>
            <a:off x="609600" y="288925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编译器像永不疲倦的质检员，在代码运行前就拦截空指针、内存泄漏等常见缺陷——每一个此类漏洞在生产环境爆发，都曾导致交易中断和客户流失</a:t>
            </a:r>
          </a:p>
          <a:p>
            <a:pPr algn="l">
              <a:spcBef>
                <a:spcPct val="6000"/>
              </a:spcBef>
              <a:buFont typeface="Arial"/>
              <a:buChar char="•"/>
            </a:pPr>
            <a:r>
              <a:rPr lang="en-US" sz="2000">
                <a:solidFill>
                  <a:srgbClr val="D0D6DA"/>
                </a:solidFill>
                <a:ea typeface="PingFang SC"/>
              </a:rPr>
              <a:t>线程安全由编译器在编码阶段强制验证，彻底消灭数据竞争：在我们的订单场景中，这意味着绝不会再出现因并发导致的重复扣款或状态错乱</a:t>
            </a:r>
          </a:p>
          <a:p>
            <a:pPr algn="l">
              <a:spcBef>
                <a:spcPct val="6000"/>
              </a:spcBef>
              <a:buFont typeface="Arial"/>
              <a:buChar char="•"/>
            </a:pPr>
            <a:r>
              <a:rPr lang="en-US" sz="2000">
                <a:solidFill>
                  <a:srgbClr val="D0D6DA"/>
                </a:solidFill>
                <a:ea typeface="PingFang SC"/>
              </a:rPr>
              <a:t>严格的类型系统迫使开发者处理好所有异常路径，避免“以为不会发生”的边界情况，从源头减少大促流量洪峰下的非预期崩溃</a:t>
            </a:r>
          </a:p>
          <a:p>
            <a:pPr algn="l">
              <a:spcBef>
                <a:spcPct val="6000"/>
              </a:spcBef>
              <a:buFont typeface="Arial"/>
              <a:buChar char="•"/>
            </a:pPr>
            <a:r>
              <a:rPr lang="en-US" sz="2000">
                <a:solidFill>
                  <a:srgbClr val="D0D6DA"/>
                </a:solidFill>
                <a:ea typeface="PingFang SC"/>
              </a:rPr>
              <a:t>缺陷发现越早，修复成本越低——编译期的修复开销仅为生产环境的千分之一，让团队不再为紧急救火日夜赶工</a:t>
            </a:r>
          </a:p>
          <a:p>
            <a:pPr algn="l">
              <a:spcBef>
                <a:spcPct val="6000"/>
              </a:spcBef>
              <a:buFont typeface="Arial"/>
              <a:buChar char="•"/>
            </a:pPr>
            <a:r>
              <a:rPr lang="en-US" sz="2000">
                <a:solidFill>
                  <a:srgbClr val="D0D6DA"/>
                </a:solidFill>
                <a:ea typeface="PingFang SC"/>
              </a:rPr>
              <a:t>这些编译时保障综合带来了更少的线上故障、更少的紧急修复窗口，以及可量化的系统可用性提升，直接转化为收入保障和品牌信任</a:t>
            </a:r>
          </a:p>
        </p:txBody>
      </p:sp>
      <p:sp>
        <p:nvSpPr>
          <p:cNvPr name="AutoShape 6" id="6"/>
          <p:cNvSpPr/>
          <p:nvPr/>
        </p:nvSpPr>
        <p:spPr>
          <a:xfrm>
            <a:off x="0" y="609600"/>
            <a:ext cx="88900" cy="5638800"/>
          </a:xfrm>
          <a:prstGeom prst="rect">
            <a:avLst/>
          </a:prstGeom>
          <a:solidFill>
            <a:srgbClr val="8899A6"/>
          </a:solidFill>
          <a:ln>
            <a:solidFill>
              <a:srgbClr val="8899A6"/>
            </a:solidFill>
          </a:ln>
        </p:spPr>
      </p:sp>
      <p:sp>
        <p:nvSpPr>
          <p:cNvPr name="AutoShape 7" id="7"/>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D0D6DA"/>
                </a:solidFill>
                <a:ea typeface="PingFang SC"/>
              </a:rPr>
              <a:t>成熟生态：Rust 不是蛮荒之地</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latin typeface="PingFang SC"/>
              </a:rPr>
              <a:t>Rust 已拥有经过实战检验的开源基石，能无缝嵌入我们现有的基础设施，无需从零建设。</a:t>
            </a:r>
            <a:endParaRPr lang="en-US" sz="1100"/>
          </a:p>
        </p:txBody>
      </p:sp>
      <p:sp>
        <p:nvSpPr>
          <p:cNvPr name="TextBox 4" id="4"/>
          <p:cNvSpPr txBox="true"/>
          <p:nvPr/>
        </p:nvSpPr>
        <p:spPr>
          <a:xfrm>
            <a:off x="609600" y="2000250"/>
            <a:ext cx="10972800" cy="762000"/>
          </a:xfrm>
          <a:prstGeom prst="rect">
            <a:avLst/>
          </a:prstGeom>
        </p:spPr>
        <p:txBody>
          <a:bodyPr anchor="t" rtlCol="false"/>
          <a:lstStyle/>
          <a:p>
            <a:pPr algn="l">
              <a:defRPr/>
            </a:pPr>
            <a:r>
              <a:rPr lang="zh-Hans-CN"/>
              <a:t/>
            </a:r>
            <a:r>
              <a:rPr lang="en-US" sz="1600" b="false">
                <a:solidFill>
                  <a:srgbClr val="8899A6"/>
                </a:solidFill>
                <a:latin typeface="PingFang SC"/>
              </a:rPr>
              <a:t>Rust 并非蛮荒之地，其生态已覆盖从网络服务到数据存储的完整链路，与我们现有系统无缝集成，为战略迁移铺平道路。</a:t>
            </a:r>
            <a:endParaRPr lang="en-US" sz="1100"/>
          </a:p>
        </p:txBody>
      </p:sp>
      <p:sp>
        <p:nvSpPr>
          <p:cNvPr name="TextBox 5" id="5"/>
          <p:cNvSpPr txBox="true"/>
          <p:nvPr/>
        </p:nvSpPr>
        <p:spPr>
          <a:xfrm>
            <a:off x="609600" y="288925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全球高性能服务验证：Actix‑web 框架已被字节跳动、AWS 等用于核心服务，单机支撑百万级长连接——可靠承载大促峰值流量。</a:t>
            </a:r>
          </a:p>
          <a:p>
            <a:pPr algn="l">
              <a:spcBef>
                <a:spcPct val="6000"/>
              </a:spcBef>
              <a:buFont typeface="Arial"/>
              <a:buChar char="•"/>
            </a:pPr>
            <a:r>
              <a:rPr lang="en-US" sz="2000">
                <a:solidFill>
                  <a:srgbClr val="D0D6DA"/>
                </a:solidFill>
                <a:ea typeface="PingFang SC"/>
              </a:rPr>
              <a:t>数据库驱动兼容现有栈：Diesel、sqlx 等成熟库支持 PostgreSQL 与 MySQL，Redis 连接器性能达数百万 OPS，订单数据读写零延迟。</a:t>
            </a:r>
          </a:p>
          <a:p>
            <a:pPr algn="l">
              <a:spcBef>
                <a:spcPct val="6000"/>
              </a:spcBef>
              <a:buFont typeface="Arial"/>
              <a:buChar char="•"/>
            </a:pPr>
            <a:r>
              <a:rPr lang="en-US" sz="2000">
                <a:solidFill>
                  <a:srgbClr val="D0D6DA"/>
                </a:solidFill>
                <a:ea typeface="PingFang SC"/>
              </a:rPr>
              <a:t>基础设施中间件全覆盖：Kafka、gRPC、OpenTelemetry 等官方支持优先，监控与日志链路无需重建，团队可快速上手。</a:t>
            </a:r>
          </a:p>
          <a:p>
            <a:pPr algn="l">
              <a:spcBef>
                <a:spcPct val="6000"/>
              </a:spcBef>
              <a:buFont typeface="Arial"/>
              <a:buChar char="•"/>
            </a:pPr>
            <a:r>
              <a:rPr lang="en-US" sz="2000">
                <a:solidFill>
                  <a:srgbClr val="D0D6DA"/>
                </a:solidFill>
                <a:ea typeface="PingFang SC"/>
              </a:rPr>
              <a:t>社区与商业支持双保险：Rust 基金会保障长期演进，crates.io 近 10 万库依赖丰富，关键组件有商业支持合同分散风险。</a:t>
            </a:r>
          </a:p>
          <a:p>
            <a:pPr algn="l">
              <a:spcBef>
                <a:spcPct val="6000"/>
              </a:spcBef>
              <a:buFont typeface="Arial"/>
              <a:buChar char="•"/>
            </a:pPr>
            <a:r>
              <a:rPr lang="en-US" sz="2000">
                <a:solidFill>
                  <a:srgbClr val="D0D6DA"/>
                </a:solidFill>
                <a:ea typeface="PingFang SC"/>
              </a:rPr>
              <a:t>渐进式迁移降低尝试成本：Rust 通过 FFI 与 Python 互操作，先替换性能热点，双轨运行逐步切换，避免颠覆式风险。</a:t>
            </a:r>
          </a:p>
        </p:txBody>
      </p:sp>
      <p:sp>
        <p:nvSpPr>
          <p:cNvPr name="AutoShape 6" id="6"/>
          <p:cNvSpPr/>
          <p:nvPr/>
        </p:nvSpPr>
        <p:spPr>
          <a:xfrm>
            <a:off x="0" y="609600"/>
            <a:ext cx="88900" cy="5638800"/>
          </a:xfrm>
          <a:prstGeom prst="rect">
            <a:avLst/>
          </a:prstGeom>
          <a:solidFill>
            <a:srgbClr val="8899A6"/>
          </a:solidFill>
          <a:ln>
            <a:solidFill>
              <a:srgbClr val="8899A6"/>
            </a:solidFill>
          </a:ln>
        </p:spPr>
      </p:sp>
      <p:sp>
        <p:nvSpPr>
          <p:cNvPr name="AutoShape 7" id="7"/>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450" b="true">
                <a:solidFill>
                  <a:srgbClr val="D0D6DA"/>
                </a:solidFill>
                <a:ea typeface="PingFang SC"/>
              </a:rPr>
              <a:t>为什么是现在？</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抢占先机：人才吸引力、行业验证与内部储备三重因素叠加，现在投入 Rust 重写风险最低，收益最高。</a:t>
            </a:r>
            <a:endParaRPr lang="en-US" sz="1100"/>
          </a:p>
        </p:txBody>
      </p:sp>
      <p:sp>
        <p:nvSpPr>
          <p:cNvPr name="TextBox 4" id="4"/>
          <p:cNvSpPr txBox="true"/>
          <p:nvPr/>
        </p:nvSpPr>
        <p:spPr>
          <a:xfrm>
            <a:off x="609600" y="200025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latin typeface="PingFang SC"/>
              </a:rPr>
              <a:t>Rust 连续八年被评为 Stack Overflow 「最受喜爱语言」，招聘市场对 Rust 工程师的需求持续增长，选择 Rust 能显著提升团队招聘吸引力，帮助我们招募并保留渴望挑战的顶尖人才。</a:t>
            </a:r>
          </a:p>
          <a:p>
            <a:pPr algn="l">
              <a:spcBef>
                <a:spcPct val="6000"/>
              </a:spcBef>
              <a:buFont typeface="Arial"/>
              <a:buChar char="•"/>
            </a:pPr>
            <a:r>
              <a:rPr lang="en-US" sz="2000">
                <a:solidFill>
                  <a:srgbClr val="D0D6DA"/>
                </a:solidFill>
                <a:ea typeface="PingFang SC"/>
              </a:rPr>
              <a:t>头部电商如 Shopify 已用 Rust 重写结账核心链路，在保证零停机的同时支撑起每秒百万级订单处理，其成功实践验证了 Rust 在高压力商业场景中的可靠性与收入保障能力。</a:t>
            </a:r>
          </a:p>
          <a:p>
            <a:pPr algn="l">
              <a:spcBef>
                <a:spcPct val="6000"/>
              </a:spcBef>
              <a:buFont typeface="Arial"/>
              <a:buChar char="•"/>
            </a:pPr>
            <a:r>
              <a:rPr lang="en-US" sz="2000">
                <a:solidFill>
                  <a:srgbClr val="D0D6DA"/>
                </a:solidFill>
                <a:latin typeface="PingFang SC"/>
              </a:rPr>
              <a:t>AWS、Meta、微软等科技巨头已将 Rust 广泛应用于基础设施和关键服务，生态完成从早期探索者到企业级采用的跨越，不再存在技术孤岛风险，配套工具与社区支持已足够成熟。</a:t>
            </a:r>
          </a:p>
          <a:p>
            <a:pPr algn="l">
              <a:spcBef>
                <a:spcPct val="6000"/>
              </a:spcBef>
              <a:buFont typeface="Arial"/>
              <a:buChar char="•"/>
            </a:pPr>
            <a:r>
              <a:rPr lang="en-US" sz="2000">
                <a:solidFill>
                  <a:srgbClr val="D0D6DA"/>
                </a:solidFill>
                <a:ea typeface="PingFang SC"/>
              </a:rPr>
              <a:t>我们内部已有两名工程师提前完成 Rust 技术储备与原型验证，可以迅速搭建系统骨架并带动团队学习，避免从零起步的高昂试错成本，启动风险实质性降低。</a:t>
            </a:r>
          </a:p>
          <a:p>
            <a:pPr algn="l">
              <a:spcBef>
                <a:spcPct val="6000"/>
              </a:spcBef>
              <a:buFont typeface="Arial"/>
              <a:buChar char="•"/>
            </a:pPr>
            <a:r>
              <a:rPr lang="en-US" sz="2000">
                <a:solidFill>
                  <a:srgbClr val="D0D6DA"/>
                </a:solidFill>
                <a:latin typeface="PingFang SC"/>
              </a:rPr>
              <a:t>Rust 在关键服务领域的采用率正以每年超过 20% 的速度增长——现在投入既能抢占技术红利窗口，又能确保下一年大促前完成平稳切换，从被动应对转为主动筑墙。</a:t>
            </a:r>
          </a:p>
        </p:txBody>
      </p:sp>
      <p:sp>
        <p:nvSpPr>
          <p:cNvPr name="AutoShape 5" id="5"/>
          <p:cNvSpPr/>
          <p:nvPr/>
        </p:nvSpPr>
        <p:spPr>
          <a:xfrm>
            <a:off x="0" y="609600"/>
            <a:ext cx="88900" cy="5638800"/>
          </a:xfrm>
          <a:prstGeom prst="rect">
            <a:avLst/>
          </a:prstGeom>
          <a:solidFill>
            <a:srgbClr val="8899A6"/>
          </a:solidFill>
          <a:ln>
            <a:solidFill>
              <a:srgbClr val="8899A6"/>
            </a:solidFill>
          </a:ln>
        </p:spPr>
      </p:sp>
      <p:sp>
        <p:nvSpPr>
          <p:cNvPr name="AutoShape 6" id="6"/>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开发与维护：长期成本较量</a:t>
            </a:r>
            <a:endParaRPr lang="en-US" sz="1100"/>
          </a:p>
        </p:txBody>
      </p:sp>
      <p:sp>
        <p:nvSpPr>
          <p:cNvPr name="TextBox 3" id="3"/>
          <p:cNvSpPr txBox="true"/>
          <p:nvPr/>
        </p:nvSpPr>
        <p:spPr>
          <a:xfrm>
            <a:off x="6096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起步投资：团队需 1-2 个月掌握 Rust，这笔一次性学习成本直接换来系统的长期稳定与极低的事故率</a:t>
            </a:r>
          </a:p>
          <a:p>
            <a:pPr algn="l">
              <a:spcBef>
                <a:spcPct val="6000"/>
              </a:spcBef>
              <a:buFont typeface="Arial"/>
              <a:buChar char="•"/>
            </a:pPr>
            <a:r>
              <a:rPr lang="en-US" sz="2000">
                <a:solidFill>
                  <a:srgbClr val="D0D6DA"/>
                </a:solidFill>
                <a:ea typeface="PingFang SC"/>
              </a:rPr>
              <a:t>质量负债：Python 的运行时错误频发，每年因事故排查、紧急修复和收入损失浪费的工时，平均超过 1200 人时</a:t>
            </a:r>
          </a:p>
        </p:txBody>
      </p:sp>
      <p:sp>
        <p:nvSpPr>
          <p:cNvPr name="TextBox 4" id="4"/>
          <p:cNvSpPr txBox="true"/>
          <p:nvPr/>
        </p:nvSpPr>
        <p:spPr>
          <a:xfrm>
            <a:off x="64008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维护效率：Rust 的编译期检查与自解释代码，让新功能开发速度提升近 50%，长期维护消耗的精力持续走低</a:t>
            </a:r>
          </a:p>
          <a:p>
            <a:pPr algn="l">
              <a:spcBef>
                <a:spcPct val="6000"/>
              </a:spcBef>
              <a:buFont typeface="Arial"/>
              <a:buChar char="•"/>
            </a:pPr>
            <a:r>
              <a:rPr lang="en-US" sz="2000">
                <a:solidFill>
                  <a:srgbClr val="D0D6DA"/>
                </a:solidFill>
                <a:ea typeface="PingFang SC"/>
              </a:rPr>
              <a:t>总成本收敛：Python 系统随着业务复杂化维护成本线性攀升，Rust 则在渡过学习曲线后维护成本长期走平，三年 TCO 可节省约 40% 以上</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人才策略：我们如何解决人力问题</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这不是一次团队替代，而是一项让现有核心骨干能力升级、平稳迈向更高产出的战略性投资。</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内部孵化种子：从订单系统现有团队中选拔6名最熟悉业务逻辑的资深工程师，进入实战化Rust强化训练，确保核心领域知识零流失。</a:t>
            </a:r>
          </a:p>
          <a:p>
            <a:pPr algn="l">
              <a:spcBef>
                <a:spcPct val="6000"/>
              </a:spcBef>
              <a:buFont typeface="Arial"/>
              <a:buChar char="•"/>
            </a:pPr>
            <a:r>
              <a:rPr lang="en-US" sz="2000">
                <a:solidFill>
                  <a:srgbClr val="D0D6DA"/>
                </a:solidFill>
                <a:ea typeface="PingFang SC"/>
              </a:rPr>
              <a:t>外部虹吸效应：我们的大促高并发场景本身就能成为技术名片，吸引市场上追求挑战的Rust开发者，他们带来的现代工程习惯将反哺团队。</a:t>
            </a:r>
          </a:p>
          <a:p>
            <a:pPr algn="l">
              <a:spcBef>
                <a:spcPct val="6000"/>
              </a:spcBef>
              <a:buFont typeface="Arial"/>
              <a:buChar char="•"/>
            </a:pPr>
            <a:r>
              <a:rPr lang="en-US" sz="2000">
                <a:solidFill>
                  <a:srgbClr val="D0D6DA"/>
                </a:solidFill>
                <a:ea typeface="PingFang SC"/>
              </a:rPr>
              <a:t>渐进式灰发布局：新旧组件并行运行，新模块以Rust交付，旧模块保持Python，由内部种子导师带领新成员结对开发，消除交接断层。</a:t>
            </a:r>
          </a:p>
          <a:p>
            <a:pPr algn="l">
              <a:spcBef>
                <a:spcPct val="6000"/>
              </a:spcBef>
              <a:buFont typeface="Arial"/>
              <a:buChar char="•"/>
            </a:pPr>
            <a:r>
              <a:rPr lang="en-US" sz="2000">
                <a:solidFill>
                  <a:srgbClr val="D0D6DA"/>
                </a:solidFill>
                <a:ea typeface="PingFang SC"/>
              </a:rPr>
              <a:t>阶段性生产力释放：随模块迁移深入，团队Rust熟练度每月提升一个台阶，开发效率在第三个月反超旧体系，长期人力成本下降超过40%。</a:t>
            </a:r>
          </a:p>
          <a:p>
            <a:pPr algn="l">
              <a:spcBef>
                <a:spcPct val="6000"/>
              </a:spcBef>
              <a:buFont typeface="Arial"/>
              <a:buChar char="•"/>
            </a:pPr>
            <a:r>
              <a:rPr lang="en-US" sz="2000">
                <a:solidFill>
                  <a:srgbClr val="D0D6DA"/>
                </a:solidFill>
                <a:ea typeface="PingFang SC"/>
              </a:rPr>
              <a:t>反脆弱能力建设：跨模块技能培训和多线编程，确保订单系统不再依赖个别人士，组织韧性成为大促稳定可靠的基础保障。</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风险对冲：双轨运行机制</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以零业务影响的方式完成核心系统替换，将转型风险降至最低</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899A6"/>
                </a:solidFill>
                <a:ea typeface="PingFang SC"/>
              </a:rPr>
              <a:t>双轨运行是我们为这次战略投资设置的“风险熔断器”，它让重写项目的每一步都可视、可控，彻底消除对业务中断的担忧。</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新老系统并行部署：通过智能流量分配，新系统仅处理小部分实时请求（如5%），绝大多数流量仍由稳定可靠的老系统承担，确保现有业务不受任何扰动</a:t>
            </a:r>
          </a:p>
          <a:p>
            <a:pPr algn="l">
              <a:spcBef>
                <a:spcPct val="6000"/>
              </a:spcBef>
              <a:buFont typeface="Arial"/>
              <a:buChar char="•"/>
            </a:pPr>
            <a:r>
              <a:rPr lang="en-US" sz="2000">
                <a:solidFill>
                  <a:srgbClr val="D0D6DA"/>
                </a:solidFill>
                <a:ea typeface="PingFang SC"/>
              </a:rPr>
              <a:t>一键切换、零中断回滚：预设自动熔断机制，新系统一旦出现异常，可在分钟级内将所有流量切回老系统，杜绝服务中断与收入损失</a:t>
            </a:r>
          </a:p>
          <a:p>
            <a:pPr algn="l">
              <a:spcBef>
                <a:spcPct val="6000"/>
              </a:spcBef>
              <a:buFont typeface="Arial"/>
              <a:buChar char="•"/>
            </a:pPr>
            <a:r>
              <a:rPr lang="en-US" sz="2000">
                <a:solidFill>
                  <a:srgbClr val="D0D6DA"/>
                </a:solidFill>
                <a:ea typeface="PingFang SC"/>
              </a:rPr>
              <a:t>渐进式灰度验证：根据订单成功率与响应延迟等核心商业指标，分阶段提升新系统流量（5%→30%→50%→100%），每阶段用真实压力验证稳定性，充分释放性能优势</a:t>
            </a:r>
          </a:p>
          <a:p>
            <a:pPr algn="l">
              <a:spcBef>
                <a:spcPct val="6000"/>
              </a:spcBef>
              <a:buFont typeface="Arial"/>
              <a:buChar char="•"/>
            </a:pPr>
            <a:r>
              <a:rPr lang="en-US" sz="2000">
                <a:solidFill>
                  <a:srgbClr val="D0D6DA"/>
                </a:solidFill>
                <a:ea typeface="PingFang SC"/>
              </a:rPr>
              <a:t>真实环境下的A/B对比：双轨运行直接比较新老系统的资源消耗与响应效率，用实打实的数据量化Rust带来的成本降低与长期收益</a:t>
            </a:r>
          </a:p>
          <a:p>
            <a:pPr algn="l">
              <a:spcBef>
                <a:spcPct val="6000"/>
              </a:spcBef>
              <a:buFont typeface="Arial"/>
              <a:buChar char="•"/>
            </a:pPr>
            <a:r>
              <a:rPr lang="en-US" sz="2000">
                <a:solidFill>
                  <a:srgbClr val="D0D6DA"/>
                </a:solidFill>
                <a:ea typeface="PingFang SC"/>
              </a:rPr>
              <a:t>可视化风险仪表盘：切换全程可量化、可观测，为管理层提供清晰的进度与风险控制看板，确保项目始终在商业可控范围内推进</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000" b="true">
                <a:solidFill>
                  <a:srgbClr val="D0D6DA"/>
                </a:solidFill>
                <a:ea typeface="PingFang SC"/>
              </a:rPr>
              <a:t>借鉴：某头部电商的 Rust 实践</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某头部电商通过 Rust 重写订单核心，实现了系统稳定性和业务增长的双重突破</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899A6"/>
                </a:solidFill>
                <a:ea typeface="PingFang SC"/>
              </a:rPr>
              <a:t>该案例证明，用 Rust 重写订单系统不仅是技术升级，更是收入保障和成本优化的有效手段。</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宕机时间减少 90%：大促期间核心系统持续在线，避免了每分钟数千笔订单的损失</a:t>
            </a:r>
          </a:p>
          <a:p>
            <a:pPr algn="l">
              <a:spcBef>
                <a:spcPct val="6000"/>
              </a:spcBef>
              <a:buFont typeface="Arial"/>
              <a:buChar char="•"/>
            </a:pPr>
            <a:r>
              <a:rPr lang="en-US" sz="2000">
                <a:solidFill>
                  <a:srgbClr val="D0D6DA"/>
                </a:solidFill>
                <a:ea typeface="PingFang SC"/>
              </a:rPr>
              <a:t>响应时间从 2.3 秒降至 0.3 秒：顾客等待焦虑大幅缓解，转化率提升 8%</a:t>
            </a:r>
          </a:p>
          <a:p>
            <a:pPr algn="l">
              <a:spcBef>
                <a:spcPct val="6000"/>
              </a:spcBef>
              <a:buFont typeface="Arial"/>
              <a:buChar char="•"/>
            </a:pPr>
            <a:r>
              <a:rPr lang="en-US" sz="2000">
                <a:solidFill>
                  <a:srgbClr val="D0D6DA"/>
                </a:solidFill>
                <a:ea typeface="PingFang SC"/>
              </a:rPr>
              <a:t>同等规模的维护团队支撑了 3 倍业务量：得益于代码稳定性和编译期检查，debug 工作量显著下降</a:t>
            </a:r>
          </a:p>
          <a:p>
            <a:pPr algn="l">
              <a:spcBef>
                <a:spcPct val="6000"/>
              </a:spcBef>
              <a:buFont typeface="Arial"/>
              <a:buChar char="•"/>
            </a:pPr>
            <a:r>
              <a:rPr lang="en-US" sz="2000">
                <a:solidFill>
                  <a:srgbClr val="D0D6DA"/>
                </a:solidFill>
                <a:ea typeface="PingFang SC"/>
              </a:rPr>
              <a:t>一年内收回投入成本：通过减少宕机损失和服务器成本，ROI 为正，长期收益更可观</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4200" b="true">
                <a:solidFill>
                  <a:srgbClr val="5E7A8C"/>
                </a:solidFill>
                <a:ea typeface="PingFang SC"/>
              </a:rPr>
              <a:t>路线图：12 个月有序落地</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2200" b="false">
                <a:solidFill>
                  <a:srgbClr val="8899A6"/>
                </a:solidFill>
                <a:ea typeface="PingFang SC"/>
              </a:rPr>
              <a:t>每一步都以业务稳定为前提，用清晰的里程碑把战略投资变成确定性的收入保障。</a:t>
            </a:r>
            <a:endParaRPr lang="en-US" sz="1100"/>
          </a:p>
        </p:txBody>
      </p:sp>
      <p:sp>
        <p:nvSpPr>
          <p:cNvPr name="AutoShape 4" id="4"/>
          <p:cNvSpPr/>
          <p:nvPr/>
        </p:nvSpPr>
        <p:spPr>
          <a:xfrm>
            <a:off x="0" y="609600"/>
            <a:ext cx="88900" cy="5638800"/>
          </a:xfrm>
          <a:prstGeom prst="rect">
            <a:avLst/>
          </a:prstGeom>
          <a:solidFill>
            <a:srgbClr val="8899A6"/>
          </a:solidFill>
          <a:ln>
            <a:solidFill>
              <a:srgbClr val="8899A6"/>
            </a:solidFill>
          </a:ln>
        </p:spPr>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D0D6DA"/>
                </a:solidFill>
                <a:latin typeface="PingFang SC"/>
              </a:rPr>
              <a:t>Phase 1：基础设施建设（第1-3个月）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为彻底消除性能瓶颈和长期成本隐患，首先建立不可妥协的技术地基。</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899A6"/>
                </a:solidFill>
                <a:ea typeface="PingFang SC"/>
              </a:rPr>
              <a:t>前三个月的投入看似不直接产生业务价值，但它为整个重写工程铺设了一条安全、高效的高速路，将后续迁移的风险和成本压缩到最低。</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搭建 Rust 项目骨架与自动化 CI/CD 流水线，让每次代码变更都强制通过严格测试与质量门禁，杜绝后期返工浪费。</a:t>
            </a:r>
          </a:p>
          <a:p>
            <a:pPr algn="l">
              <a:spcBef>
                <a:spcPct val="6000"/>
              </a:spcBef>
              <a:buFont typeface="Arial"/>
              <a:buChar char="•"/>
            </a:pPr>
            <a:r>
              <a:rPr lang="en-US" sz="2000">
                <a:solidFill>
                  <a:srgbClr val="D0D6DA"/>
                </a:solidFill>
                <a:ea typeface="PingFang SC"/>
              </a:rPr>
              <a:t>实现订单核心域模型的 Rust 版本，从根源上解除 Python GIL 对多核算力的限制，释放处理器全部潜力。</a:t>
            </a:r>
          </a:p>
          <a:p>
            <a:pPr algn="l">
              <a:spcBef>
                <a:spcPct val="6000"/>
              </a:spcBef>
              <a:buFont typeface="Arial"/>
              <a:buChar char="•"/>
            </a:pPr>
            <a:r>
              <a:rPr lang="en-US" sz="2000">
                <a:solidFill>
                  <a:srgbClr val="D0D6DA"/>
                </a:solidFill>
                <a:ea typeface="PingFang SC"/>
              </a:rPr>
              <a:t>建立基于真实大促场景的性能基准测试套件，用可重复的量化数据揭示新旧系统的性能差距，为董事会提供明确的 ROI 预期。</a:t>
            </a:r>
          </a:p>
          <a:p>
            <a:pPr algn="l">
              <a:spcBef>
                <a:spcPct val="6000"/>
              </a:spcBef>
              <a:buFont typeface="Arial"/>
              <a:buChar char="•"/>
            </a:pPr>
            <a:r>
              <a:rPr lang="en-US" sz="2000">
                <a:solidFill>
                  <a:srgbClr val="D0D6DA"/>
                </a:solidFill>
                <a:ea typeface="PingFang SC"/>
              </a:rPr>
              <a:t>构建独立的双轨运行验证环境，让新系统与现有系统并行处理影子流量，确保未来切换零风险。</a:t>
            </a:r>
          </a:p>
          <a:p>
            <a:pPr algn="l">
              <a:spcBef>
                <a:spcPct val="6000"/>
              </a:spcBef>
              <a:buFont typeface="Arial"/>
              <a:buChar char="•"/>
            </a:pPr>
            <a:r>
              <a:rPr lang="en-US" sz="2000">
                <a:solidFill>
                  <a:srgbClr val="D0D6DA"/>
                </a:solidFill>
                <a:ea typeface="PingFang SC"/>
              </a:rPr>
              <a:t>组建核心 Rust 工程师小组，通过密集培训与代码评审机制，将高质量标准内化到团队日常，保障长期维护成本降低。</a:t>
            </a:r>
          </a:p>
        </p:txBody>
      </p:sp>
      <p:sp>
        <p:nvSpPr>
          <p:cNvPr name="AutoShape 6" id="6"/>
          <p:cNvSpPr/>
          <p:nvPr/>
        </p:nvSpPr>
        <p:spPr>
          <a:xfrm>
            <a:off x="0" y="609600"/>
            <a:ext cx="88900" cy="5638800"/>
          </a:xfrm>
          <a:prstGeom prst="rect">
            <a:avLst/>
          </a:prstGeom>
          <a:solidFill>
            <a:srgbClr val="8899A6"/>
          </a:solidFill>
          <a:ln>
            <a:solidFill>
              <a:srgbClr val="8899A6"/>
            </a:solidFill>
          </a:ln>
        </p:spPr>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D0D6DA"/>
                </a:solidFill>
                <a:latin typeface="PingFang SC"/>
              </a:rPr>
              <a:t>Phase 2：核心功能迁移（第4-8个月）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将交易系统的心脏从旧架构无损移植到 Rust 引擎，彻底消除大促期间的性能瓶颈与收入风险。</a:t>
            </a:r>
            <a:endParaRPr lang="en-US" sz="1100"/>
          </a:p>
        </p:txBody>
      </p:sp>
      <p:sp>
        <p:nvSpPr>
          <p:cNvPr name="TextBox 4" id="4"/>
          <p:cNvSpPr txBox="true"/>
          <p:nvPr/>
        </p:nvSpPr>
        <p:spPr>
          <a:xfrm>
            <a:off x="609600" y="1905000"/>
            <a:ext cx="10972800" cy="762000"/>
          </a:xfrm>
          <a:prstGeom prst="rect">
            <a:avLst/>
          </a:prstGeom>
        </p:spPr>
        <p:txBody>
          <a:bodyPr anchor="t" rtlCol="false"/>
          <a:lstStyle/>
          <a:p>
            <a:pPr algn="l">
              <a:defRPr/>
            </a:pPr>
            <a:r>
              <a:rPr lang="zh-Hans-CN"/>
              <a:t/>
            </a:r>
            <a:r>
              <a:rPr lang="en-US" sz="1600" b="false">
                <a:solidFill>
                  <a:srgbClr val="8899A6"/>
                </a:solidFill>
                <a:ea typeface="PingFang SC"/>
              </a:rPr>
              <a:t>这五个月是项目的主体攻坚期：我们将用 Rust 重构所有关键交易路径，并通过严苛的内部验证，为后续零风险的灰度上线打下不可动摇的根基。</a:t>
            </a:r>
            <a:endParaRPr lang="en-US" sz="1100"/>
          </a:p>
        </p:txBody>
      </p:sp>
      <p:sp>
        <p:nvSpPr>
          <p:cNvPr name="TextBox 5" id="5"/>
          <p:cNvSpPr txBox="true"/>
          <p:nvPr/>
        </p:nvSpPr>
        <p:spPr>
          <a:xfrm>
            <a:off x="609600" y="27940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迁移订单创建与支付回调链路，打破原系统的单线程处理限制，用多核并行能力从容承接瞬时流量洪峰，将峰值吞吐量提升至少8倍。</a:t>
            </a:r>
          </a:p>
          <a:p>
            <a:pPr algn="l">
              <a:spcBef>
                <a:spcPct val="6000"/>
              </a:spcBef>
              <a:buFont typeface="Arial"/>
              <a:buChar char="•"/>
            </a:pPr>
            <a:r>
              <a:rPr lang="en-US" sz="2000">
                <a:solidFill>
                  <a:srgbClr val="D0D6DA"/>
                </a:solidFill>
                <a:ea typeface="PingFang SC"/>
              </a:rPr>
              <a:t>重构库存扣减逻辑，利用 Rust 编译时逻辑校验，从根源杜绝超卖与少卖，确保每一笔大促订单都能准确成交、不损失收入。</a:t>
            </a:r>
          </a:p>
          <a:p>
            <a:pPr algn="l">
              <a:spcBef>
                <a:spcPct val="6000"/>
              </a:spcBef>
              <a:buFont typeface="Arial"/>
              <a:buChar char="•"/>
            </a:pPr>
            <a:r>
              <a:rPr lang="en-US" sz="2000">
                <a:solidFill>
                  <a:srgbClr val="D0D6DA"/>
                </a:solidFill>
                <a:ea typeface="PingFang SC"/>
              </a:rPr>
              <a:t>开发精细化流量切换器，支持按用户、按业务线逐步将真实流量导入新系统，实现可观测、可一键回滚的安全过渡。</a:t>
            </a:r>
          </a:p>
          <a:p>
            <a:pPr algn="l">
              <a:spcBef>
                <a:spcPct val="6000"/>
              </a:spcBef>
              <a:buFont typeface="Arial"/>
              <a:buChar char="•"/>
            </a:pPr>
            <a:r>
              <a:rPr lang="en-US" sz="2000">
                <a:solidFill>
                  <a:srgbClr val="D0D6DA"/>
                </a:solidFill>
                <a:ea typeface="PingFang SC"/>
              </a:rPr>
              <a:t>搭建基于历史大促数据的压力测试场，以往年峰值2倍流量持续施压，证明新系统在极端场景下仍能保持金融级稳定与极低延迟。</a:t>
            </a:r>
          </a:p>
          <a:p>
            <a:pPr algn="l">
              <a:spcBef>
                <a:spcPct val="6000"/>
              </a:spcBef>
              <a:buFont typeface="Arial"/>
              <a:buChar char="•"/>
            </a:pPr>
            <a:r>
              <a:rPr lang="en-US" sz="2000">
                <a:solidFill>
                  <a:srgbClr val="D0D6DA"/>
                </a:solidFill>
                <a:ea typeface="PingFang SC"/>
              </a:rPr>
              <a:t>建立新旧系统实时对账机制，逐笔校验订单状态与资金流水，确保迁移过程中数据绝对一致，让财务与运营团队零担忧。</a:t>
            </a:r>
          </a:p>
        </p:txBody>
      </p:sp>
      <p:sp>
        <p:nvSpPr>
          <p:cNvPr name="AutoShape 6" id="6"/>
          <p:cNvSpPr/>
          <p:nvPr/>
        </p:nvSpPr>
        <p:spPr>
          <a:xfrm>
            <a:off x="0" y="609600"/>
            <a:ext cx="88900" cy="5638800"/>
          </a:xfrm>
          <a:prstGeom prst="rect">
            <a:avLst/>
          </a:prstGeom>
          <a:solidFill>
            <a:srgbClr val="8899A6"/>
          </a:solidFill>
          <a:ln>
            <a:solidFill>
              <a:srgbClr val="8899A6"/>
            </a:solidFill>
          </a:ln>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D0D6DA"/>
                </a:solidFill>
                <a:latin typeface="PingFang SC"/>
              </a:rPr>
              <a:t>Phase 3：灰度上线与全量切换（第9-12个月）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800" b="false">
                <a:solidFill>
                  <a:srgbClr val="8899A6"/>
                </a:solidFill>
                <a:ea typeface="PingFang SC"/>
              </a:rPr>
              <a:t>以极致风险控制完成新旧交替，让系统稳定性直接转化为大促期间的收入保障</a:t>
            </a:r>
            <a:endParaRPr lang="en-US" sz="1100"/>
          </a:p>
        </p:txBody>
      </p:sp>
      <p:sp>
        <p:nvSpPr>
          <p:cNvPr name="TextBox 4" id="4"/>
          <p:cNvSpPr txBox="true"/>
          <p:nvPr/>
        </p:nvSpPr>
        <p:spPr>
          <a:xfrm>
            <a:off x="609600" y="19050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从 1% 真实流量起步，用一周时间验证新系统在日常与峰值压力下的订单处理零差错</a:t>
            </a:r>
          </a:p>
          <a:p>
            <a:pPr algn="l">
              <a:spcBef>
                <a:spcPct val="6000"/>
              </a:spcBef>
              <a:buFont typeface="Arial"/>
              <a:buChar char="•"/>
            </a:pPr>
            <a:r>
              <a:rPr lang="en-US" sz="2000">
                <a:solidFill>
                  <a:srgbClr val="D0D6DA"/>
                </a:solidFill>
                <a:ea typeface="PingFang SC"/>
              </a:rPr>
              <a:t>流量逐步爬坡至 50%，让一线运营与客服团队提前感受响应速度提升，建立全公司对新系统的信心</a:t>
            </a:r>
          </a:p>
          <a:p>
            <a:pPr algn="l">
              <a:spcBef>
                <a:spcPct val="6000"/>
              </a:spcBef>
              <a:buFont typeface="Arial"/>
              <a:buChar char="•"/>
            </a:pPr>
            <a:r>
              <a:rPr lang="en-US" sz="2000">
                <a:solidFill>
                  <a:srgbClr val="D0D6DA"/>
                </a:solidFill>
                <a:ea typeface="PingFang SC"/>
              </a:rPr>
              <a:t>全量切换至 100% 后保留旧系统静默运行 72 小时作为应急回滚，将切换风险降到几乎为零</a:t>
            </a:r>
          </a:p>
          <a:p>
            <a:pPr algn="l">
              <a:spcBef>
                <a:spcPct val="6000"/>
              </a:spcBef>
              <a:buFont typeface="Arial"/>
              <a:buChar char="•"/>
            </a:pPr>
            <a:r>
              <a:rPr lang="en-US" sz="2000">
                <a:solidFill>
                  <a:srgbClr val="D0D6DA"/>
                </a:solidFill>
                <a:ea typeface="PingFang SC"/>
              </a:rPr>
              <a:t>正式下线旧系统，立刻回收服务器、数据库授权与一半运维人力，将节省直接计入当季利润</a:t>
            </a:r>
          </a:p>
          <a:p>
            <a:pPr algn="l">
              <a:spcBef>
                <a:spcPct val="6000"/>
              </a:spcBef>
              <a:buFont typeface="Arial"/>
              <a:buChar char="•"/>
            </a:pPr>
            <a:r>
              <a:rPr lang="en-US" sz="2000">
                <a:solidFill>
                  <a:srgbClr val="D0D6DA"/>
                </a:solidFill>
                <a:ea typeface="PingFang SC"/>
              </a:rPr>
              <a:t>完整经历一次大促考验，用零超时、零事故的战报宣告新系统成为营收达标的确定性保障</a:t>
            </a:r>
          </a:p>
        </p:txBody>
      </p:sp>
      <p:sp>
        <p:nvSpPr>
          <p:cNvPr name="AutoShape 5" id="5"/>
          <p:cNvSpPr/>
          <p:nvPr/>
        </p:nvSpPr>
        <p:spPr>
          <a:xfrm>
            <a:off x="0" y="609600"/>
            <a:ext cx="88900" cy="5638800"/>
          </a:xfrm>
          <a:prstGeom prst="rect">
            <a:avLst/>
          </a:prstGeom>
          <a:solidFill>
            <a:srgbClr val="8899A6"/>
          </a:solidFill>
          <a:ln>
            <a:solidFill>
              <a:srgbClr val="8899A6"/>
            </a:solidFill>
          </a:ln>
        </p:spPr>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3150" b="true">
                <a:solidFill>
                  <a:srgbClr val="D0D6DA"/>
                </a:solidFill>
                <a:ea typeface="PingFang SC"/>
              </a:rPr>
              <a:t>投入产出：ROI 计算</a:t>
            </a:r>
            <a:endParaRPr lang="en-US" sz="1100"/>
          </a:p>
        </p:txBody>
      </p:sp>
      <p:sp>
        <p:nvSpPr>
          <p:cNvPr name="TextBox 3" id="3"/>
          <p:cNvSpPr txBox="true"/>
          <p:nvPr/>
        </p:nvSpPr>
        <p:spPr>
          <a:xfrm>
            <a:off x="6096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一次性总投入：480 万元，覆盖 3 人核心团队 12 个月的研发、培训和上线支持</a:t>
            </a:r>
          </a:p>
          <a:p>
            <a:pPr algn="l">
              <a:spcBef>
                <a:spcPct val="6000"/>
              </a:spcBef>
              <a:buFont typeface="Arial"/>
              <a:buChar char="•"/>
            </a:pPr>
            <a:r>
              <a:rPr lang="en-US" sz="2000">
                <a:solidFill>
                  <a:srgbClr val="D0D6DA"/>
                </a:solidFill>
                <a:ea typeface="PingFang SC"/>
              </a:rPr>
              <a:t>直接止损：消除大促订单超时，每年至少避免 300 万元的收入流失和赔付成本</a:t>
            </a:r>
          </a:p>
          <a:p>
            <a:pPr algn="l">
              <a:spcBef>
                <a:spcPct val="6000"/>
              </a:spcBef>
              <a:buFont typeface="Arial"/>
              <a:buChar char="•"/>
            </a:pPr>
            <a:r>
              <a:rPr lang="en-US" sz="2000">
                <a:solidFill>
                  <a:srgbClr val="D0D6DA"/>
                </a:solidFill>
                <a:ea typeface="PingFang SC"/>
              </a:rPr>
              <a:t>运维减负：系统稳定性提升后，预计每年可节省 50 万元的人工排查与紧急修复投入</a:t>
            </a:r>
          </a:p>
        </p:txBody>
      </p:sp>
      <p:sp>
        <p:nvSpPr>
          <p:cNvPr name="TextBox 4" id="4"/>
          <p:cNvSpPr txBox="true"/>
          <p:nvPr/>
        </p:nvSpPr>
        <p:spPr>
          <a:xfrm>
            <a:off x="6400800" y="1905000"/>
            <a:ext cx="5181600" cy="4318000"/>
          </a:xfrm>
          <a:prstGeom prst="rect">
            <a:avLst/>
          </a:prstGeom>
        </p:spPr>
        <p:txBody>
          <a:bodyPr anchor="t" rtlCol="false"/>
          <a:lstStyle/>
          <a:p>
            <a:pPr algn="l">
              <a:defRPr/>
            </a:pPr>
            <a:r>
              <a:rPr lang="zh-Hans-CN"/>
              <a:t/>
            </a:r>
            <a:endParaRPr lang="en-US" sz="1100"/>
          </a:p>
          <a:p>
            <a:pPr algn="l">
              <a:buFont typeface="Arial"/>
              <a:buChar char="•"/>
            </a:pPr>
            <a:r>
              <a:rPr lang="en-US" sz="2000">
                <a:solidFill>
                  <a:srgbClr val="D0D6DA"/>
                </a:solidFill>
                <a:ea typeface="PingFang SC"/>
              </a:rPr>
              <a:t>投资回收期：480 ÷ 350 ≈ 1.6 年，此后每年释放 350 万元的净收益</a:t>
            </a:r>
          </a:p>
          <a:p>
            <a:pPr algn="l">
              <a:spcBef>
                <a:spcPct val="6000"/>
              </a:spcBef>
              <a:buFont typeface="Arial"/>
              <a:buChar char="•"/>
            </a:pPr>
            <a:r>
              <a:rPr lang="en-US" sz="2000">
                <a:solidFill>
                  <a:srgbClr val="D0D6DA"/>
                </a:solidFill>
                <a:latin typeface="PingFang SC"/>
              </a:rPr>
              <a:t>5 年净现值：按 10% 折现率计算，项目净现值超过 1,100 万元，远高于其他 IT 投资选项</a:t>
            </a:r>
          </a:p>
        </p:txBody>
      </p:sp>
      <p:sp>
        <p:nvSpPr>
          <p:cNvPr name="AutoShape 5" id="5"/>
          <p:cNvSpPr/>
          <p:nvPr/>
        </p:nvSpPr>
        <p:spPr>
          <a:xfrm>
            <a:off x="0" y="609600"/>
            <a:ext cx="88900" cy="5638800"/>
          </a:xfrm>
          <a:prstGeom prst="rect">
            <a:avLst/>
          </a:prstGeom>
          <a:solidFill>
            <a:srgbClr val="8899A6"/>
          </a:solidFill>
          <a:ln>
            <a:solidFill>
              <a:srgbClr val="8899A6"/>
            </a:solidFill>
          </a:ln>
        </p:spPr>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2540000"/>
            <a:ext cx="10972800" cy="1524000"/>
          </a:xfrm>
          <a:prstGeom prst="rect">
            <a:avLst/>
          </a:prstGeom>
        </p:spPr>
        <p:txBody>
          <a:bodyPr anchor="t" rtlCol="false"/>
          <a:lstStyle/>
          <a:p>
            <a:pPr algn="ctr">
              <a:defRPr/>
            </a:pPr>
            <a:r>
              <a:rPr lang="zh-Hans-CN"/>
              <a:t/>
            </a:r>
            <a:r>
              <a:rPr lang="en-US" sz="3600" b="true">
                <a:solidFill>
                  <a:srgbClr val="5E7A8C"/>
                </a:solidFill>
                <a:ea typeface="PingFang SC"/>
              </a:rPr>
              <a:t>风险与缓释：我们做了充分准备</a:t>
            </a:r>
            <a:endParaRPr lang="en-US" sz="1100"/>
          </a:p>
        </p:txBody>
      </p:sp>
      <p:sp>
        <p:nvSpPr>
          <p:cNvPr name="TextBox 3" id="3"/>
          <p:cNvSpPr txBox="true"/>
          <p:nvPr/>
        </p:nvSpPr>
        <p:spPr>
          <a:xfrm>
            <a:off x="609600" y="4191000"/>
            <a:ext cx="10972800" cy="1016000"/>
          </a:xfrm>
          <a:prstGeom prst="rect">
            <a:avLst/>
          </a:prstGeom>
        </p:spPr>
        <p:txBody>
          <a:bodyPr anchor="t" rtlCol="false"/>
          <a:lstStyle/>
          <a:p>
            <a:pPr algn="ctr">
              <a:defRPr/>
            </a:pPr>
            <a:r>
              <a:rPr lang="zh-Hans-CN"/>
              <a:t/>
            </a:r>
            <a:r>
              <a:rPr lang="en-US" sz="1980" b="false">
                <a:solidFill>
                  <a:srgbClr val="8899A6"/>
                </a:solidFill>
                <a:ea typeface="PingFang SC"/>
              </a:rPr>
              <a:t>高回报的项目往往伴随高复杂性，提前识别风险并将应对策略前置，是让每一分投入都安全落地的关键。</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2700" b="true">
                <a:solidFill>
                  <a:srgbClr val="D0D6DA"/>
                </a:solidFill>
                <a:ea typeface="PingFang SC"/>
              </a:rPr>
              <a:t>主要风险清单</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620" b="false">
                <a:solidFill>
                  <a:srgbClr val="8899A6"/>
                </a:solidFill>
                <a:ea typeface="PingFang SC"/>
              </a:rPr>
              <a:t>将关键挑战透明化，是证明项目可控、赢得决策信心的前提。</a:t>
            </a:r>
            <a:endParaRPr lang="en-US" sz="1100"/>
          </a:p>
        </p:txBody>
      </p:sp>
      <p:sp>
        <p:nvSpPr>
          <p:cNvPr name="TextBox 4" id="4"/>
          <p:cNvSpPr txBox="true"/>
          <p:nvPr/>
        </p:nvSpPr>
        <p:spPr>
          <a:xfrm>
            <a:off x="609600" y="1714500"/>
            <a:ext cx="10972800" cy="762000"/>
          </a:xfrm>
          <a:prstGeom prst="rect">
            <a:avLst/>
          </a:prstGeom>
        </p:spPr>
        <p:txBody>
          <a:bodyPr anchor="t" rtlCol="false"/>
          <a:lstStyle/>
          <a:p>
            <a:pPr algn="l">
              <a:defRPr/>
            </a:pPr>
            <a:r>
              <a:rPr lang="zh-Hans-CN"/>
              <a:t/>
            </a:r>
            <a:r>
              <a:rPr lang="en-US" sz="1440" b="false">
                <a:solidFill>
                  <a:srgbClr val="8899A6"/>
                </a:solidFill>
                <a:ea typeface="PingFang SC"/>
              </a:rPr>
              <a:t>以上风险均已评估，每条都有明确的应对措施（详见下一页）。它们不是阻碍，而是需要经验的成熟管理变量。</a:t>
            </a:r>
            <a:endParaRPr lang="en-US" sz="1100"/>
          </a:p>
        </p:txBody>
      </p:sp>
      <p:sp>
        <p:nvSpPr>
          <p:cNvPr name="TextBox 5" id="5"/>
          <p:cNvSpPr txBox="true"/>
          <p:nvPr/>
        </p:nvSpPr>
        <p:spPr>
          <a:xfrm>
            <a:off x="609600" y="260350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1800">
                <a:solidFill>
                  <a:srgbClr val="D0D6DA"/>
                </a:solidFill>
                <a:ea typeface="PingFang SC"/>
              </a:rPr>
              <a:t>团队学习曲线可能导致前两个月开发进度延缓约20%，这是语言迁移的常见现象，可通过专项培训与导师制控制在预期范围内。</a:t>
            </a:r>
          </a:p>
          <a:p>
            <a:pPr algn="l">
              <a:spcBef>
                <a:spcPct val="3000"/>
              </a:spcBef>
              <a:buFont typeface="Arial"/>
              <a:buChar char="•"/>
            </a:pPr>
            <a:r>
              <a:rPr lang="en-US" sz="1800">
                <a:solidFill>
                  <a:srgbClr val="D0D6DA"/>
                </a:solidFill>
                <a:ea typeface="PingFang SC"/>
              </a:rPr>
              <a:t>新系统在模拟大促峰值时，可能暴露尚未被发现的边界缺陷，需要强化混沌工程测试与灰度发布来逐步收敛风险。</a:t>
            </a:r>
          </a:p>
          <a:p>
            <a:pPr algn="l">
              <a:spcBef>
                <a:spcPct val="3000"/>
              </a:spcBef>
              <a:buFont typeface="Arial"/>
              <a:buChar char="•"/>
            </a:pPr>
            <a:r>
              <a:rPr lang="en-US" sz="1800">
                <a:solidFill>
                  <a:srgbClr val="D0D6DA"/>
                </a:solidFill>
                <a:ea typeface="PingFang SC"/>
              </a:rPr>
              <a:t>双轨运行期间需同时维护新旧系统，短期人力成本预计增加约30%，但这是实现平滑切换、保障业务连续性的必要投资。</a:t>
            </a:r>
          </a:p>
          <a:p>
            <a:pPr algn="l">
              <a:spcBef>
                <a:spcPct val="3000"/>
              </a:spcBef>
              <a:buFont typeface="Arial"/>
              <a:buChar char="•"/>
            </a:pPr>
            <a:r>
              <a:rPr lang="en-US" sz="1800">
                <a:solidFill>
                  <a:srgbClr val="D0D6DA"/>
                </a:solidFill>
                <a:ea typeface="PingFang SC"/>
              </a:rPr>
              <a:t>现有Python系统积累的大量促销规则与业务逻辑在重写时可能出现理解偏差，需要业务线与技术线联合评审，严防功能回归。</a:t>
            </a:r>
          </a:p>
          <a:p>
            <a:pPr algn="l">
              <a:spcBef>
                <a:spcPct val="3000"/>
              </a:spcBef>
              <a:buFont typeface="Arial"/>
              <a:buChar char="•"/>
            </a:pPr>
            <a:r>
              <a:rPr lang="en-US" sz="1800">
                <a:solidFill>
                  <a:srgbClr val="D0D6DA"/>
                </a:solidFill>
                <a:ea typeface="PingFang SC"/>
              </a:rPr>
              <a:t>部分关键接口缺乏原生Rust SDK，需自行封装，短期内集成工作量上升，但换来的是长期无需妥协的稳定可靠。</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l">
              <a:defRPr/>
            </a:pPr>
            <a:r>
              <a:rPr lang="zh-Hans-CN"/>
              <a:t/>
            </a:r>
            <a:r>
              <a:rPr lang="en-US" sz="2700" b="true">
                <a:solidFill>
                  <a:srgbClr val="D0D6DA"/>
                </a:solidFill>
                <a:ea typeface="PingFang SC"/>
              </a:rPr>
              <a:t>我们的应对方案</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620" b="false">
                <a:solidFill>
                  <a:srgbClr val="8899A6"/>
                </a:solidFill>
                <a:ea typeface="PingFang SC"/>
              </a:rPr>
              <a:t>每一项风险都配有成熟的应对方案，确保项目投资稳步落地。</a:t>
            </a:r>
            <a:endParaRPr lang="en-US" sz="1100"/>
          </a:p>
        </p:txBody>
      </p:sp>
      <p:sp>
        <p:nvSpPr>
          <p:cNvPr name="TextBox 4" id="4"/>
          <p:cNvSpPr txBox="true"/>
          <p:nvPr/>
        </p:nvSpPr>
        <p:spPr>
          <a:xfrm>
            <a:off x="609600" y="1714500"/>
            <a:ext cx="10972800" cy="4318000"/>
          </a:xfrm>
          <a:prstGeom prst="rect">
            <a:avLst/>
          </a:prstGeom>
        </p:spPr>
        <p:txBody>
          <a:bodyPr anchor="t" rtlCol="false"/>
          <a:lstStyle/>
          <a:p>
            <a:pPr algn="l">
              <a:defRPr/>
            </a:pPr>
            <a:r>
              <a:rPr lang="zh-Hans-CN"/>
              <a:t/>
            </a:r>
            <a:endParaRPr lang="en-US" sz="1100"/>
          </a:p>
          <a:p>
            <a:pPr algn="l">
              <a:buFont typeface="Arial"/>
              <a:buChar char="•"/>
            </a:pPr>
            <a:r>
              <a:rPr lang="en-US" sz="1800">
                <a:solidFill>
                  <a:srgbClr val="D0D6DA"/>
                </a:solidFill>
                <a:ea typeface="PingFang SC"/>
              </a:rPr>
              <a:t>提前启动团队 Rust 培训，引入外部导师并内置 20% 进度缓冲，确保技术能力平滑交接。</a:t>
            </a:r>
          </a:p>
          <a:p>
            <a:pPr algn="l">
              <a:spcBef>
                <a:spcPct val="3000"/>
              </a:spcBef>
              <a:buFont typeface="Arial"/>
              <a:buChar char="•"/>
            </a:pPr>
            <a:r>
              <a:rPr lang="en-US" sz="1800">
                <a:solidFill>
                  <a:srgbClr val="D0D6DA"/>
                </a:solidFill>
                <a:ea typeface="PingFang SC"/>
              </a:rPr>
              <a:t>在预生产环境进行全链路压测与历史流量回放，提前发现并消除所有潜在性能瓶颈。</a:t>
            </a:r>
          </a:p>
          <a:p>
            <a:pPr algn="l">
              <a:spcBef>
                <a:spcPct val="3000"/>
              </a:spcBef>
              <a:buFont typeface="Arial"/>
              <a:buChar char="•"/>
            </a:pPr>
            <a:r>
              <a:rPr lang="en-US" sz="1800">
                <a:solidFill>
                  <a:srgbClr val="D0D6DA"/>
                </a:solidFill>
                <a:ea typeface="PingFang SC"/>
              </a:rPr>
              <a:t>采用新旧系统双轨运行，通过流量逐步切换与业务验证，实现上线过程零感知。</a:t>
            </a:r>
          </a:p>
          <a:p>
            <a:pPr algn="l">
              <a:spcBef>
                <a:spcPct val="3000"/>
              </a:spcBef>
              <a:buFont typeface="Arial"/>
              <a:buChar char="•"/>
            </a:pPr>
            <a:r>
              <a:rPr lang="en-US" sz="1800">
                <a:solidFill>
                  <a:srgbClr val="D0D6DA"/>
                </a:solidFill>
                <a:ea typeface="PingFang SC"/>
              </a:rPr>
              <a:t>建立一键回滚与实时监控体系，任何异常秒级恢复，保障业务连续性不受影响。</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D0D6DA"/>
                </a:solidFill>
                <a:ea typeface="PingFang SC"/>
              </a:rPr>
              <a:t>总结：Rust 重写的商业价值</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709" b="false">
                <a:solidFill>
                  <a:srgbClr val="8899A6"/>
                </a:solidFill>
                <a:ea typeface="PingFang SC"/>
              </a:rPr>
              <a:t>用财务视角衡量技术决策——四个维度全部指向可量化的回报</a:t>
            </a:r>
            <a:endParaRPr lang="en-US" sz="1100"/>
          </a:p>
        </p:txBody>
      </p:sp>
      <p:sp>
        <p:nvSpPr>
          <p:cNvPr name="TextBox 4" id="4"/>
          <p:cNvSpPr txBox="true"/>
          <p:nvPr/>
        </p:nvSpPr>
        <p:spPr>
          <a:xfrm>
            <a:off x="609600" y="2190750"/>
            <a:ext cx="10972800" cy="762000"/>
          </a:xfrm>
          <a:prstGeom prst="rect">
            <a:avLst/>
          </a:prstGeom>
        </p:spPr>
        <p:txBody>
          <a:bodyPr anchor="t" rtlCol="false"/>
          <a:lstStyle/>
          <a:p>
            <a:pPr algn="l">
              <a:defRPr/>
            </a:pPr>
            <a:r>
              <a:rPr lang="zh-Hans-CN"/>
              <a:t/>
            </a:r>
            <a:r>
              <a:rPr lang="en-US" sz="1520" b="false">
                <a:solidFill>
                  <a:srgbClr val="8899A6"/>
                </a:solidFill>
                <a:ea typeface="PingFang SC"/>
              </a:rPr>
              <a:t>以上收益均基于项目试点的保守测算，并已考虑双轨运行期间的过渡成本。</a:t>
            </a:r>
            <a:endParaRPr lang="en-US" sz="1100"/>
          </a:p>
        </p:txBody>
      </p:sp>
      <p:sp>
        <p:nvSpPr>
          <p:cNvPr name="TextBox 5" id="5"/>
          <p:cNvSpPr txBox="true"/>
          <p:nvPr/>
        </p:nvSpPr>
        <p:spPr>
          <a:xfrm>
            <a:off x="609600" y="307975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D0D6DA"/>
                </a:solidFill>
                <a:ea typeface="PingFang SC"/>
              </a:rPr>
              <a:t>收入保障：彻底消除大促性能瓶颈，将因超时导致的订单流失降为零，释放峰值转化潜力</a:t>
            </a:r>
          </a:p>
          <a:p>
            <a:pPr algn="l">
              <a:spcBef>
                <a:spcPct val="10000"/>
              </a:spcBef>
              <a:buFont typeface="Arial"/>
              <a:buChar char="•"/>
            </a:pPr>
            <a:r>
              <a:rPr lang="en-US" sz="1900">
                <a:solidFill>
                  <a:srgbClr val="D0D6DA"/>
                </a:solidFill>
                <a:ea typeface="PingFang SC"/>
              </a:rPr>
              <a:t>成本优化：大幅缩减服务器集群与异常事故赔付，预计年度基础设施和运维费用下降 40%</a:t>
            </a:r>
          </a:p>
          <a:p>
            <a:pPr algn="l">
              <a:spcBef>
                <a:spcPct val="10000"/>
              </a:spcBef>
              <a:buFont typeface="Arial"/>
              <a:buChar char="•"/>
            </a:pPr>
            <a:r>
              <a:rPr lang="en-US" sz="1900">
                <a:solidFill>
                  <a:srgbClr val="D0D6DA"/>
                </a:solidFill>
                <a:ea typeface="PingFang SC"/>
              </a:rPr>
              <a:t>风险管控：从依靠祈祷的‘大促赌博’，升级为编译期即杜绝主要缺陷的金融级稳定系统</a:t>
            </a:r>
          </a:p>
          <a:p>
            <a:pPr algn="l">
              <a:spcBef>
                <a:spcPct val="10000"/>
              </a:spcBef>
              <a:buFont typeface="Arial"/>
              <a:buChar char="•"/>
            </a:pPr>
            <a:r>
              <a:rPr lang="en-US" sz="1900">
                <a:solidFill>
                  <a:srgbClr val="D0D6DA"/>
                </a:solidFill>
                <a:ea typeface="PingFang SC"/>
              </a:rPr>
              <a:t>长期收益：摆脱 GIL 的单线程限制，实现真正线性扩展，相同硬件支撑 5 倍以上订单量</a:t>
            </a:r>
          </a:p>
          <a:p>
            <a:pPr algn="l">
              <a:spcBef>
                <a:spcPct val="10000"/>
              </a:spcBef>
              <a:buFont typeface="Arial"/>
              <a:buChar char="•"/>
            </a:pPr>
            <a:r>
              <a:rPr lang="en-US" sz="1900">
                <a:solidFill>
                  <a:srgbClr val="D0D6DA"/>
                </a:solidFill>
                <a:ea typeface="PingFang SC"/>
              </a:rPr>
              <a:t>组织升级：团队掌握现代系统技术，提高招聘竞争力与复杂业务抽象能力，反哺全产品线</a:t>
            </a:r>
          </a:p>
        </p:txBody>
      </p:sp>
      <p:sp>
        <p:nvSpPr>
          <p:cNvPr name="AutoShape 6" id="6"/>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09600" y="609600"/>
            <a:ext cx="10972800" cy="1143000"/>
          </a:xfrm>
          <a:prstGeom prst="rect">
            <a:avLst/>
          </a:prstGeom>
        </p:spPr>
        <p:txBody>
          <a:bodyPr anchor="t" rtlCol="false"/>
          <a:lstStyle/>
          <a:p>
            <a:pPr algn="ctr">
              <a:defRPr/>
            </a:pPr>
            <a:r>
              <a:rPr lang="zh-Hans-CN"/>
              <a:t/>
            </a:r>
            <a:r>
              <a:rPr lang="en-US" sz="3600" b="true">
                <a:solidFill>
                  <a:srgbClr val="5E7A8C"/>
                </a:solidFill>
                <a:ea typeface="PingFang SC"/>
              </a:rPr>
              <a:t>下一步：申请立项，开启新篇章</a:t>
            </a:r>
            <a:endParaRPr lang="en-US" sz="1100"/>
          </a:p>
        </p:txBody>
      </p:sp>
      <p:sp>
        <p:nvSpPr>
          <p:cNvPr name="TextBox 3" id="3"/>
          <p:cNvSpPr txBox="true"/>
          <p:nvPr/>
        </p:nvSpPr>
        <p:spPr>
          <a:xfrm>
            <a:off x="609600" y="1397000"/>
            <a:ext cx="10972800" cy="508000"/>
          </a:xfrm>
          <a:prstGeom prst="rect">
            <a:avLst/>
          </a:prstGeom>
        </p:spPr>
        <p:txBody>
          <a:bodyPr anchor="t" rtlCol="false"/>
          <a:lstStyle/>
          <a:p>
            <a:pPr algn="l">
              <a:defRPr/>
            </a:pPr>
            <a:r>
              <a:rPr lang="zh-Hans-CN"/>
              <a:t/>
            </a:r>
            <a:r>
              <a:rPr lang="en-US" sz="1709" b="false">
                <a:solidFill>
                  <a:srgbClr val="8899A6"/>
                </a:solidFill>
                <a:ea typeface="PingFang SC"/>
              </a:rPr>
              <a:t>时间窗口有限——下一个大促就是考验，今天的决策将定义我们明年的业绩。</a:t>
            </a:r>
            <a:endParaRPr lang="en-US" sz="1100"/>
          </a:p>
        </p:txBody>
      </p:sp>
      <p:sp>
        <p:nvSpPr>
          <p:cNvPr name="TextBox 4" id="4"/>
          <p:cNvSpPr txBox="true"/>
          <p:nvPr/>
        </p:nvSpPr>
        <p:spPr>
          <a:xfrm>
            <a:off x="609600" y="2190750"/>
            <a:ext cx="10972800" cy="762000"/>
          </a:xfrm>
          <a:prstGeom prst="rect">
            <a:avLst/>
          </a:prstGeom>
        </p:spPr>
        <p:txBody>
          <a:bodyPr anchor="t" rtlCol="false"/>
          <a:lstStyle/>
          <a:p>
            <a:pPr algn="l">
              <a:defRPr/>
            </a:pPr>
            <a:r>
              <a:rPr lang="zh-Hans-CN"/>
              <a:t/>
            </a:r>
            <a:r>
              <a:rPr lang="en-US" sz="1520" b="false">
                <a:solidFill>
                  <a:srgbClr val="8899A6"/>
                </a:solidFill>
                <a:ea typeface="PingFang SC"/>
              </a:rPr>
              <a:t>全栈团队与技术方案已就绪，只待您的批准，我们立即启动。</a:t>
            </a:r>
            <a:endParaRPr lang="en-US" sz="1100"/>
          </a:p>
        </p:txBody>
      </p:sp>
      <p:sp>
        <p:nvSpPr>
          <p:cNvPr name="TextBox 5" id="5"/>
          <p:cNvSpPr txBox="true"/>
          <p:nvPr/>
        </p:nvSpPr>
        <p:spPr>
          <a:xfrm>
            <a:off x="609600" y="3079750"/>
            <a:ext cx="10972800" cy="3429000"/>
          </a:xfrm>
          <a:prstGeom prst="rect">
            <a:avLst/>
          </a:prstGeom>
        </p:spPr>
        <p:txBody>
          <a:bodyPr anchor="t" rtlCol="false"/>
          <a:lstStyle/>
          <a:p>
            <a:pPr algn="l">
              <a:defRPr/>
            </a:pPr>
            <a:r>
              <a:rPr lang="zh-Hans-CN"/>
              <a:t/>
            </a:r>
            <a:endParaRPr lang="en-US" sz="1100"/>
          </a:p>
          <a:p>
            <a:pPr algn="l">
              <a:buFont typeface="Arial"/>
              <a:buChar char="•"/>
            </a:pPr>
            <a:r>
              <a:rPr lang="en-US" sz="1900">
                <a:solidFill>
                  <a:srgbClr val="D0D6DA"/>
                </a:solidFill>
                <a:ea typeface="PingFang SC"/>
              </a:rPr>
              <a:t>批准 480 万元初始预算，按里程碑分阶段释放，资金使用透明、风险完全可控</a:t>
            </a:r>
          </a:p>
          <a:p>
            <a:pPr algn="l">
              <a:spcBef>
                <a:spcPct val="10000"/>
              </a:spcBef>
              <a:buFont typeface="Arial"/>
              <a:buChar char="•"/>
            </a:pPr>
            <a:r>
              <a:rPr lang="en-US" sz="1900">
                <a:solidFill>
                  <a:srgbClr val="D0D6DA"/>
                </a:solidFill>
                <a:ea typeface="PingFang SC"/>
              </a:rPr>
              <a:t>授权组建 8 人核心专项组，独立运作，专注交付，不挤占现有业务迭代资源</a:t>
            </a:r>
          </a:p>
          <a:p>
            <a:pPr algn="l">
              <a:spcBef>
                <a:spcPct val="10000"/>
              </a:spcBef>
              <a:buFont typeface="Arial"/>
              <a:buChar char="•"/>
            </a:pPr>
            <a:r>
              <a:rPr lang="en-US" sz="1900">
                <a:solidFill>
                  <a:srgbClr val="D0D6DA"/>
                </a:solidFill>
                <a:ea typeface="PingFang SC"/>
              </a:rPr>
              <a:t>本季度内完成技术选型与核心培训，为 Q3 启动双轨运行抢出关键时间</a:t>
            </a:r>
          </a:p>
          <a:p>
            <a:pPr algn="l">
              <a:spcBef>
                <a:spcPct val="10000"/>
              </a:spcBef>
              <a:buFont typeface="Arial"/>
              <a:buChar char="•"/>
            </a:pPr>
            <a:r>
              <a:rPr lang="en-US" sz="1900">
                <a:solidFill>
                  <a:srgbClr val="D0D6DA"/>
                </a:solidFill>
                <a:latin typeface="PingFang SC"/>
              </a:rPr>
              <a:t>6 个月后实现双轨运行，通过影子流量验证稳定性，业务零风险逐步切换</a:t>
            </a:r>
          </a:p>
          <a:p>
            <a:pPr algn="l">
              <a:spcBef>
                <a:spcPct val="10000"/>
              </a:spcBef>
              <a:buFont typeface="Arial"/>
              <a:buChar char="•"/>
            </a:pPr>
            <a:r>
              <a:rPr lang="en-US" sz="1900">
                <a:solidFill>
                  <a:srgbClr val="D0D6DA"/>
                </a:solidFill>
                <a:ea typeface="PingFang SC"/>
              </a:rPr>
              <a:t>该投入一年内即可通过挽回的订单损失和运维成本下降实现净正向回报</a:t>
            </a:r>
          </a:p>
        </p:txBody>
      </p:sp>
      <p:sp>
        <p:nvSpPr>
          <p:cNvPr name="AutoShape 6" id="6"/>
          <p:cNvSpPr/>
          <p:nvPr/>
        </p:nvSpPr>
        <p:spPr>
          <a:xfrm>
            <a:off x="609600" y="1371600"/>
            <a:ext cx="10972800" cy="25400"/>
          </a:xfrm>
          <a:prstGeom prst="rect">
            <a:avLst/>
          </a:prstGeom>
          <a:solidFill>
            <a:srgbClr val="5E7A8C"/>
          </a:solidFill>
          <a:ln>
            <a:solidFill>
              <a:srgbClr val="5E7A8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